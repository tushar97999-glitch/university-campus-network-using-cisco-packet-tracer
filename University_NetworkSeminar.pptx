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82" r:id="rId10"/>
    <p:sldId id="283" r:id="rId11"/>
    <p:sldId id="284" r:id="rId12"/>
    <p:sldId id="285" r:id="rId13"/>
    <p:sldId id="264" r:id="rId14"/>
    <p:sldId id="265" r:id="rId15"/>
    <p:sldId id="266" r:id="rId16"/>
    <p:sldId id="275" r:id="rId17"/>
    <p:sldId id="279" r:id="rId18"/>
    <p:sldId id="280" r:id="rId19"/>
    <p:sldId id="267" r:id="rId20"/>
    <p:sldId id="278" r:id="rId21"/>
    <p:sldId id="268" r:id="rId22"/>
    <p:sldId id="281" r:id="rId23"/>
    <p:sldId id="269" r:id="rId24"/>
    <p:sldId id="270" r:id="rId25"/>
    <p:sldId id="271" r:id="rId26"/>
    <p:sldId id="272"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8" d="100"/>
          <a:sy n="88" d="100"/>
        </p:scale>
        <p:origin x="46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3178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1383578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930646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3131668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7769939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5804054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outr.ac.in/rt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5074920"/>
            <a:ext cx="12191695" cy="1783080"/>
          </a:xfrm>
          <a:prstGeom prst="rect">
            <a:avLst/>
          </a:prstGeom>
          <a:solidFill>
            <a:srgbClr val="141B4D"/>
          </a:solidFill>
          <a:ln/>
        </p:spPr>
      </p:sp>
      <p:sp>
        <p:nvSpPr>
          <p:cNvPr id="3" name="Shape 1"/>
          <p:cNvSpPr/>
          <p:nvPr/>
        </p:nvSpPr>
        <p:spPr>
          <a:xfrm>
            <a:off x="5276088" y="502920"/>
            <a:ext cx="1645920" cy="1645920"/>
          </a:xfrm>
          <a:prstGeom prst="ellipse">
            <a:avLst/>
          </a:prstGeom>
          <a:solidFill>
            <a:srgbClr val="FFFFFF"/>
          </a:solidFill>
          <a:ln/>
          <a:effectLst>
            <a:outerShdw blurRad="101600" dist="38100" dir="5400000" algn="bl" rotWithShape="0">
              <a:srgbClr val="000000">
                <a:alpha val="25000"/>
              </a:srgbClr>
            </a:outerShdw>
          </a:effectLst>
        </p:spPr>
      </p:sp>
      <p:pic>
        <p:nvPicPr>
          <p:cNvPr id="4" name="Image 0" descr="media/logo.png">
            <a:hlinkClick r:id="rId3"/>
          </p:cNvPr>
          <p:cNvPicPr>
            <a:picLocks noChangeAspect="1"/>
          </p:cNvPicPr>
          <p:nvPr/>
        </p:nvPicPr>
        <p:blipFill>
          <a:blip r:embed="rId4"/>
          <a:stretch>
            <a:fillRect/>
          </a:stretch>
        </p:blipFill>
        <p:spPr>
          <a:xfrm>
            <a:off x="5440680" y="667512"/>
            <a:ext cx="1316736" cy="1316736"/>
          </a:xfrm>
          <a:prstGeom prst="rect">
            <a:avLst/>
          </a:prstGeom>
        </p:spPr>
      </p:pic>
      <p:sp>
        <p:nvSpPr>
          <p:cNvPr id="5" name="Text 2"/>
          <p:cNvSpPr txBox="1"/>
          <p:nvPr/>
        </p:nvSpPr>
        <p:spPr>
          <a:xfrm>
            <a:off x="0" y="2286000"/>
            <a:ext cx="12191695" cy="320040"/>
          </a:xfrm>
          <a:prstGeom prst="rect">
            <a:avLst/>
          </a:prstGeom>
          <a:noFill/>
          <a:ln/>
        </p:spPr>
        <p:txBody>
          <a:bodyPr wrap="square" lIns="0" tIns="0" rIns="0" bIns="0" rtlCol="0" anchor="ctr"/>
          <a:lstStyle/>
          <a:p>
            <a:pPr marL="0" indent="0" algn="ctr">
              <a:buNone/>
            </a:pPr>
            <a:r>
              <a:rPr lang="en-US" sz="1300" b="1" kern="0" spc="300" dirty="0">
                <a:solidFill>
                  <a:srgbClr val="00B4D8"/>
                </a:solidFill>
                <a:latin typeface="Times New Roman" panose="02020603050405020304" pitchFamily="18" charset="0"/>
                <a:ea typeface="Calibri" pitchFamily="34" charset="-122"/>
                <a:cs typeface="Times New Roman" panose="02020603050405020304" pitchFamily="18" charset="0"/>
              </a:rPr>
              <a:t>SOSIRE 7TH SEM</a:t>
            </a:r>
            <a:endParaRPr lang="en-US" sz="1300" dirty="0">
              <a:latin typeface="Times New Roman" panose="02020603050405020304" pitchFamily="18" charset="0"/>
              <a:cs typeface="Times New Roman" panose="02020603050405020304" pitchFamily="18" charset="0"/>
            </a:endParaRPr>
          </a:p>
        </p:txBody>
      </p:sp>
      <p:sp>
        <p:nvSpPr>
          <p:cNvPr id="6" name="Text 3"/>
          <p:cNvSpPr txBox="1"/>
          <p:nvPr/>
        </p:nvSpPr>
        <p:spPr>
          <a:xfrm>
            <a:off x="984352" y="2606040"/>
            <a:ext cx="10360152" cy="548640"/>
          </a:xfrm>
          <a:prstGeom prst="rect">
            <a:avLst/>
          </a:prstGeom>
          <a:noFill/>
          <a:ln/>
        </p:spPr>
        <p:txBody>
          <a:bodyPr wrap="square" lIns="0" tIns="0" rIns="0" bIns="0" rtlCol="0" anchor="ctr"/>
          <a:lstStyle/>
          <a:p>
            <a:pPr marL="0" indent="0" algn="ctr">
              <a:buNone/>
            </a:pPr>
            <a:r>
              <a:rPr lang="en-US" sz="1600" dirty="0">
                <a:solidFill>
                  <a:srgbClr val="CADCFC"/>
                </a:solidFill>
                <a:latin typeface="Times New Roman" panose="02020603050405020304" pitchFamily="18" charset="0"/>
                <a:ea typeface="Calibri" pitchFamily="34" charset="-122"/>
                <a:cs typeface="Times New Roman" panose="02020603050405020304" pitchFamily="18" charset="0"/>
              </a:rPr>
              <a:t>Odisha University of Technology and Research Bhubaneswar</a:t>
            </a:r>
            <a:endParaRPr lang="en-US" sz="1600" dirty="0">
              <a:latin typeface="Times New Roman" panose="02020603050405020304" pitchFamily="18" charset="0"/>
              <a:cs typeface="Times New Roman" panose="02020603050405020304" pitchFamily="18" charset="0"/>
            </a:endParaRPr>
          </a:p>
        </p:txBody>
      </p:sp>
      <p:sp>
        <p:nvSpPr>
          <p:cNvPr id="7" name="Text 4"/>
          <p:cNvSpPr txBox="1"/>
          <p:nvPr/>
        </p:nvSpPr>
        <p:spPr>
          <a:xfrm>
            <a:off x="914400" y="3154680"/>
            <a:ext cx="10360152" cy="1371600"/>
          </a:xfrm>
          <a:prstGeom prst="rect">
            <a:avLst/>
          </a:prstGeom>
          <a:noFill/>
          <a:ln/>
        </p:spPr>
        <p:txBody>
          <a:bodyPr wrap="square" lIns="0" tIns="0" rIns="0" bIns="0" rtlCol="0" anchor="ctr"/>
          <a:lstStyle/>
          <a:p>
            <a:pPr marL="0" indent="0" algn="ctr">
              <a:buNone/>
            </a:pPr>
            <a:r>
              <a:rPr lang="en-US" sz="3400" b="1" dirty="0">
                <a:solidFill>
                  <a:srgbClr val="FFFFFF"/>
                </a:solidFill>
                <a:latin typeface="Times New Roman" panose="02020603050405020304" pitchFamily="18" charset="0"/>
                <a:ea typeface="Cambria" pitchFamily="34" charset="-122"/>
                <a:cs typeface="Times New Roman" panose="02020603050405020304" pitchFamily="18" charset="0"/>
              </a:rPr>
              <a:t>University Network Using Cisco Packet Tracer</a:t>
            </a:r>
            <a:endParaRPr lang="en-US" sz="3400" dirty="0">
              <a:latin typeface="Times New Roman" panose="02020603050405020304" pitchFamily="18" charset="0"/>
              <a:cs typeface="Times New Roman" panose="02020603050405020304" pitchFamily="18" charset="0"/>
            </a:endParaRPr>
          </a:p>
        </p:txBody>
      </p:sp>
      <p:sp>
        <p:nvSpPr>
          <p:cNvPr id="8" name="Text 5"/>
          <p:cNvSpPr txBox="1"/>
          <p:nvPr/>
        </p:nvSpPr>
        <p:spPr>
          <a:xfrm>
            <a:off x="495148" y="5440680"/>
            <a:ext cx="2697480" cy="274320"/>
          </a:xfrm>
          <a:prstGeom prst="rect">
            <a:avLst/>
          </a:prstGeom>
          <a:noFill/>
          <a:ln/>
        </p:spPr>
        <p:txBody>
          <a:bodyPr wrap="square" lIns="0" tIns="0" rIns="0" bIns="0" rtlCol="0" anchor="ctr"/>
          <a:lstStyle/>
          <a:p>
            <a:pPr marL="0" indent="0" algn="ctr">
              <a:buNone/>
            </a:pPr>
            <a:r>
              <a:rPr lang="en-US" sz="950" b="1" kern="0" spc="120" dirty="0">
                <a:solidFill>
                  <a:srgbClr val="00B4D8"/>
                </a:solidFill>
                <a:latin typeface="Times New Roman" panose="02020603050405020304" pitchFamily="18" charset="0"/>
                <a:ea typeface="Calibri" pitchFamily="34" charset="-122"/>
                <a:cs typeface="Times New Roman" panose="02020603050405020304" pitchFamily="18" charset="0"/>
              </a:rPr>
              <a:t>PRESENTED BY</a:t>
            </a:r>
            <a:endParaRPr lang="en-US" sz="950" dirty="0">
              <a:latin typeface="Times New Roman" panose="02020603050405020304" pitchFamily="18" charset="0"/>
              <a:cs typeface="Times New Roman" panose="02020603050405020304" pitchFamily="18" charset="0"/>
            </a:endParaRPr>
          </a:p>
        </p:txBody>
      </p:sp>
      <p:sp>
        <p:nvSpPr>
          <p:cNvPr id="9" name="Text 6"/>
          <p:cNvSpPr txBox="1"/>
          <p:nvPr/>
        </p:nvSpPr>
        <p:spPr>
          <a:xfrm>
            <a:off x="495148" y="5742432"/>
            <a:ext cx="2697480" cy="457200"/>
          </a:xfrm>
          <a:prstGeom prst="rect">
            <a:avLst/>
          </a:prstGeom>
          <a:noFill/>
          <a:ln/>
        </p:spPr>
        <p:txBody>
          <a:bodyPr wrap="square" lIns="0" tIns="0" rIns="0" bIns="0" rtlCol="0" anchor="t"/>
          <a:lstStyle/>
          <a:p>
            <a:pPr marL="0" indent="0" algn="ctr">
              <a:buNone/>
            </a:pPr>
            <a:r>
              <a:rPr lang="en-US" sz="1300" dirty="0">
                <a:solidFill>
                  <a:srgbClr val="FFFFFF"/>
                </a:solidFill>
                <a:latin typeface="Times New Roman" panose="02020603050405020304" pitchFamily="18" charset="0"/>
                <a:ea typeface="Calibri" pitchFamily="34" charset="-122"/>
                <a:cs typeface="Times New Roman" panose="02020603050405020304" pitchFamily="18" charset="0"/>
              </a:rPr>
              <a:t>Tushar Ranjan Jena</a:t>
            </a:r>
            <a:endParaRPr lang="en-US" sz="1300" dirty="0">
              <a:latin typeface="Times New Roman" panose="02020603050405020304" pitchFamily="18" charset="0"/>
              <a:cs typeface="Times New Roman" panose="02020603050405020304" pitchFamily="18" charset="0"/>
            </a:endParaRPr>
          </a:p>
        </p:txBody>
      </p:sp>
      <p:sp>
        <p:nvSpPr>
          <p:cNvPr id="10" name="Text 7"/>
          <p:cNvSpPr txBox="1"/>
          <p:nvPr/>
        </p:nvSpPr>
        <p:spPr>
          <a:xfrm>
            <a:off x="3329788" y="5440680"/>
            <a:ext cx="2697480" cy="274320"/>
          </a:xfrm>
          <a:prstGeom prst="rect">
            <a:avLst/>
          </a:prstGeom>
          <a:noFill/>
          <a:ln/>
        </p:spPr>
        <p:txBody>
          <a:bodyPr wrap="square" lIns="0" tIns="0" rIns="0" bIns="0" rtlCol="0" anchor="ctr"/>
          <a:lstStyle/>
          <a:p>
            <a:pPr marL="0" indent="0" algn="ctr">
              <a:buNone/>
            </a:pPr>
            <a:r>
              <a:rPr lang="en-US" sz="950" b="1" kern="0" spc="120" dirty="0">
                <a:solidFill>
                  <a:srgbClr val="00B4D8"/>
                </a:solidFill>
                <a:latin typeface="Times New Roman" panose="02020603050405020304" pitchFamily="18" charset="0"/>
                <a:ea typeface="Calibri" pitchFamily="34" charset="-122"/>
                <a:cs typeface="Times New Roman" panose="02020603050405020304" pitchFamily="18" charset="0"/>
              </a:rPr>
              <a:t>REGD. NO.</a:t>
            </a:r>
            <a:endParaRPr lang="en-US" sz="950" dirty="0">
              <a:latin typeface="Times New Roman" panose="02020603050405020304" pitchFamily="18" charset="0"/>
              <a:cs typeface="Times New Roman" panose="02020603050405020304" pitchFamily="18" charset="0"/>
            </a:endParaRPr>
          </a:p>
        </p:txBody>
      </p:sp>
      <p:sp>
        <p:nvSpPr>
          <p:cNvPr id="11" name="Text 8"/>
          <p:cNvSpPr txBox="1"/>
          <p:nvPr/>
        </p:nvSpPr>
        <p:spPr>
          <a:xfrm>
            <a:off x="3329788" y="5742432"/>
            <a:ext cx="2697480" cy="457200"/>
          </a:xfrm>
          <a:prstGeom prst="rect">
            <a:avLst/>
          </a:prstGeom>
          <a:noFill/>
          <a:ln/>
        </p:spPr>
        <p:txBody>
          <a:bodyPr wrap="square" lIns="0" tIns="0" rIns="0" bIns="0" rtlCol="0" anchor="t"/>
          <a:lstStyle/>
          <a:p>
            <a:pPr marL="0" indent="0" algn="ctr">
              <a:buNone/>
            </a:pPr>
            <a:r>
              <a:rPr lang="en-US" sz="1300" dirty="0">
                <a:solidFill>
                  <a:srgbClr val="FFFFFF"/>
                </a:solidFill>
                <a:latin typeface="Times New Roman" panose="02020603050405020304" pitchFamily="18" charset="0"/>
                <a:ea typeface="Calibri" pitchFamily="34" charset="-122"/>
                <a:cs typeface="Times New Roman" panose="02020603050405020304" pitchFamily="18" charset="0"/>
              </a:rPr>
              <a:t>23110389</a:t>
            </a:r>
            <a:endParaRPr lang="en-US" sz="1300" dirty="0">
              <a:latin typeface="Times New Roman" panose="02020603050405020304" pitchFamily="18" charset="0"/>
              <a:cs typeface="Times New Roman" panose="02020603050405020304" pitchFamily="18" charset="0"/>
            </a:endParaRPr>
          </a:p>
        </p:txBody>
      </p:sp>
      <p:sp>
        <p:nvSpPr>
          <p:cNvPr id="12" name="Text 9"/>
          <p:cNvSpPr txBox="1"/>
          <p:nvPr/>
        </p:nvSpPr>
        <p:spPr>
          <a:xfrm>
            <a:off x="6164428" y="5440680"/>
            <a:ext cx="2697480" cy="274320"/>
          </a:xfrm>
          <a:prstGeom prst="rect">
            <a:avLst/>
          </a:prstGeom>
          <a:noFill/>
          <a:ln/>
        </p:spPr>
        <p:txBody>
          <a:bodyPr wrap="square" lIns="0" tIns="0" rIns="0" bIns="0" rtlCol="0" anchor="ctr"/>
          <a:lstStyle/>
          <a:p>
            <a:pPr marL="0" indent="0" algn="ctr">
              <a:buNone/>
            </a:pPr>
            <a:r>
              <a:rPr lang="en-US" sz="950" b="1" kern="0" spc="120" dirty="0">
                <a:solidFill>
                  <a:srgbClr val="00B4D8"/>
                </a:solidFill>
                <a:latin typeface="Times New Roman" panose="02020603050405020304" pitchFamily="18" charset="0"/>
                <a:ea typeface="Calibri" pitchFamily="34" charset="-122"/>
                <a:cs typeface="Times New Roman" panose="02020603050405020304" pitchFamily="18" charset="0"/>
              </a:rPr>
              <a:t>DEPARTMENT</a:t>
            </a:r>
            <a:endParaRPr lang="en-US" sz="950" dirty="0">
              <a:latin typeface="Times New Roman" panose="02020603050405020304" pitchFamily="18" charset="0"/>
              <a:cs typeface="Times New Roman" panose="02020603050405020304" pitchFamily="18" charset="0"/>
            </a:endParaRPr>
          </a:p>
        </p:txBody>
      </p:sp>
      <p:sp>
        <p:nvSpPr>
          <p:cNvPr id="13" name="Text 10"/>
          <p:cNvSpPr txBox="1"/>
          <p:nvPr/>
        </p:nvSpPr>
        <p:spPr>
          <a:xfrm>
            <a:off x="6164428" y="5742432"/>
            <a:ext cx="2697480" cy="457200"/>
          </a:xfrm>
          <a:prstGeom prst="rect">
            <a:avLst/>
          </a:prstGeom>
          <a:noFill/>
          <a:ln/>
        </p:spPr>
        <p:txBody>
          <a:bodyPr wrap="square" lIns="0" tIns="0" rIns="0" bIns="0" rtlCol="0" anchor="t"/>
          <a:lstStyle/>
          <a:p>
            <a:pPr marL="0" indent="0" algn="ctr">
              <a:buNone/>
            </a:pPr>
            <a:r>
              <a:rPr lang="en-US" sz="1300" dirty="0">
                <a:solidFill>
                  <a:srgbClr val="FFFFFF"/>
                </a:solidFill>
                <a:latin typeface="Times New Roman" panose="02020603050405020304" pitchFamily="18" charset="0"/>
                <a:ea typeface="Calibri" pitchFamily="34" charset="-122"/>
                <a:cs typeface="Times New Roman" panose="02020603050405020304" pitchFamily="18" charset="0"/>
              </a:rPr>
              <a:t>Electronics and Communication</a:t>
            </a:r>
            <a:endParaRPr lang="en-US" sz="1300" dirty="0">
              <a:latin typeface="Times New Roman" panose="02020603050405020304" pitchFamily="18" charset="0"/>
              <a:cs typeface="Times New Roman" panose="02020603050405020304" pitchFamily="18" charset="0"/>
            </a:endParaRPr>
          </a:p>
        </p:txBody>
      </p:sp>
      <p:sp>
        <p:nvSpPr>
          <p:cNvPr id="14" name="Text 11"/>
          <p:cNvSpPr txBox="1"/>
          <p:nvPr/>
        </p:nvSpPr>
        <p:spPr>
          <a:xfrm>
            <a:off x="8999068" y="5440680"/>
            <a:ext cx="2697480" cy="274320"/>
          </a:xfrm>
          <a:prstGeom prst="rect">
            <a:avLst/>
          </a:prstGeom>
          <a:noFill/>
          <a:ln/>
        </p:spPr>
        <p:txBody>
          <a:bodyPr wrap="square" lIns="0" tIns="0" rIns="0" bIns="0" rtlCol="0" anchor="ctr"/>
          <a:lstStyle/>
          <a:p>
            <a:pPr marL="0" indent="0" algn="ctr">
              <a:buNone/>
            </a:pPr>
            <a:r>
              <a:rPr lang="en-US" sz="950" b="1" kern="0" spc="120" dirty="0">
                <a:solidFill>
                  <a:srgbClr val="00B4D8"/>
                </a:solidFill>
                <a:latin typeface="Times New Roman" panose="02020603050405020304" pitchFamily="18" charset="0"/>
                <a:ea typeface="Calibri" pitchFamily="34" charset="-122"/>
                <a:cs typeface="Times New Roman" panose="02020603050405020304" pitchFamily="18" charset="0"/>
              </a:rPr>
              <a:t>SUPERVISED BY</a:t>
            </a:r>
            <a:endParaRPr lang="en-US" sz="950" dirty="0">
              <a:latin typeface="Times New Roman" panose="02020603050405020304" pitchFamily="18" charset="0"/>
              <a:cs typeface="Times New Roman" panose="02020603050405020304" pitchFamily="18" charset="0"/>
            </a:endParaRPr>
          </a:p>
        </p:txBody>
      </p:sp>
      <p:sp>
        <p:nvSpPr>
          <p:cNvPr id="15" name="Text 12"/>
          <p:cNvSpPr txBox="1"/>
          <p:nvPr/>
        </p:nvSpPr>
        <p:spPr>
          <a:xfrm>
            <a:off x="8999068" y="5715000"/>
            <a:ext cx="2697480" cy="457200"/>
          </a:xfrm>
          <a:prstGeom prst="rect">
            <a:avLst/>
          </a:prstGeom>
          <a:noFill/>
          <a:ln/>
        </p:spPr>
        <p:txBody>
          <a:bodyPr wrap="square" lIns="0" tIns="0" rIns="0" bIns="0" rtlCol="0" anchor="t"/>
          <a:lstStyle/>
          <a:p>
            <a:pPr marL="0" indent="0" algn="ctr">
              <a:buNone/>
            </a:pPr>
            <a:r>
              <a:rPr lang="en-US" sz="1300">
                <a:solidFill>
                  <a:srgbClr val="FFFFFF"/>
                </a:solidFill>
                <a:latin typeface="Times New Roman" panose="02020603050405020304" pitchFamily="18" charset="0"/>
                <a:ea typeface="Calibri" pitchFamily="34" charset="-122"/>
                <a:cs typeface="Times New Roman" panose="02020603050405020304" pitchFamily="18" charset="0"/>
              </a:rPr>
              <a:t> Mrs. R.R Mishra Ma’am</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Times New Roman" panose="02020603050405020304" pitchFamily="18" charset="0"/>
                <a:ea typeface="Cambria" pitchFamily="34" charset="-122"/>
                <a:cs typeface="Times New Roman" panose="02020603050405020304" pitchFamily="18" charset="0"/>
              </a:rPr>
              <a:t>Content</a:t>
            </a:r>
            <a:endParaRPr lang="en-US" sz="2800" dirty="0">
              <a:latin typeface="Times New Roman" panose="02020603050405020304" pitchFamily="18" charset="0"/>
              <a:cs typeface="Times New Roman" panose="02020603050405020304" pitchFamily="18" charset="0"/>
            </a:endParaRPr>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Times New Roman" panose="02020603050405020304" pitchFamily="18" charset="0"/>
                <a:ea typeface="Calibri" pitchFamily="34" charset="-122"/>
                <a:cs typeface="Times New Roman" panose="02020603050405020304" pitchFamily="18" charset="0"/>
              </a:rPr>
              <a:t>AGENDA</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Shape 4"/>
          <p:cNvSpPr/>
          <p:nvPr/>
        </p:nvSpPr>
        <p:spPr>
          <a:xfrm>
            <a:off x="438572" y="1234440"/>
            <a:ext cx="2659600" cy="569974"/>
          </a:xfrm>
          <a:prstGeom prst="roundRect">
            <a:avLst>
              <a:gd name="adj" fmla="val 4715"/>
            </a:avLst>
          </a:prstGeom>
          <a:solidFill>
            <a:srgbClr val="EEF3FC"/>
          </a:solidFill>
          <a:ln/>
          <a:effectLst>
            <a:outerShdw blurRad="76200" dist="25400" dir="5400000" algn="bl" rotWithShape="0">
              <a:srgbClr val="6B7694">
                <a:alpha val="18000"/>
              </a:srgbClr>
            </a:outerShdw>
          </a:effectLst>
        </p:spPr>
      </p:sp>
      <p:sp>
        <p:nvSpPr>
          <p:cNvPr id="7" name="Shape 5"/>
          <p:cNvSpPr/>
          <p:nvPr/>
        </p:nvSpPr>
        <p:spPr>
          <a:xfrm>
            <a:off x="438571" y="1271017"/>
            <a:ext cx="502920" cy="502920"/>
          </a:xfrm>
          <a:prstGeom prst="ellipse">
            <a:avLst/>
          </a:prstGeom>
          <a:solidFill>
            <a:srgbClr val="00B4D8"/>
          </a:solidFill>
          <a:ln/>
        </p:spPr>
      </p:sp>
      <p:sp>
        <p:nvSpPr>
          <p:cNvPr id="8" name="Text 6"/>
          <p:cNvSpPr txBox="1"/>
          <p:nvPr/>
        </p:nvSpPr>
        <p:spPr>
          <a:xfrm>
            <a:off x="429158" y="1252005"/>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1</a:t>
            </a:r>
            <a:endParaRPr lang="en-US" sz="1800" dirty="0">
              <a:latin typeface="Times New Roman" panose="02020603050405020304" pitchFamily="18" charset="0"/>
              <a:cs typeface="Times New Roman" panose="02020603050405020304" pitchFamily="18" charset="0"/>
            </a:endParaRPr>
          </a:p>
        </p:txBody>
      </p:sp>
      <p:sp>
        <p:nvSpPr>
          <p:cNvPr id="9" name="Text 7"/>
          <p:cNvSpPr txBox="1"/>
          <p:nvPr/>
        </p:nvSpPr>
        <p:spPr>
          <a:xfrm>
            <a:off x="973437" y="1347356"/>
            <a:ext cx="1680989" cy="423247"/>
          </a:xfrm>
          <a:prstGeom prst="rect">
            <a:avLst/>
          </a:prstGeom>
          <a:noFill/>
          <a:ln/>
        </p:spPr>
        <p:txBody>
          <a:bodyPr wrap="square" lIns="0" tIns="0" rIns="0" bIns="0" rtlCol="0" anchor="ctr"/>
          <a:lstStyle/>
          <a:p>
            <a:pPr marL="0" indent="0">
              <a:buNone/>
            </a:pPr>
            <a:r>
              <a:rPr lang="en-US" sz="1400" b="1" dirty="0">
                <a:solidFill>
                  <a:srgbClr val="1B2340"/>
                </a:solidFill>
                <a:latin typeface="Times New Roman" panose="02020603050405020304" pitchFamily="18" charset="0"/>
                <a:ea typeface="Calibri" pitchFamily="34" charset="-122"/>
                <a:cs typeface="Times New Roman" panose="02020603050405020304" pitchFamily="18" charset="0"/>
              </a:rPr>
              <a:t>Introduction</a:t>
            </a:r>
            <a:endParaRPr lang="en-US" sz="1400" dirty="0">
              <a:latin typeface="Times New Roman" panose="02020603050405020304" pitchFamily="18" charset="0"/>
              <a:cs typeface="Times New Roman" panose="02020603050405020304" pitchFamily="18" charset="0"/>
            </a:endParaRPr>
          </a:p>
        </p:txBody>
      </p:sp>
      <p:sp>
        <p:nvSpPr>
          <p:cNvPr id="10" name="Shape 8"/>
          <p:cNvSpPr/>
          <p:nvPr/>
        </p:nvSpPr>
        <p:spPr>
          <a:xfrm>
            <a:off x="400783" y="1941574"/>
            <a:ext cx="2717454" cy="597047"/>
          </a:xfrm>
          <a:prstGeom prst="roundRect">
            <a:avLst>
              <a:gd name="adj" fmla="val 4715"/>
            </a:avLst>
          </a:prstGeom>
          <a:solidFill>
            <a:srgbClr val="EEF3FC"/>
          </a:solidFill>
          <a:ln/>
          <a:effectLst>
            <a:outerShdw blurRad="76200" dist="25400" dir="5400000" algn="bl" rotWithShape="0">
              <a:srgbClr val="6B7694">
                <a:alpha val="18000"/>
              </a:srgbClr>
            </a:outerShdw>
          </a:effectLst>
        </p:spPr>
      </p:sp>
      <p:sp>
        <p:nvSpPr>
          <p:cNvPr id="11" name="Shape 9"/>
          <p:cNvSpPr/>
          <p:nvPr/>
        </p:nvSpPr>
        <p:spPr>
          <a:xfrm>
            <a:off x="441733" y="1999305"/>
            <a:ext cx="502920" cy="502920"/>
          </a:xfrm>
          <a:prstGeom prst="ellipse">
            <a:avLst/>
          </a:prstGeom>
          <a:solidFill>
            <a:srgbClr val="00B4D8"/>
          </a:solidFill>
          <a:ln/>
        </p:spPr>
      </p:sp>
      <p:sp>
        <p:nvSpPr>
          <p:cNvPr id="12" name="Text 10"/>
          <p:cNvSpPr txBox="1"/>
          <p:nvPr/>
        </p:nvSpPr>
        <p:spPr>
          <a:xfrm>
            <a:off x="424468" y="19781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2</a:t>
            </a:r>
            <a:endParaRPr lang="en-US" sz="1800" dirty="0">
              <a:latin typeface="Times New Roman" panose="02020603050405020304" pitchFamily="18" charset="0"/>
              <a:cs typeface="Times New Roman" panose="02020603050405020304" pitchFamily="18" charset="0"/>
            </a:endParaRPr>
          </a:p>
        </p:txBody>
      </p:sp>
      <p:sp>
        <p:nvSpPr>
          <p:cNvPr id="13" name="Text 11"/>
          <p:cNvSpPr txBox="1"/>
          <p:nvPr/>
        </p:nvSpPr>
        <p:spPr>
          <a:xfrm>
            <a:off x="973437" y="1979940"/>
            <a:ext cx="1388368" cy="502920"/>
          </a:xfrm>
          <a:prstGeom prst="rect">
            <a:avLst/>
          </a:prstGeom>
          <a:noFill/>
          <a:ln/>
        </p:spPr>
        <p:txBody>
          <a:bodyPr wrap="square" lIns="0" tIns="0" rIns="0" bIns="0" rtlCol="0" anchor="ctr"/>
          <a:lstStyle/>
          <a:p>
            <a:pPr marL="0" indent="0">
              <a:buNone/>
            </a:pPr>
            <a:r>
              <a:rPr lang="en-US" sz="1400" b="1" dirty="0">
                <a:solidFill>
                  <a:srgbClr val="1B2340"/>
                </a:solidFill>
                <a:latin typeface="Times New Roman" panose="02020603050405020304" pitchFamily="18" charset="0"/>
                <a:ea typeface="Calibri" pitchFamily="34" charset="-122"/>
                <a:cs typeface="Times New Roman" panose="02020603050405020304" pitchFamily="18" charset="0"/>
              </a:rPr>
              <a:t>Motivation</a:t>
            </a:r>
            <a:endParaRPr lang="en-US" sz="1400" dirty="0">
              <a:latin typeface="Times New Roman" panose="02020603050405020304" pitchFamily="18" charset="0"/>
              <a:cs typeface="Times New Roman" panose="02020603050405020304" pitchFamily="18" charset="0"/>
            </a:endParaRPr>
          </a:p>
        </p:txBody>
      </p:sp>
      <p:sp>
        <p:nvSpPr>
          <p:cNvPr id="14" name="Shape 12"/>
          <p:cNvSpPr/>
          <p:nvPr/>
        </p:nvSpPr>
        <p:spPr>
          <a:xfrm>
            <a:off x="367829" y="2646648"/>
            <a:ext cx="2717454" cy="585678"/>
          </a:xfrm>
          <a:prstGeom prst="roundRect">
            <a:avLst>
              <a:gd name="adj" fmla="val 4715"/>
            </a:avLst>
          </a:prstGeom>
          <a:solidFill>
            <a:srgbClr val="EEF3FC"/>
          </a:solidFill>
          <a:ln/>
          <a:effectLst>
            <a:outerShdw blurRad="76200" dist="25400" dir="5400000" algn="bl" rotWithShape="0">
              <a:srgbClr val="6B7694">
                <a:alpha val="18000"/>
              </a:srgbClr>
            </a:outerShdw>
          </a:effectLst>
        </p:spPr>
      </p:sp>
      <p:sp>
        <p:nvSpPr>
          <p:cNvPr id="15" name="Shape 13"/>
          <p:cNvSpPr/>
          <p:nvPr/>
        </p:nvSpPr>
        <p:spPr>
          <a:xfrm>
            <a:off x="447788" y="2698021"/>
            <a:ext cx="502920" cy="502920"/>
          </a:xfrm>
          <a:prstGeom prst="ellipse">
            <a:avLst/>
          </a:prstGeom>
          <a:solidFill>
            <a:srgbClr val="00B4D8"/>
          </a:solidFill>
          <a:ln/>
        </p:spPr>
        <p:txBody>
          <a:bodyPr/>
          <a:lstStyle/>
          <a:p>
            <a:endParaRPr lang="en-IN"/>
          </a:p>
        </p:txBody>
      </p:sp>
      <p:sp>
        <p:nvSpPr>
          <p:cNvPr id="16" name="Text 14"/>
          <p:cNvSpPr txBox="1"/>
          <p:nvPr/>
        </p:nvSpPr>
        <p:spPr>
          <a:xfrm>
            <a:off x="371043" y="2655184"/>
            <a:ext cx="637195" cy="560341"/>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3</a:t>
            </a:r>
            <a:endParaRPr lang="en-US" sz="1800" dirty="0">
              <a:latin typeface="Times New Roman" panose="02020603050405020304" pitchFamily="18" charset="0"/>
              <a:cs typeface="Times New Roman" panose="02020603050405020304" pitchFamily="18" charset="0"/>
            </a:endParaRPr>
          </a:p>
        </p:txBody>
      </p:sp>
      <p:sp>
        <p:nvSpPr>
          <p:cNvPr id="17" name="Text 15"/>
          <p:cNvSpPr txBox="1"/>
          <p:nvPr/>
        </p:nvSpPr>
        <p:spPr>
          <a:xfrm>
            <a:off x="1017845" y="2681569"/>
            <a:ext cx="1454873" cy="515836"/>
          </a:xfrm>
          <a:prstGeom prst="rect">
            <a:avLst/>
          </a:prstGeom>
          <a:noFill/>
          <a:ln/>
        </p:spPr>
        <p:txBody>
          <a:bodyPr wrap="square" lIns="0" tIns="0" rIns="0" bIns="0" rtlCol="0" anchor="ctr"/>
          <a:lstStyle/>
          <a:p>
            <a:pPr marL="0" indent="0">
              <a:buNone/>
            </a:pPr>
            <a:r>
              <a:rPr lang="en-US" sz="1400" b="1" dirty="0">
                <a:solidFill>
                  <a:srgbClr val="1B2340"/>
                </a:solidFill>
                <a:latin typeface="Times New Roman" panose="02020603050405020304" pitchFamily="18" charset="0"/>
                <a:ea typeface="Calibri" pitchFamily="34" charset="-122"/>
                <a:cs typeface="Times New Roman" panose="02020603050405020304" pitchFamily="18" charset="0"/>
              </a:rPr>
              <a:t>Objective</a:t>
            </a:r>
            <a:endParaRPr lang="en-US" sz="1400" dirty="0">
              <a:latin typeface="Times New Roman" panose="02020603050405020304" pitchFamily="18" charset="0"/>
              <a:cs typeface="Times New Roman" panose="02020603050405020304" pitchFamily="18" charset="0"/>
            </a:endParaRPr>
          </a:p>
        </p:txBody>
      </p:sp>
      <p:sp>
        <p:nvSpPr>
          <p:cNvPr id="18" name="Shape 16"/>
          <p:cNvSpPr/>
          <p:nvPr/>
        </p:nvSpPr>
        <p:spPr>
          <a:xfrm>
            <a:off x="415065" y="3323400"/>
            <a:ext cx="2703172" cy="639791"/>
          </a:xfrm>
          <a:prstGeom prst="roundRect">
            <a:avLst>
              <a:gd name="adj" fmla="val 4715"/>
            </a:avLst>
          </a:prstGeom>
          <a:solidFill>
            <a:srgbClr val="EEF3FC"/>
          </a:solidFill>
          <a:ln/>
          <a:effectLst>
            <a:outerShdw blurRad="76200" dist="25400" dir="5400000" algn="bl" rotWithShape="0">
              <a:srgbClr val="6B7694">
                <a:alpha val="18000"/>
              </a:srgbClr>
            </a:outerShdw>
          </a:effectLst>
        </p:spPr>
      </p:sp>
      <p:sp>
        <p:nvSpPr>
          <p:cNvPr id="19" name="Shape 17"/>
          <p:cNvSpPr/>
          <p:nvPr/>
        </p:nvSpPr>
        <p:spPr>
          <a:xfrm>
            <a:off x="439939" y="3387409"/>
            <a:ext cx="502920" cy="502920"/>
          </a:xfrm>
          <a:prstGeom prst="ellipse">
            <a:avLst/>
          </a:prstGeom>
          <a:solidFill>
            <a:srgbClr val="00B4D8"/>
          </a:solidFill>
          <a:ln/>
        </p:spPr>
      </p:sp>
      <p:sp>
        <p:nvSpPr>
          <p:cNvPr id="20" name="Text 18"/>
          <p:cNvSpPr txBox="1"/>
          <p:nvPr/>
        </p:nvSpPr>
        <p:spPr>
          <a:xfrm>
            <a:off x="420665" y="3392578"/>
            <a:ext cx="502920" cy="434844"/>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4</a:t>
            </a:r>
            <a:endParaRPr lang="en-US" sz="1800" dirty="0">
              <a:latin typeface="Times New Roman" panose="02020603050405020304" pitchFamily="18" charset="0"/>
              <a:cs typeface="Times New Roman" panose="02020603050405020304" pitchFamily="18" charset="0"/>
            </a:endParaRPr>
          </a:p>
        </p:txBody>
      </p:sp>
      <p:sp>
        <p:nvSpPr>
          <p:cNvPr id="21" name="Text 19"/>
          <p:cNvSpPr txBox="1"/>
          <p:nvPr/>
        </p:nvSpPr>
        <p:spPr>
          <a:xfrm>
            <a:off x="970476" y="3387409"/>
            <a:ext cx="2110893" cy="548640"/>
          </a:xfrm>
          <a:prstGeom prst="rect">
            <a:avLst/>
          </a:prstGeom>
          <a:noFill/>
          <a:ln/>
        </p:spPr>
        <p:txBody>
          <a:bodyPr wrap="square" lIns="0" tIns="0" rIns="0" bIns="0" rtlCol="0" anchor="ctr"/>
          <a:lstStyle/>
          <a:p>
            <a:pPr marL="0" indent="0">
              <a:buNone/>
            </a:pPr>
            <a:r>
              <a:rPr lang="en-US" sz="1400" b="1" dirty="0">
                <a:solidFill>
                  <a:srgbClr val="1B2340"/>
                </a:solidFill>
                <a:latin typeface="Times New Roman" panose="02020603050405020304" pitchFamily="18" charset="0"/>
                <a:ea typeface="Calibri" pitchFamily="34" charset="-122"/>
                <a:cs typeface="Times New Roman" panose="02020603050405020304" pitchFamily="18" charset="0"/>
              </a:rPr>
              <a:t>Literature Review / Related Work</a:t>
            </a:r>
            <a:endParaRPr lang="en-US" sz="1400" dirty="0">
              <a:latin typeface="Times New Roman" panose="02020603050405020304" pitchFamily="18" charset="0"/>
              <a:cs typeface="Times New Roman" panose="02020603050405020304" pitchFamily="18" charset="0"/>
            </a:endParaRPr>
          </a:p>
        </p:txBody>
      </p:sp>
      <p:sp>
        <p:nvSpPr>
          <p:cNvPr id="22" name="Shape 20"/>
          <p:cNvSpPr/>
          <p:nvPr/>
        </p:nvSpPr>
        <p:spPr>
          <a:xfrm>
            <a:off x="399673" y="3999595"/>
            <a:ext cx="2746940" cy="566928"/>
          </a:xfrm>
          <a:prstGeom prst="roundRect">
            <a:avLst>
              <a:gd name="adj" fmla="val 4715"/>
            </a:avLst>
          </a:prstGeom>
          <a:solidFill>
            <a:srgbClr val="EEF3FC"/>
          </a:solidFill>
          <a:ln/>
          <a:effectLst>
            <a:outerShdw blurRad="76200" dist="25400" dir="5400000" algn="bl" rotWithShape="0">
              <a:srgbClr val="6B7694">
                <a:alpha val="18000"/>
              </a:srgbClr>
            </a:outerShdw>
          </a:effectLst>
        </p:spPr>
      </p:sp>
      <p:sp>
        <p:nvSpPr>
          <p:cNvPr id="23" name="Shape 21"/>
          <p:cNvSpPr/>
          <p:nvPr/>
        </p:nvSpPr>
        <p:spPr>
          <a:xfrm>
            <a:off x="439939" y="4043128"/>
            <a:ext cx="502920" cy="502920"/>
          </a:xfrm>
          <a:prstGeom prst="ellipse">
            <a:avLst/>
          </a:prstGeom>
          <a:solidFill>
            <a:srgbClr val="00B4D8"/>
          </a:solidFill>
          <a:ln/>
        </p:spPr>
      </p:sp>
      <p:sp>
        <p:nvSpPr>
          <p:cNvPr id="24" name="Text 22"/>
          <p:cNvSpPr txBox="1"/>
          <p:nvPr/>
        </p:nvSpPr>
        <p:spPr>
          <a:xfrm>
            <a:off x="433049" y="404312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5</a:t>
            </a:r>
            <a:endParaRPr lang="en-US" sz="1800" dirty="0">
              <a:latin typeface="Times New Roman" panose="02020603050405020304" pitchFamily="18" charset="0"/>
              <a:cs typeface="Times New Roman" panose="02020603050405020304" pitchFamily="18" charset="0"/>
            </a:endParaRPr>
          </a:p>
        </p:txBody>
      </p:sp>
      <p:sp>
        <p:nvSpPr>
          <p:cNvPr id="25" name="Text 23"/>
          <p:cNvSpPr txBox="1"/>
          <p:nvPr/>
        </p:nvSpPr>
        <p:spPr>
          <a:xfrm>
            <a:off x="969345" y="4026416"/>
            <a:ext cx="2100392" cy="575711"/>
          </a:xfrm>
          <a:prstGeom prst="rect">
            <a:avLst/>
          </a:prstGeom>
          <a:noFill/>
          <a:ln/>
        </p:spPr>
        <p:txBody>
          <a:bodyPr wrap="square" lIns="0" tIns="0" rIns="0" bIns="0" rtlCol="0" anchor="ctr"/>
          <a:lstStyle/>
          <a:p>
            <a:pPr marL="0" indent="0">
              <a:buNone/>
            </a:pPr>
            <a:r>
              <a:rPr lang="en-US" sz="1400" b="1" dirty="0">
                <a:solidFill>
                  <a:srgbClr val="1B2340"/>
                </a:solidFill>
                <a:latin typeface="Times New Roman" panose="02020603050405020304" pitchFamily="18" charset="0"/>
                <a:ea typeface="Calibri" pitchFamily="34" charset="-122"/>
                <a:cs typeface="Times New Roman" panose="02020603050405020304" pitchFamily="18" charset="0"/>
              </a:rPr>
              <a:t>Proposed Methodology</a:t>
            </a:r>
            <a:endParaRPr lang="en-US" sz="1400" dirty="0">
              <a:latin typeface="Times New Roman" panose="02020603050405020304" pitchFamily="18" charset="0"/>
              <a:cs typeface="Times New Roman" panose="02020603050405020304" pitchFamily="18" charset="0"/>
            </a:endParaRPr>
          </a:p>
        </p:txBody>
      </p:sp>
      <p:sp>
        <p:nvSpPr>
          <p:cNvPr id="26" name="Shape 24"/>
          <p:cNvSpPr/>
          <p:nvPr/>
        </p:nvSpPr>
        <p:spPr>
          <a:xfrm>
            <a:off x="367829" y="4628185"/>
            <a:ext cx="2750408" cy="629519"/>
          </a:xfrm>
          <a:prstGeom prst="roundRect">
            <a:avLst>
              <a:gd name="adj" fmla="val 4715"/>
            </a:avLst>
          </a:prstGeom>
          <a:solidFill>
            <a:srgbClr val="EEF3FC"/>
          </a:solidFill>
          <a:ln/>
          <a:effectLst>
            <a:outerShdw blurRad="76200" dist="25400" dir="5400000" algn="bl" rotWithShape="0">
              <a:srgbClr val="6B7694">
                <a:alpha val="18000"/>
              </a:srgbClr>
            </a:outerShdw>
          </a:effectLst>
        </p:spPr>
      </p:sp>
      <p:sp>
        <p:nvSpPr>
          <p:cNvPr id="27" name="Shape 25"/>
          <p:cNvSpPr/>
          <p:nvPr/>
        </p:nvSpPr>
        <p:spPr>
          <a:xfrm>
            <a:off x="433049" y="4737921"/>
            <a:ext cx="502920" cy="502920"/>
          </a:xfrm>
          <a:prstGeom prst="ellipse">
            <a:avLst/>
          </a:prstGeom>
          <a:solidFill>
            <a:srgbClr val="00B4D8"/>
          </a:solidFill>
          <a:ln/>
        </p:spPr>
      </p:sp>
      <p:sp>
        <p:nvSpPr>
          <p:cNvPr id="28" name="Text 26"/>
          <p:cNvSpPr txBox="1"/>
          <p:nvPr/>
        </p:nvSpPr>
        <p:spPr>
          <a:xfrm>
            <a:off x="424688" y="4732721"/>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6</a:t>
            </a:r>
            <a:endParaRPr lang="en-US" sz="1800" dirty="0">
              <a:latin typeface="Times New Roman" panose="02020603050405020304" pitchFamily="18" charset="0"/>
              <a:cs typeface="Times New Roman" panose="02020603050405020304" pitchFamily="18" charset="0"/>
            </a:endParaRPr>
          </a:p>
        </p:txBody>
      </p:sp>
      <p:sp>
        <p:nvSpPr>
          <p:cNvPr id="29" name="Text 27"/>
          <p:cNvSpPr txBox="1"/>
          <p:nvPr/>
        </p:nvSpPr>
        <p:spPr>
          <a:xfrm>
            <a:off x="973437" y="4718329"/>
            <a:ext cx="1694831" cy="490179"/>
          </a:xfrm>
          <a:prstGeom prst="rect">
            <a:avLst/>
          </a:prstGeom>
          <a:noFill/>
          <a:ln/>
        </p:spPr>
        <p:txBody>
          <a:bodyPr wrap="square" lIns="0" tIns="0" rIns="0" bIns="0" rtlCol="0" anchor="ctr"/>
          <a:lstStyle/>
          <a:p>
            <a:pPr marL="0" indent="0">
              <a:buNone/>
            </a:pPr>
            <a:r>
              <a:rPr lang="en-US" sz="1400" b="1" dirty="0">
                <a:solidFill>
                  <a:srgbClr val="1B2340"/>
                </a:solidFill>
                <a:latin typeface="Times New Roman" panose="02020603050405020304" pitchFamily="18" charset="0"/>
                <a:ea typeface="Calibri" pitchFamily="34" charset="-122"/>
                <a:cs typeface="Times New Roman" panose="02020603050405020304" pitchFamily="18" charset="0"/>
              </a:rPr>
              <a:t>Result and Analysis</a:t>
            </a:r>
            <a:endParaRPr lang="en-US" sz="1400" dirty="0">
              <a:latin typeface="Times New Roman" panose="02020603050405020304" pitchFamily="18" charset="0"/>
              <a:cs typeface="Times New Roman" panose="02020603050405020304" pitchFamily="18" charset="0"/>
            </a:endParaRPr>
          </a:p>
        </p:txBody>
      </p:sp>
      <p:sp>
        <p:nvSpPr>
          <p:cNvPr id="30" name="Shape 28"/>
          <p:cNvSpPr/>
          <p:nvPr/>
        </p:nvSpPr>
        <p:spPr>
          <a:xfrm>
            <a:off x="367828" y="5300794"/>
            <a:ext cx="2760853" cy="571088"/>
          </a:xfrm>
          <a:prstGeom prst="roundRect">
            <a:avLst>
              <a:gd name="adj" fmla="val 4715"/>
            </a:avLst>
          </a:prstGeom>
          <a:solidFill>
            <a:srgbClr val="EEF3FC"/>
          </a:solidFill>
          <a:ln/>
          <a:effectLst>
            <a:outerShdw blurRad="76200" dist="25400" dir="5400000" algn="bl" rotWithShape="0">
              <a:srgbClr val="6B7694">
                <a:alpha val="18000"/>
              </a:srgbClr>
            </a:outerShdw>
          </a:effectLst>
        </p:spPr>
      </p:sp>
      <p:sp>
        <p:nvSpPr>
          <p:cNvPr id="31" name="Shape 29"/>
          <p:cNvSpPr/>
          <p:nvPr/>
        </p:nvSpPr>
        <p:spPr>
          <a:xfrm>
            <a:off x="426540" y="5360722"/>
            <a:ext cx="502920" cy="502920"/>
          </a:xfrm>
          <a:prstGeom prst="ellipse">
            <a:avLst/>
          </a:prstGeom>
          <a:solidFill>
            <a:srgbClr val="00B4D8"/>
          </a:solidFill>
          <a:ln/>
        </p:spPr>
      </p:sp>
      <p:sp>
        <p:nvSpPr>
          <p:cNvPr id="32" name="Text 30"/>
          <p:cNvSpPr txBox="1"/>
          <p:nvPr/>
        </p:nvSpPr>
        <p:spPr>
          <a:xfrm>
            <a:off x="436738" y="53560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7</a:t>
            </a:r>
            <a:endParaRPr lang="en-US" sz="1800" dirty="0">
              <a:latin typeface="Times New Roman" panose="02020603050405020304" pitchFamily="18" charset="0"/>
              <a:cs typeface="Times New Roman" panose="02020603050405020304" pitchFamily="18" charset="0"/>
            </a:endParaRPr>
          </a:p>
        </p:txBody>
      </p:sp>
      <p:sp>
        <p:nvSpPr>
          <p:cNvPr id="33" name="Text 31"/>
          <p:cNvSpPr txBox="1"/>
          <p:nvPr/>
        </p:nvSpPr>
        <p:spPr>
          <a:xfrm>
            <a:off x="975283" y="5300176"/>
            <a:ext cx="1502545" cy="522181"/>
          </a:xfrm>
          <a:prstGeom prst="rect">
            <a:avLst/>
          </a:prstGeom>
          <a:noFill/>
          <a:ln/>
        </p:spPr>
        <p:txBody>
          <a:bodyPr wrap="square" lIns="0" tIns="0" rIns="0" bIns="0" rtlCol="0" anchor="ctr"/>
          <a:lstStyle/>
          <a:p>
            <a:pPr marL="0" indent="0">
              <a:buNone/>
            </a:pPr>
            <a:r>
              <a:rPr lang="en-US" sz="1400" b="1" dirty="0">
                <a:solidFill>
                  <a:srgbClr val="1B2340"/>
                </a:solidFill>
                <a:latin typeface="Times New Roman" panose="02020603050405020304" pitchFamily="18" charset="0"/>
                <a:ea typeface="Calibri" pitchFamily="34" charset="-122"/>
                <a:cs typeface="Times New Roman" panose="02020603050405020304" pitchFamily="18" charset="0"/>
              </a:rPr>
              <a:t>Conclusion</a:t>
            </a:r>
            <a:endParaRPr lang="en-US" sz="1400" dirty="0">
              <a:latin typeface="Times New Roman" panose="02020603050405020304" pitchFamily="18" charset="0"/>
              <a:cs typeface="Times New Roman" panose="02020603050405020304" pitchFamily="18" charset="0"/>
            </a:endParaRPr>
          </a:p>
        </p:txBody>
      </p:sp>
      <p:sp>
        <p:nvSpPr>
          <p:cNvPr id="34" name="Shape 32"/>
          <p:cNvSpPr/>
          <p:nvPr/>
        </p:nvSpPr>
        <p:spPr>
          <a:xfrm>
            <a:off x="5837548" y="1203963"/>
            <a:ext cx="2360918" cy="569974"/>
          </a:xfrm>
          <a:prstGeom prst="roundRect">
            <a:avLst>
              <a:gd name="adj" fmla="val 4715"/>
            </a:avLst>
          </a:prstGeom>
          <a:solidFill>
            <a:srgbClr val="EEF3FC"/>
          </a:solidFill>
          <a:ln/>
          <a:effectLst>
            <a:outerShdw blurRad="76200" dist="25400" dir="5400000" algn="bl" rotWithShape="0">
              <a:srgbClr val="6B7694">
                <a:alpha val="18000"/>
              </a:srgbClr>
            </a:outerShdw>
          </a:effectLst>
        </p:spPr>
      </p:sp>
      <p:sp>
        <p:nvSpPr>
          <p:cNvPr id="35" name="Shape 33"/>
          <p:cNvSpPr/>
          <p:nvPr/>
        </p:nvSpPr>
        <p:spPr>
          <a:xfrm>
            <a:off x="5865087" y="1252005"/>
            <a:ext cx="502920" cy="502920"/>
          </a:xfrm>
          <a:prstGeom prst="ellipse">
            <a:avLst/>
          </a:prstGeom>
          <a:solidFill>
            <a:srgbClr val="00B4D8"/>
          </a:solidFill>
          <a:ln/>
        </p:spPr>
      </p:sp>
      <p:sp>
        <p:nvSpPr>
          <p:cNvPr id="36" name="Text 34"/>
          <p:cNvSpPr txBox="1"/>
          <p:nvPr/>
        </p:nvSpPr>
        <p:spPr>
          <a:xfrm>
            <a:off x="5843016" y="1241517"/>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8</a:t>
            </a:r>
            <a:endParaRPr lang="en-US" sz="1800" dirty="0">
              <a:latin typeface="Times New Roman" panose="02020603050405020304" pitchFamily="18" charset="0"/>
              <a:cs typeface="Times New Roman" panose="02020603050405020304" pitchFamily="18" charset="0"/>
            </a:endParaRPr>
          </a:p>
        </p:txBody>
      </p:sp>
      <p:sp>
        <p:nvSpPr>
          <p:cNvPr id="37" name="Text 35"/>
          <p:cNvSpPr txBox="1"/>
          <p:nvPr/>
        </p:nvSpPr>
        <p:spPr>
          <a:xfrm>
            <a:off x="6487538" y="1230683"/>
            <a:ext cx="1883834" cy="524242"/>
          </a:xfrm>
          <a:prstGeom prst="rect">
            <a:avLst/>
          </a:prstGeom>
          <a:noFill/>
          <a:ln/>
        </p:spPr>
        <p:txBody>
          <a:bodyPr wrap="square" lIns="0" tIns="0" rIns="0" bIns="0" rtlCol="0" anchor="ctr"/>
          <a:lstStyle/>
          <a:p>
            <a:pPr marL="0" indent="0">
              <a:buNone/>
            </a:pPr>
            <a:r>
              <a:rPr lang="en-US" sz="1400" b="1" dirty="0">
                <a:solidFill>
                  <a:srgbClr val="1B2340"/>
                </a:solidFill>
                <a:latin typeface="Times New Roman" panose="02020603050405020304" pitchFamily="18" charset="0"/>
                <a:ea typeface="Calibri" pitchFamily="34" charset="-122"/>
                <a:cs typeface="Times New Roman" panose="02020603050405020304" pitchFamily="18" charset="0"/>
              </a:rPr>
              <a:t>Future Work</a:t>
            </a:r>
            <a:endParaRPr lang="en-US" sz="1400" dirty="0">
              <a:latin typeface="Times New Roman" panose="02020603050405020304" pitchFamily="18" charset="0"/>
              <a:cs typeface="Times New Roman" panose="02020603050405020304" pitchFamily="18" charset="0"/>
            </a:endParaRPr>
          </a:p>
        </p:txBody>
      </p:sp>
      <p:sp>
        <p:nvSpPr>
          <p:cNvPr id="38" name="Shape 36"/>
          <p:cNvSpPr/>
          <p:nvPr/>
        </p:nvSpPr>
        <p:spPr>
          <a:xfrm>
            <a:off x="5823814" y="1889402"/>
            <a:ext cx="2374652" cy="569970"/>
          </a:xfrm>
          <a:prstGeom prst="roundRect">
            <a:avLst>
              <a:gd name="adj" fmla="val 4715"/>
            </a:avLst>
          </a:prstGeom>
          <a:solidFill>
            <a:srgbClr val="EEF3FC"/>
          </a:solidFill>
          <a:ln/>
          <a:effectLst>
            <a:outerShdw blurRad="76200" dist="25400" dir="5400000" algn="bl" rotWithShape="0">
              <a:srgbClr val="6B7694">
                <a:alpha val="18000"/>
              </a:srgbClr>
            </a:outerShdw>
          </a:effectLst>
        </p:spPr>
      </p:sp>
      <p:sp>
        <p:nvSpPr>
          <p:cNvPr id="39" name="Shape 37"/>
          <p:cNvSpPr/>
          <p:nvPr/>
        </p:nvSpPr>
        <p:spPr>
          <a:xfrm>
            <a:off x="5843016" y="1941574"/>
            <a:ext cx="502920" cy="502920"/>
          </a:xfrm>
          <a:prstGeom prst="ellipse">
            <a:avLst/>
          </a:prstGeom>
          <a:solidFill>
            <a:srgbClr val="00B4D8"/>
          </a:solidFill>
          <a:ln/>
        </p:spPr>
      </p:sp>
      <p:sp>
        <p:nvSpPr>
          <p:cNvPr id="40" name="Text 38"/>
          <p:cNvSpPr txBox="1"/>
          <p:nvPr/>
        </p:nvSpPr>
        <p:spPr>
          <a:xfrm>
            <a:off x="5843016" y="193125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9</a:t>
            </a:r>
            <a:endParaRPr lang="en-US" sz="1800" dirty="0">
              <a:latin typeface="Times New Roman" panose="02020603050405020304" pitchFamily="18" charset="0"/>
              <a:cs typeface="Times New Roman" panose="02020603050405020304" pitchFamily="18" charset="0"/>
            </a:endParaRPr>
          </a:p>
        </p:txBody>
      </p:sp>
      <p:sp>
        <p:nvSpPr>
          <p:cNvPr id="41" name="Text 39"/>
          <p:cNvSpPr txBox="1"/>
          <p:nvPr/>
        </p:nvSpPr>
        <p:spPr>
          <a:xfrm>
            <a:off x="6487538" y="1873414"/>
            <a:ext cx="1569325" cy="571080"/>
          </a:xfrm>
          <a:prstGeom prst="rect">
            <a:avLst/>
          </a:prstGeom>
          <a:noFill/>
          <a:ln/>
        </p:spPr>
        <p:txBody>
          <a:bodyPr wrap="square" lIns="0" tIns="0" rIns="0" bIns="0" rtlCol="0" anchor="ctr"/>
          <a:lstStyle/>
          <a:p>
            <a:pPr marL="0" indent="0">
              <a:buNone/>
            </a:pPr>
            <a:r>
              <a:rPr lang="en-US" sz="1400" b="1" dirty="0">
                <a:solidFill>
                  <a:srgbClr val="1B2340"/>
                </a:solidFill>
                <a:latin typeface="Times New Roman" panose="02020603050405020304" pitchFamily="18" charset="0"/>
                <a:ea typeface="Calibri" pitchFamily="34" charset="-122"/>
                <a:cs typeface="Times New Roman" panose="02020603050405020304" pitchFamily="18" charset="0"/>
              </a:rPr>
              <a:t>References</a:t>
            </a:r>
            <a:endParaRPr lang="en-US" sz="1400" dirty="0">
              <a:latin typeface="Times New Roman" panose="02020603050405020304" pitchFamily="18" charset="0"/>
              <a:cs typeface="Times New Roman" panose="02020603050405020304" pitchFamily="18" charset="0"/>
            </a:endParaRPr>
          </a:p>
        </p:txBody>
      </p:sp>
      <p:sp>
        <p:nvSpPr>
          <p:cNvPr id="42" name="Text 40"/>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Times New Roman" panose="02020603050405020304" pitchFamily="18" charset="0"/>
                <a:ea typeface="Calibri" pitchFamily="34" charset="-122"/>
                <a:cs typeface="Times New Roman" panose="02020603050405020304" pitchFamily="18" charset="0"/>
              </a:rPr>
              <a:t>OUTR CAMPUS NETWORK  |  CISCO PACKET TRACER</a:t>
            </a:r>
            <a:endParaRPr lang="en-US" sz="800" dirty="0">
              <a:latin typeface="Times New Roman" panose="02020603050405020304" pitchFamily="18" charset="0"/>
              <a:cs typeface="Times New Roman" panose="02020603050405020304" pitchFamily="18" charset="0"/>
            </a:endParaRPr>
          </a:p>
        </p:txBody>
      </p:sp>
      <p:sp>
        <p:nvSpPr>
          <p:cNvPr id="43" name="Text 41"/>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6B7694"/>
                </a:solidFill>
                <a:latin typeface="Times New Roman" panose="02020603050405020304" pitchFamily="18" charset="0"/>
                <a:ea typeface="Calibri" pitchFamily="34" charset="-122"/>
                <a:cs typeface="Times New Roman" panose="02020603050405020304" pitchFamily="18" charset="0"/>
              </a:rPr>
              <a:t>2</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Times New Roman" panose="02020603050405020304" pitchFamily="18" charset="0"/>
                <a:ea typeface="Cambria" pitchFamily="34" charset="-122"/>
                <a:cs typeface="Times New Roman" panose="02020603050405020304" pitchFamily="18" charset="0"/>
              </a:rPr>
              <a:t>Introduction</a:t>
            </a:r>
            <a:endParaRPr lang="en-US" sz="2800" dirty="0">
              <a:latin typeface="Times New Roman" panose="02020603050405020304" pitchFamily="18" charset="0"/>
              <a:cs typeface="Times New Roman" panose="02020603050405020304" pitchFamily="18" charset="0"/>
            </a:endParaRPr>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Times New Roman" panose="02020603050405020304" pitchFamily="18" charset="0"/>
                <a:ea typeface="Calibri" pitchFamily="34" charset="-122"/>
                <a:cs typeface="Times New Roman" panose="02020603050405020304" pitchFamily="18" charset="0"/>
              </a:rPr>
              <a:t>SECTION 01</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Shape 4"/>
          <p:cNvSpPr/>
          <p:nvPr/>
        </p:nvSpPr>
        <p:spPr>
          <a:xfrm>
            <a:off x="457200" y="1207008"/>
            <a:ext cx="11277295" cy="940003"/>
          </a:xfrm>
          <a:prstGeom prst="roundRect">
            <a:avLst>
              <a:gd name="adj" fmla="val 7782"/>
            </a:avLst>
          </a:prstGeom>
          <a:solidFill>
            <a:srgbClr val="EEF3FC"/>
          </a:solidFill>
          <a:ln/>
          <a:effectLst>
            <a:outerShdw blurRad="76200" dist="25400" dir="5400000" algn="bl" rotWithShape="0">
              <a:srgbClr val="6B7694">
                <a:alpha val="18000"/>
              </a:srgbClr>
            </a:outerShdw>
          </a:effectLst>
        </p:spPr>
      </p:sp>
      <p:sp>
        <p:nvSpPr>
          <p:cNvPr id="7" name="Shape 5"/>
          <p:cNvSpPr/>
          <p:nvPr/>
        </p:nvSpPr>
        <p:spPr>
          <a:xfrm>
            <a:off x="658368" y="1457554"/>
            <a:ext cx="438912" cy="438912"/>
          </a:xfrm>
          <a:prstGeom prst="ellipse">
            <a:avLst/>
          </a:prstGeom>
          <a:solidFill>
            <a:srgbClr val="00B4D8"/>
          </a:solidFill>
          <a:ln/>
        </p:spPr>
      </p:sp>
      <p:sp>
        <p:nvSpPr>
          <p:cNvPr id="8" name="Text 6"/>
          <p:cNvSpPr txBox="1"/>
          <p:nvPr/>
        </p:nvSpPr>
        <p:spPr>
          <a:xfrm>
            <a:off x="658368" y="1457554"/>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1</a:t>
            </a:r>
            <a:endParaRPr lang="en-US" sz="1800" dirty="0">
              <a:latin typeface="Times New Roman" panose="02020603050405020304" pitchFamily="18" charset="0"/>
              <a:cs typeface="Times New Roman" panose="02020603050405020304" pitchFamily="18" charset="0"/>
            </a:endParaRPr>
          </a:p>
        </p:txBody>
      </p:sp>
      <p:sp>
        <p:nvSpPr>
          <p:cNvPr id="9" name="Text 7"/>
          <p:cNvSpPr txBox="1"/>
          <p:nvPr/>
        </p:nvSpPr>
        <p:spPr>
          <a:xfrm>
            <a:off x="1280160" y="1261872"/>
            <a:ext cx="10241280" cy="830275"/>
          </a:xfrm>
          <a:prstGeom prst="rect">
            <a:avLst/>
          </a:prstGeom>
          <a:noFill/>
          <a:ln/>
        </p:spPr>
        <p:txBody>
          <a:bodyPr wrap="square" lIns="0" tIns="0" rIns="0" bIns="0" rtlCol="0" anchor="ctr"/>
          <a:lstStyle/>
          <a:p>
            <a:pPr marL="0" indent="0" algn="just">
              <a:lnSpc>
                <a:spcPct val="105000"/>
              </a:lnSpc>
              <a:buNone/>
            </a:pPr>
            <a:r>
              <a:rPr lang="en-US" sz="1200" dirty="0">
                <a:solidFill>
                  <a:srgbClr val="1B2340"/>
                </a:solidFill>
                <a:latin typeface="Times New Roman" panose="02020603050405020304" pitchFamily="18" charset="0"/>
                <a:ea typeface="Calibri" pitchFamily="34" charset="-122"/>
                <a:cs typeface="Times New Roman" panose="02020603050405020304" pitchFamily="18" charset="0"/>
              </a:rPr>
              <a:t>This project focuses on designing and analyzing a </a:t>
            </a:r>
            <a:r>
              <a:rPr lang="en-US" sz="1200" b="1" dirty="0">
                <a:solidFill>
                  <a:srgbClr val="1E2761"/>
                </a:solidFill>
                <a:latin typeface="Times New Roman" panose="02020603050405020304" pitchFamily="18" charset="0"/>
                <a:ea typeface="Calibri" pitchFamily="34" charset="-122"/>
                <a:cs typeface="Times New Roman" panose="02020603050405020304" pitchFamily="18" charset="0"/>
              </a:rPr>
              <a:t>large-scale, secure, and efficient network infrastructure</a:t>
            </a:r>
            <a:r>
              <a:rPr lang="en-US" sz="1200" dirty="0">
                <a:solidFill>
                  <a:srgbClr val="1B2340"/>
                </a:solidFill>
                <a:latin typeface="Times New Roman" panose="02020603050405020304" pitchFamily="18" charset="0"/>
                <a:ea typeface="Calibri" pitchFamily="34" charset="-122"/>
                <a:cs typeface="Times New Roman" panose="02020603050405020304" pitchFamily="18" charset="0"/>
              </a:rPr>
              <a:t> for a university or corporate campus. It helps network engineers understand how different buildings, departments, and network devices can communicate with each other across a large campus.</a:t>
            </a:r>
            <a:endParaRPr lang="en-US" sz="1200" dirty="0">
              <a:latin typeface="Times New Roman" panose="02020603050405020304" pitchFamily="18" charset="0"/>
              <a:cs typeface="Times New Roman" panose="02020603050405020304" pitchFamily="18" charset="0"/>
            </a:endParaRPr>
          </a:p>
        </p:txBody>
      </p:sp>
      <p:sp>
        <p:nvSpPr>
          <p:cNvPr id="10" name="Shape 8"/>
          <p:cNvSpPr/>
          <p:nvPr/>
        </p:nvSpPr>
        <p:spPr>
          <a:xfrm>
            <a:off x="457200" y="2275027"/>
            <a:ext cx="11277295" cy="940003"/>
          </a:xfrm>
          <a:prstGeom prst="roundRect">
            <a:avLst>
              <a:gd name="adj" fmla="val 7782"/>
            </a:avLst>
          </a:prstGeom>
          <a:solidFill>
            <a:srgbClr val="EEF3FC"/>
          </a:solidFill>
          <a:ln/>
          <a:effectLst>
            <a:outerShdw blurRad="76200" dist="25400" dir="5400000" algn="bl" rotWithShape="0">
              <a:srgbClr val="6B7694">
                <a:alpha val="18000"/>
              </a:srgbClr>
            </a:outerShdw>
          </a:effectLst>
        </p:spPr>
      </p:sp>
      <p:sp>
        <p:nvSpPr>
          <p:cNvPr id="11" name="Shape 9"/>
          <p:cNvSpPr/>
          <p:nvPr/>
        </p:nvSpPr>
        <p:spPr>
          <a:xfrm>
            <a:off x="658368" y="2525573"/>
            <a:ext cx="438912" cy="438912"/>
          </a:xfrm>
          <a:prstGeom prst="ellipse">
            <a:avLst/>
          </a:prstGeom>
          <a:solidFill>
            <a:srgbClr val="00B4D8"/>
          </a:solidFill>
          <a:ln/>
        </p:spPr>
      </p:sp>
      <p:sp>
        <p:nvSpPr>
          <p:cNvPr id="12" name="Text 10"/>
          <p:cNvSpPr txBox="1"/>
          <p:nvPr/>
        </p:nvSpPr>
        <p:spPr>
          <a:xfrm>
            <a:off x="658368" y="2525573"/>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2</a:t>
            </a:r>
            <a:endParaRPr lang="en-US" sz="1800" dirty="0">
              <a:latin typeface="Times New Roman" panose="02020603050405020304" pitchFamily="18" charset="0"/>
              <a:cs typeface="Times New Roman" panose="02020603050405020304" pitchFamily="18" charset="0"/>
            </a:endParaRPr>
          </a:p>
        </p:txBody>
      </p:sp>
      <p:sp>
        <p:nvSpPr>
          <p:cNvPr id="13" name="Text 11"/>
          <p:cNvSpPr txBox="1"/>
          <p:nvPr/>
        </p:nvSpPr>
        <p:spPr>
          <a:xfrm>
            <a:off x="1280160" y="2329891"/>
            <a:ext cx="10241280" cy="830275"/>
          </a:xfrm>
          <a:prstGeom prst="rect">
            <a:avLst/>
          </a:prstGeom>
          <a:noFill/>
          <a:ln/>
        </p:spPr>
        <p:txBody>
          <a:bodyPr wrap="square" lIns="0" tIns="0" rIns="0" bIns="0" rtlCol="0" anchor="ctr"/>
          <a:lstStyle/>
          <a:p>
            <a:pPr marL="0" indent="0" algn="just">
              <a:lnSpc>
                <a:spcPct val="105000"/>
              </a:lnSpc>
              <a:buNone/>
            </a:pPr>
            <a:r>
              <a:rPr lang="en-US" sz="1200">
                <a:latin typeface="Times New Roman" panose="02020603050405020304" pitchFamily="18" charset="0"/>
                <a:cs typeface="Times New Roman" panose="02020603050405020304" pitchFamily="18" charset="0"/>
              </a:rPr>
              <a:t>The network is divided into multiple buildings and departments, with each department placed in its own VLAN and IP subnet. Inter-VLAN routing and the RIPv2 dynamic routing protocol are used to ensure seamless communication between all departments and between the Main Campus and the ECE Branch Campus.</a:t>
            </a:r>
            <a:endParaRPr lang="en-US" sz="1200" dirty="0">
              <a:latin typeface="Times New Roman" panose="02020603050405020304" pitchFamily="18" charset="0"/>
              <a:cs typeface="Times New Roman" panose="02020603050405020304" pitchFamily="18" charset="0"/>
            </a:endParaRPr>
          </a:p>
        </p:txBody>
      </p:sp>
      <p:sp>
        <p:nvSpPr>
          <p:cNvPr id="14" name="Shape 12"/>
          <p:cNvSpPr/>
          <p:nvPr/>
        </p:nvSpPr>
        <p:spPr>
          <a:xfrm>
            <a:off x="457200" y="3343046"/>
            <a:ext cx="11277295" cy="940003"/>
          </a:xfrm>
          <a:prstGeom prst="roundRect">
            <a:avLst>
              <a:gd name="adj" fmla="val 7782"/>
            </a:avLst>
          </a:prstGeom>
          <a:solidFill>
            <a:srgbClr val="EEF3FC"/>
          </a:solidFill>
          <a:ln/>
          <a:effectLst>
            <a:outerShdw blurRad="76200" dist="25400" dir="5400000" algn="bl" rotWithShape="0">
              <a:srgbClr val="6B7694">
                <a:alpha val="18000"/>
              </a:srgbClr>
            </a:outerShdw>
          </a:effectLst>
        </p:spPr>
      </p:sp>
      <p:sp>
        <p:nvSpPr>
          <p:cNvPr id="15" name="Shape 13"/>
          <p:cNvSpPr/>
          <p:nvPr/>
        </p:nvSpPr>
        <p:spPr>
          <a:xfrm>
            <a:off x="658368" y="3593592"/>
            <a:ext cx="438912" cy="438912"/>
          </a:xfrm>
          <a:prstGeom prst="ellipse">
            <a:avLst/>
          </a:prstGeom>
          <a:solidFill>
            <a:srgbClr val="00B4D8"/>
          </a:solidFill>
          <a:ln/>
        </p:spPr>
      </p:sp>
      <p:sp>
        <p:nvSpPr>
          <p:cNvPr id="16" name="Text 14"/>
          <p:cNvSpPr txBox="1"/>
          <p:nvPr/>
        </p:nvSpPr>
        <p:spPr>
          <a:xfrm>
            <a:off x="658368" y="3593592"/>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3</a:t>
            </a:r>
            <a:endParaRPr lang="en-US" sz="1800" dirty="0">
              <a:latin typeface="Times New Roman" panose="02020603050405020304" pitchFamily="18" charset="0"/>
              <a:cs typeface="Times New Roman" panose="02020603050405020304" pitchFamily="18" charset="0"/>
            </a:endParaRPr>
          </a:p>
        </p:txBody>
      </p:sp>
      <p:sp>
        <p:nvSpPr>
          <p:cNvPr id="17" name="Text 15"/>
          <p:cNvSpPr txBox="1"/>
          <p:nvPr/>
        </p:nvSpPr>
        <p:spPr>
          <a:xfrm>
            <a:off x="1280160" y="3397910"/>
            <a:ext cx="10241280" cy="830275"/>
          </a:xfrm>
          <a:prstGeom prst="rect">
            <a:avLst/>
          </a:prstGeom>
          <a:noFill/>
          <a:ln/>
        </p:spPr>
        <p:txBody>
          <a:bodyPr wrap="square" lIns="0" tIns="0" rIns="0" bIns="0" rtlCol="0" anchor="ctr"/>
          <a:lstStyle/>
          <a:p>
            <a:pPr marL="0" indent="0" algn="just">
              <a:lnSpc>
                <a:spcPct val="105000"/>
              </a:lnSpc>
              <a:buNone/>
            </a:pPr>
            <a:r>
              <a:rPr lang="en-US" sz="1200">
                <a:latin typeface="Times New Roman" panose="02020603050405020304" pitchFamily="18" charset="0"/>
                <a:cs typeface="Times New Roman" panose="02020603050405020304" pitchFamily="18" charset="0"/>
              </a:rPr>
              <a:t>DHCP pools are configured for every department VLAN to automatically assign IP addresses to connected devices, reducing manual configuration and making network management easier.</a:t>
            </a:r>
            <a:endParaRPr lang="en-US" sz="1200" dirty="0">
              <a:latin typeface="Times New Roman" panose="02020603050405020304" pitchFamily="18" charset="0"/>
              <a:cs typeface="Times New Roman" panose="02020603050405020304" pitchFamily="18" charset="0"/>
            </a:endParaRPr>
          </a:p>
        </p:txBody>
      </p:sp>
      <p:sp>
        <p:nvSpPr>
          <p:cNvPr id="18" name="Shape 16"/>
          <p:cNvSpPr/>
          <p:nvPr/>
        </p:nvSpPr>
        <p:spPr>
          <a:xfrm>
            <a:off x="457200" y="4411066"/>
            <a:ext cx="11277295" cy="940003"/>
          </a:xfrm>
          <a:prstGeom prst="roundRect">
            <a:avLst>
              <a:gd name="adj" fmla="val 7782"/>
            </a:avLst>
          </a:prstGeom>
          <a:solidFill>
            <a:srgbClr val="EEF3FC"/>
          </a:solidFill>
          <a:ln/>
          <a:effectLst>
            <a:outerShdw blurRad="76200" dist="25400" dir="5400000" algn="bl" rotWithShape="0">
              <a:srgbClr val="6B7694">
                <a:alpha val="18000"/>
              </a:srgbClr>
            </a:outerShdw>
          </a:effectLst>
        </p:spPr>
      </p:sp>
      <p:sp>
        <p:nvSpPr>
          <p:cNvPr id="19" name="Shape 17"/>
          <p:cNvSpPr/>
          <p:nvPr/>
        </p:nvSpPr>
        <p:spPr>
          <a:xfrm>
            <a:off x="658368" y="4661611"/>
            <a:ext cx="438912" cy="438912"/>
          </a:xfrm>
          <a:prstGeom prst="ellipse">
            <a:avLst/>
          </a:prstGeom>
          <a:solidFill>
            <a:srgbClr val="00B4D8"/>
          </a:solidFill>
          <a:ln/>
        </p:spPr>
      </p:sp>
      <p:sp>
        <p:nvSpPr>
          <p:cNvPr id="20" name="Text 18"/>
          <p:cNvSpPr txBox="1"/>
          <p:nvPr/>
        </p:nvSpPr>
        <p:spPr>
          <a:xfrm>
            <a:off x="658368" y="4661611"/>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4</a:t>
            </a:r>
            <a:endParaRPr lang="en-US" sz="1800" dirty="0">
              <a:latin typeface="Times New Roman" panose="02020603050405020304" pitchFamily="18" charset="0"/>
              <a:cs typeface="Times New Roman" panose="02020603050405020304" pitchFamily="18" charset="0"/>
            </a:endParaRPr>
          </a:p>
        </p:txBody>
      </p:sp>
      <p:sp>
        <p:nvSpPr>
          <p:cNvPr id="21" name="Text 19"/>
          <p:cNvSpPr txBox="1"/>
          <p:nvPr/>
        </p:nvSpPr>
        <p:spPr>
          <a:xfrm>
            <a:off x="1280160" y="4465930"/>
            <a:ext cx="10241280" cy="830275"/>
          </a:xfrm>
          <a:prstGeom prst="rect">
            <a:avLst/>
          </a:prstGeom>
          <a:noFill/>
          <a:ln/>
        </p:spPr>
        <p:txBody>
          <a:bodyPr wrap="square" lIns="0" tIns="0" rIns="0" bIns="0" rtlCol="0" anchor="ctr"/>
          <a:lstStyle/>
          <a:p>
            <a:pPr marL="0" indent="0" algn="just">
              <a:lnSpc>
                <a:spcPct val="105000"/>
              </a:lnSpc>
              <a:buNone/>
            </a:pPr>
            <a:r>
              <a:rPr lang="en-US" sz="1200">
                <a:latin typeface="Times New Roman" panose="02020603050405020304" pitchFamily="18" charset="0"/>
                <a:cs typeface="Times New Roman" panose="02020603050405020304" pitchFamily="18" charset="0"/>
              </a:rPr>
              <a:t>The Main Campus is connected to the ECE Branch Campus and to an external Cloud Network (hosting the email server) through serial WAN links. Appropriate routing ensures reliable packet delivery across the entire network.</a:t>
            </a:r>
            <a:endParaRPr lang="en-US" sz="1200" dirty="0">
              <a:latin typeface="Times New Roman" panose="02020603050405020304" pitchFamily="18" charset="0"/>
              <a:cs typeface="Times New Roman" panose="02020603050405020304" pitchFamily="18" charset="0"/>
            </a:endParaRPr>
          </a:p>
        </p:txBody>
      </p:sp>
      <p:sp>
        <p:nvSpPr>
          <p:cNvPr id="22" name="Shape 20"/>
          <p:cNvSpPr/>
          <p:nvPr/>
        </p:nvSpPr>
        <p:spPr>
          <a:xfrm>
            <a:off x="457200" y="5479085"/>
            <a:ext cx="11277295" cy="940003"/>
          </a:xfrm>
          <a:prstGeom prst="roundRect">
            <a:avLst>
              <a:gd name="adj" fmla="val 7782"/>
            </a:avLst>
          </a:prstGeom>
          <a:solidFill>
            <a:srgbClr val="EEF3FC"/>
          </a:solidFill>
          <a:ln/>
          <a:effectLst>
            <a:outerShdw blurRad="76200" dist="25400" dir="5400000" algn="bl" rotWithShape="0">
              <a:srgbClr val="6B7694">
                <a:alpha val="18000"/>
              </a:srgbClr>
            </a:outerShdw>
          </a:effectLst>
        </p:spPr>
      </p:sp>
      <p:sp>
        <p:nvSpPr>
          <p:cNvPr id="23" name="Shape 21"/>
          <p:cNvSpPr/>
          <p:nvPr/>
        </p:nvSpPr>
        <p:spPr>
          <a:xfrm>
            <a:off x="658368" y="5729630"/>
            <a:ext cx="438912" cy="438912"/>
          </a:xfrm>
          <a:prstGeom prst="ellipse">
            <a:avLst/>
          </a:prstGeom>
          <a:solidFill>
            <a:srgbClr val="00B4D8"/>
          </a:solidFill>
          <a:ln/>
        </p:spPr>
      </p:sp>
      <p:sp>
        <p:nvSpPr>
          <p:cNvPr id="24" name="Text 22"/>
          <p:cNvSpPr txBox="1"/>
          <p:nvPr/>
        </p:nvSpPr>
        <p:spPr>
          <a:xfrm>
            <a:off x="658368" y="5729630"/>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5</a:t>
            </a:r>
            <a:endParaRPr lang="en-US" sz="1800" dirty="0">
              <a:latin typeface="Times New Roman" panose="02020603050405020304" pitchFamily="18" charset="0"/>
              <a:cs typeface="Times New Roman" panose="02020603050405020304" pitchFamily="18" charset="0"/>
            </a:endParaRPr>
          </a:p>
        </p:txBody>
      </p:sp>
      <p:sp>
        <p:nvSpPr>
          <p:cNvPr id="25" name="Text 23"/>
          <p:cNvSpPr txBox="1"/>
          <p:nvPr/>
        </p:nvSpPr>
        <p:spPr>
          <a:xfrm>
            <a:off x="1280160" y="5533949"/>
            <a:ext cx="10241280" cy="830275"/>
          </a:xfrm>
          <a:prstGeom prst="rect">
            <a:avLst/>
          </a:prstGeom>
          <a:noFill/>
          <a:ln/>
        </p:spPr>
        <p:txBody>
          <a:bodyPr wrap="square" lIns="0" tIns="0" rIns="0" bIns="0" rtlCol="0" anchor="ctr"/>
          <a:lstStyle/>
          <a:p>
            <a:pPr marL="0" indent="0" algn="just">
              <a:lnSpc>
                <a:spcPct val="105000"/>
              </a:lnSpc>
              <a:buNone/>
            </a:pPr>
            <a:r>
              <a:rPr lang="en-US" sz="1200" dirty="0">
                <a:solidFill>
                  <a:srgbClr val="1B2340"/>
                </a:solidFill>
                <a:latin typeface="Times New Roman" panose="02020603050405020304" pitchFamily="18" charset="0"/>
                <a:ea typeface="Calibri" pitchFamily="34" charset="-122"/>
                <a:cs typeface="Times New Roman" panose="02020603050405020304" pitchFamily="18" charset="0"/>
              </a:rPr>
              <a:t>The project also demonstrates </a:t>
            </a:r>
            <a:r>
              <a:rPr lang="en-US" sz="1200" b="1" dirty="0">
                <a:solidFill>
                  <a:srgbClr val="1E2761"/>
                </a:solidFill>
                <a:latin typeface="Times New Roman" panose="02020603050405020304" pitchFamily="18" charset="0"/>
                <a:ea typeface="Calibri" pitchFamily="34" charset="-122"/>
                <a:cs typeface="Times New Roman" panose="02020603050405020304" pitchFamily="18" charset="0"/>
              </a:rPr>
              <a:t>incoming and outgoing traffic management, inter-department communication, routing decisions, </a:t>
            </a:r>
            <a:r>
              <a:rPr lang="en-US" sz="1200" b="1">
                <a:solidFill>
                  <a:srgbClr val="1E2761"/>
                </a:solidFill>
                <a:latin typeface="Times New Roman" panose="02020603050405020304" pitchFamily="18" charset="0"/>
                <a:ea typeface="Calibri" pitchFamily="34" charset="-122"/>
                <a:cs typeface="Times New Roman" panose="02020603050405020304" pitchFamily="18" charset="0"/>
              </a:rPr>
              <a:t>and </a:t>
            </a:r>
            <a:r>
              <a:rPr lang="en-IN" sz="1200" b="1">
                <a:solidFill>
                  <a:schemeClr val="accent1">
                    <a:lumMod val="50000"/>
                  </a:schemeClr>
                </a:solidFill>
                <a:latin typeface="Times New Roman" panose="02020603050405020304" pitchFamily="18" charset="0"/>
                <a:cs typeface="Times New Roman" panose="02020603050405020304" pitchFamily="18" charset="0"/>
              </a:rPr>
              <a:t>VLAN-based network segmentation</a:t>
            </a:r>
            <a:r>
              <a:rPr lang="en-US" sz="1200">
                <a:solidFill>
                  <a:srgbClr val="1B2340"/>
                </a:solidFill>
                <a:latin typeface="Times New Roman" panose="02020603050405020304" pitchFamily="18" charset="0"/>
                <a:ea typeface="Calibri" pitchFamily="34" charset="-122"/>
                <a:cs typeface="Times New Roman" panose="02020603050405020304" pitchFamily="18" charset="0"/>
              </a:rPr>
              <a:t>. </a:t>
            </a:r>
            <a:r>
              <a:rPr lang="en-US" sz="1200" dirty="0">
                <a:solidFill>
                  <a:srgbClr val="1B2340"/>
                </a:solidFill>
                <a:latin typeface="Times New Roman" panose="02020603050405020304" pitchFamily="18" charset="0"/>
                <a:ea typeface="Calibri" pitchFamily="34" charset="-122"/>
                <a:cs typeface="Times New Roman" panose="02020603050405020304" pitchFamily="18" charset="0"/>
              </a:rPr>
              <a:t>Packet movement can be monitored to understand how data travels from one department or building to another.</a:t>
            </a:r>
            <a:endParaRPr lang="en-US" sz="1200" dirty="0">
              <a:latin typeface="Times New Roman" panose="02020603050405020304" pitchFamily="18" charset="0"/>
              <a:cs typeface="Times New Roman" panose="02020603050405020304" pitchFamily="18" charset="0"/>
            </a:endParaRPr>
          </a:p>
        </p:txBody>
      </p:sp>
      <p:sp>
        <p:nvSpPr>
          <p:cNvPr id="26" name="Text 24"/>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Times New Roman" panose="02020603050405020304" pitchFamily="18" charset="0"/>
                <a:ea typeface="Calibri" pitchFamily="34" charset="-122"/>
                <a:cs typeface="Times New Roman" panose="02020603050405020304" pitchFamily="18" charset="0"/>
              </a:rPr>
              <a:t>OUTR CAMPUS NETWORK  |  CISCO PACKET TRACER</a:t>
            </a:r>
            <a:endParaRPr lang="en-US" sz="800" dirty="0">
              <a:latin typeface="Times New Roman" panose="02020603050405020304" pitchFamily="18" charset="0"/>
              <a:cs typeface="Times New Roman" panose="02020603050405020304" pitchFamily="18" charset="0"/>
            </a:endParaRPr>
          </a:p>
        </p:txBody>
      </p:sp>
      <p:sp>
        <p:nvSpPr>
          <p:cNvPr id="27" name="Text 25"/>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6B7694"/>
                </a:solidFill>
                <a:latin typeface="Times New Roman" panose="02020603050405020304" pitchFamily="18" charset="0"/>
                <a:ea typeface="Calibri" pitchFamily="34" charset="-122"/>
                <a:cs typeface="Times New Roman" panose="02020603050405020304" pitchFamily="18" charset="0"/>
              </a:rPr>
              <a:t>3</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Times New Roman" panose="02020603050405020304" pitchFamily="18" charset="0"/>
                <a:ea typeface="Cambria" pitchFamily="34" charset="-122"/>
                <a:cs typeface="Times New Roman" panose="02020603050405020304" pitchFamily="18" charset="0"/>
              </a:rPr>
              <a:t>Motivation</a:t>
            </a:r>
            <a:endParaRPr lang="en-US" sz="2800" dirty="0">
              <a:latin typeface="Times New Roman" panose="02020603050405020304" pitchFamily="18" charset="0"/>
              <a:cs typeface="Times New Roman" panose="02020603050405020304" pitchFamily="18" charset="0"/>
            </a:endParaRPr>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Times New Roman" panose="02020603050405020304" pitchFamily="18" charset="0"/>
                <a:ea typeface="Calibri" pitchFamily="34" charset="-122"/>
                <a:cs typeface="Times New Roman" panose="02020603050405020304" pitchFamily="18" charset="0"/>
              </a:rPr>
              <a:t>SECTION 02</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Shape 4"/>
          <p:cNvSpPr/>
          <p:nvPr/>
        </p:nvSpPr>
        <p:spPr>
          <a:xfrm>
            <a:off x="457200" y="1207008"/>
            <a:ext cx="5501488" cy="1572768"/>
          </a:xfrm>
          <a:prstGeom prst="roundRect">
            <a:avLst>
              <a:gd name="adj" fmla="val 4651"/>
            </a:avLst>
          </a:prstGeom>
          <a:solidFill>
            <a:srgbClr val="EEF3FC"/>
          </a:solidFill>
          <a:ln/>
          <a:effectLst>
            <a:outerShdw blurRad="76200" dist="25400" dir="5400000" algn="bl" rotWithShape="0">
              <a:srgbClr val="6B7694">
                <a:alpha val="18000"/>
              </a:srgbClr>
            </a:outerShdw>
          </a:effectLst>
        </p:spPr>
      </p:sp>
      <p:sp>
        <p:nvSpPr>
          <p:cNvPr id="7" name="Shape 5"/>
          <p:cNvSpPr/>
          <p:nvPr/>
        </p:nvSpPr>
        <p:spPr>
          <a:xfrm>
            <a:off x="658368" y="1408176"/>
            <a:ext cx="384048" cy="384048"/>
          </a:xfrm>
          <a:prstGeom prst="ellipse">
            <a:avLst/>
          </a:prstGeom>
          <a:solidFill>
            <a:srgbClr val="00B4D8"/>
          </a:solidFill>
          <a:ln/>
        </p:spPr>
      </p:sp>
      <p:sp>
        <p:nvSpPr>
          <p:cNvPr id="8" name="Text 6"/>
          <p:cNvSpPr txBox="1"/>
          <p:nvPr/>
        </p:nvSpPr>
        <p:spPr>
          <a:xfrm>
            <a:off x="658368" y="14081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ea typeface="Cambria" pitchFamily="34" charset="-122"/>
                <a:cs typeface="Times New Roman" panose="02020603050405020304" pitchFamily="18" charset="0"/>
              </a:rPr>
              <a:t>1</a:t>
            </a:r>
            <a:endParaRPr lang="en-US" sz="1300" dirty="0">
              <a:latin typeface="Times New Roman" panose="02020603050405020304" pitchFamily="18" charset="0"/>
              <a:cs typeface="Times New Roman" panose="02020603050405020304" pitchFamily="18" charset="0"/>
            </a:endParaRPr>
          </a:p>
        </p:txBody>
      </p:sp>
      <p:sp>
        <p:nvSpPr>
          <p:cNvPr id="9" name="Text 7"/>
          <p:cNvSpPr txBox="1"/>
          <p:nvPr/>
        </p:nvSpPr>
        <p:spPr>
          <a:xfrm>
            <a:off x="658368" y="1892808"/>
            <a:ext cx="5099152" cy="704088"/>
          </a:xfrm>
          <a:prstGeom prst="rect">
            <a:avLst/>
          </a:prstGeom>
          <a:noFill/>
          <a:ln/>
        </p:spPr>
        <p:txBody>
          <a:bodyPr wrap="square" lIns="0" tIns="0" rIns="0" bIns="0" rtlCol="0" anchor="t"/>
          <a:lstStyle/>
          <a:p>
            <a:pPr marL="0" indent="0" algn="just">
              <a:lnSpc>
                <a:spcPct val="105000"/>
              </a:lnSpc>
              <a:buNone/>
            </a:pPr>
            <a:r>
              <a:rPr lang="en-US" sz="1150" b="1" dirty="0">
                <a:solidFill>
                  <a:srgbClr val="1E2761"/>
                </a:solidFill>
                <a:latin typeface="Times New Roman" panose="02020603050405020304" pitchFamily="18" charset="0"/>
                <a:ea typeface="Calibri" pitchFamily="34" charset="-122"/>
                <a:cs typeface="Times New Roman" panose="02020603050405020304" pitchFamily="18" charset="0"/>
              </a:rPr>
              <a:t>Growing demand for reliable campus connectivity:</a:t>
            </a: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 Large organizations and universities require seamless communication between multiple buildings, departments, and network devices.</a:t>
            </a:r>
            <a:endParaRPr lang="en-US" sz="1150" dirty="0">
              <a:latin typeface="Times New Roman" panose="02020603050405020304" pitchFamily="18" charset="0"/>
              <a:cs typeface="Times New Roman" panose="02020603050405020304" pitchFamily="18" charset="0"/>
            </a:endParaRPr>
          </a:p>
        </p:txBody>
      </p:sp>
      <p:sp>
        <p:nvSpPr>
          <p:cNvPr id="10" name="Shape 8"/>
          <p:cNvSpPr/>
          <p:nvPr/>
        </p:nvSpPr>
        <p:spPr>
          <a:xfrm>
            <a:off x="6233008" y="1207008"/>
            <a:ext cx="5501488" cy="1572768"/>
          </a:xfrm>
          <a:prstGeom prst="roundRect">
            <a:avLst>
              <a:gd name="adj" fmla="val 4651"/>
            </a:avLst>
          </a:prstGeom>
          <a:solidFill>
            <a:srgbClr val="EEF3FC"/>
          </a:solidFill>
          <a:ln/>
          <a:effectLst>
            <a:outerShdw blurRad="76200" dist="25400" dir="5400000" algn="bl" rotWithShape="0">
              <a:srgbClr val="6B7694">
                <a:alpha val="18000"/>
              </a:srgbClr>
            </a:outerShdw>
          </a:effectLst>
        </p:spPr>
      </p:sp>
      <p:sp>
        <p:nvSpPr>
          <p:cNvPr id="11" name="Shape 9"/>
          <p:cNvSpPr/>
          <p:nvPr/>
        </p:nvSpPr>
        <p:spPr>
          <a:xfrm>
            <a:off x="6434176" y="1408176"/>
            <a:ext cx="384048" cy="384048"/>
          </a:xfrm>
          <a:prstGeom prst="ellipse">
            <a:avLst/>
          </a:prstGeom>
          <a:solidFill>
            <a:srgbClr val="00B4D8"/>
          </a:solidFill>
          <a:ln/>
        </p:spPr>
      </p:sp>
      <p:sp>
        <p:nvSpPr>
          <p:cNvPr id="12" name="Text 10"/>
          <p:cNvSpPr txBox="1"/>
          <p:nvPr/>
        </p:nvSpPr>
        <p:spPr>
          <a:xfrm>
            <a:off x="6434176" y="14081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ea typeface="Cambria" pitchFamily="34" charset="-122"/>
                <a:cs typeface="Times New Roman" panose="02020603050405020304" pitchFamily="18" charset="0"/>
              </a:rPr>
              <a:t>2</a:t>
            </a:r>
            <a:endParaRPr lang="en-US" sz="1300" dirty="0">
              <a:latin typeface="Times New Roman" panose="02020603050405020304" pitchFamily="18" charset="0"/>
              <a:cs typeface="Times New Roman" panose="02020603050405020304" pitchFamily="18" charset="0"/>
            </a:endParaRPr>
          </a:p>
        </p:txBody>
      </p:sp>
      <p:sp>
        <p:nvSpPr>
          <p:cNvPr id="13" name="Text 11"/>
          <p:cNvSpPr txBox="1"/>
          <p:nvPr/>
        </p:nvSpPr>
        <p:spPr>
          <a:xfrm>
            <a:off x="6434176" y="1892808"/>
            <a:ext cx="5099152" cy="704088"/>
          </a:xfrm>
          <a:prstGeom prst="rect">
            <a:avLst/>
          </a:prstGeom>
          <a:noFill/>
          <a:ln/>
        </p:spPr>
        <p:txBody>
          <a:bodyPr wrap="square" lIns="0" tIns="0" rIns="0" bIns="0" rtlCol="0" anchor="t"/>
          <a:lstStyle/>
          <a:p>
            <a:pPr marL="0" indent="0" algn="just">
              <a:lnSpc>
                <a:spcPct val="105000"/>
              </a:lnSpc>
              <a:buNone/>
            </a:pPr>
            <a:r>
              <a:rPr lang="en-US" sz="1150" b="1" dirty="0">
                <a:solidFill>
                  <a:srgbClr val="1E2761"/>
                </a:solidFill>
                <a:latin typeface="Times New Roman" panose="02020603050405020304" pitchFamily="18" charset="0"/>
                <a:ea typeface="Calibri" pitchFamily="34" charset="-122"/>
                <a:cs typeface="Times New Roman" panose="02020603050405020304" pitchFamily="18" charset="0"/>
              </a:rPr>
              <a:t>Highlight the problem:</a:t>
            </a: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 Poorly designed networks can cause communication failures, network congestion, inefficient routing, and difficulty in managing large-scale infrastructure.</a:t>
            </a:r>
            <a:endParaRPr lang="en-US" sz="1150" dirty="0">
              <a:latin typeface="Times New Roman" panose="02020603050405020304" pitchFamily="18" charset="0"/>
              <a:cs typeface="Times New Roman" panose="02020603050405020304" pitchFamily="18" charset="0"/>
            </a:endParaRPr>
          </a:p>
        </p:txBody>
      </p:sp>
      <p:sp>
        <p:nvSpPr>
          <p:cNvPr id="14" name="Shape 12"/>
          <p:cNvSpPr/>
          <p:nvPr/>
        </p:nvSpPr>
        <p:spPr>
          <a:xfrm>
            <a:off x="457200" y="3008376"/>
            <a:ext cx="5501488" cy="1572768"/>
          </a:xfrm>
          <a:prstGeom prst="roundRect">
            <a:avLst>
              <a:gd name="adj" fmla="val 4651"/>
            </a:avLst>
          </a:prstGeom>
          <a:solidFill>
            <a:srgbClr val="EEF3FC"/>
          </a:solidFill>
          <a:ln/>
          <a:effectLst>
            <a:outerShdw blurRad="76200" dist="25400" dir="5400000" algn="bl" rotWithShape="0">
              <a:srgbClr val="6B7694">
                <a:alpha val="18000"/>
              </a:srgbClr>
            </a:outerShdw>
          </a:effectLst>
        </p:spPr>
      </p:sp>
      <p:sp>
        <p:nvSpPr>
          <p:cNvPr id="15" name="Shape 13"/>
          <p:cNvSpPr/>
          <p:nvPr/>
        </p:nvSpPr>
        <p:spPr>
          <a:xfrm>
            <a:off x="658368" y="3209544"/>
            <a:ext cx="384048" cy="384048"/>
          </a:xfrm>
          <a:prstGeom prst="ellipse">
            <a:avLst/>
          </a:prstGeom>
          <a:solidFill>
            <a:srgbClr val="00B4D8"/>
          </a:solidFill>
          <a:ln/>
        </p:spPr>
      </p:sp>
      <p:sp>
        <p:nvSpPr>
          <p:cNvPr id="16" name="Text 14"/>
          <p:cNvSpPr txBox="1"/>
          <p:nvPr/>
        </p:nvSpPr>
        <p:spPr>
          <a:xfrm>
            <a:off x="658368" y="32095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ea typeface="Cambria" pitchFamily="34" charset="-122"/>
                <a:cs typeface="Times New Roman" panose="02020603050405020304" pitchFamily="18" charset="0"/>
              </a:rPr>
              <a:t>3</a:t>
            </a:r>
            <a:endParaRPr lang="en-US" sz="1300" dirty="0">
              <a:latin typeface="Times New Roman" panose="02020603050405020304" pitchFamily="18" charset="0"/>
              <a:cs typeface="Times New Roman" panose="02020603050405020304" pitchFamily="18" charset="0"/>
            </a:endParaRPr>
          </a:p>
        </p:txBody>
      </p:sp>
      <p:sp>
        <p:nvSpPr>
          <p:cNvPr id="17" name="Text 15"/>
          <p:cNvSpPr txBox="1"/>
          <p:nvPr/>
        </p:nvSpPr>
        <p:spPr>
          <a:xfrm>
            <a:off x="658368" y="3694176"/>
            <a:ext cx="5099152" cy="704088"/>
          </a:xfrm>
          <a:prstGeom prst="rect">
            <a:avLst/>
          </a:prstGeom>
          <a:noFill/>
          <a:ln/>
        </p:spPr>
        <p:txBody>
          <a:bodyPr wrap="square" lIns="0" tIns="0" rIns="0" bIns="0" rtlCol="0" anchor="t"/>
          <a:lstStyle/>
          <a:p>
            <a:pPr marL="0" indent="0" algn="just">
              <a:lnSpc>
                <a:spcPct val="105000"/>
              </a:lnSpc>
              <a:buNone/>
            </a:pPr>
            <a:r>
              <a:rPr lang="en-US" sz="1150" b="1" dirty="0">
                <a:solidFill>
                  <a:srgbClr val="1E2761"/>
                </a:solidFill>
                <a:latin typeface="Times New Roman" panose="02020603050405020304" pitchFamily="18" charset="0"/>
                <a:ea typeface="Calibri" pitchFamily="34" charset="-122"/>
                <a:cs typeface="Times New Roman" panose="02020603050405020304" pitchFamily="18" charset="0"/>
              </a:rPr>
              <a:t>Need for efficient network management:</a:t>
            </a: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 Multiple departments often operate across different network segments, creating a need for proper IP addressing, routing, and centralized network management.</a:t>
            </a:r>
            <a:endParaRPr lang="en-US" sz="1150" dirty="0">
              <a:latin typeface="Times New Roman" panose="02020603050405020304" pitchFamily="18" charset="0"/>
              <a:cs typeface="Times New Roman" panose="02020603050405020304" pitchFamily="18" charset="0"/>
            </a:endParaRPr>
          </a:p>
        </p:txBody>
      </p:sp>
      <p:sp>
        <p:nvSpPr>
          <p:cNvPr id="18" name="Shape 16"/>
          <p:cNvSpPr/>
          <p:nvPr/>
        </p:nvSpPr>
        <p:spPr>
          <a:xfrm>
            <a:off x="6233008" y="3008376"/>
            <a:ext cx="5501488" cy="1572768"/>
          </a:xfrm>
          <a:prstGeom prst="roundRect">
            <a:avLst>
              <a:gd name="adj" fmla="val 4651"/>
            </a:avLst>
          </a:prstGeom>
          <a:solidFill>
            <a:srgbClr val="EEF3FC"/>
          </a:solidFill>
          <a:ln/>
          <a:effectLst>
            <a:outerShdw blurRad="76200" dist="25400" dir="5400000" algn="bl" rotWithShape="0">
              <a:srgbClr val="6B7694">
                <a:alpha val="18000"/>
              </a:srgbClr>
            </a:outerShdw>
          </a:effectLst>
        </p:spPr>
      </p:sp>
      <p:sp>
        <p:nvSpPr>
          <p:cNvPr id="19" name="Shape 17"/>
          <p:cNvSpPr/>
          <p:nvPr/>
        </p:nvSpPr>
        <p:spPr>
          <a:xfrm>
            <a:off x="6434176" y="3209544"/>
            <a:ext cx="384048" cy="384048"/>
          </a:xfrm>
          <a:prstGeom prst="ellipse">
            <a:avLst/>
          </a:prstGeom>
          <a:solidFill>
            <a:srgbClr val="00B4D8"/>
          </a:solidFill>
          <a:ln/>
        </p:spPr>
      </p:sp>
      <p:sp>
        <p:nvSpPr>
          <p:cNvPr id="20" name="Text 18"/>
          <p:cNvSpPr txBox="1"/>
          <p:nvPr/>
        </p:nvSpPr>
        <p:spPr>
          <a:xfrm>
            <a:off x="6434176" y="32095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ea typeface="Cambria" pitchFamily="34" charset="-122"/>
                <a:cs typeface="Times New Roman" panose="02020603050405020304" pitchFamily="18" charset="0"/>
              </a:rPr>
              <a:t>4</a:t>
            </a:r>
            <a:endParaRPr lang="en-US" sz="1300" dirty="0">
              <a:latin typeface="Times New Roman" panose="02020603050405020304" pitchFamily="18" charset="0"/>
              <a:cs typeface="Times New Roman" panose="02020603050405020304" pitchFamily="18" charset="0"/>
            </a:endParaRPr>
          </a:p>
        </p:txBody>
      </p:sp>
      <p:sp>
        <p:nvSpPr>
          <p:cNvPr id="21" name="Text 19"/>
          <p:cNvSpPr txBox="1"/>
          <p:nvPr/>
        </p:nvSpPr>
        <p:spPr>
          <a:xfrm>
            <a:off x="6434176" y="3694176"/>
            <a:ext cx="5099152" cy="704088"/>
          </a:xfrm>
          <a:prstGeom prst="rect">
            <a:avLst/>
          </a:prstGeom>
          <a:noFill/>
          <a:ln/>
        </p:spPr>
        <p:txBody>
          <a:bodyPr wrap="square" lIns="0" tIns="0" rIns="0" bIns="0" rtlCol="0" anchor="t"/>
          <a:lstStyle/>
          <a:p>
            <a:pPr marL="0" indent="0" algn="just">
              <a:lnSpc>
                <a:spcPct val="105000"/>
              </a:lnSpc>
              <a:buNone/>
            </a:pPr>
            <a:r>
              <a:rPr lang="en-US" sz="1200">
                <a:latin typeface="Times New Roman" panose="02020603050405020304" pitchFamily="18" charset="0"/>
                <a:cs typeface="Times New Roman" panose="02020603050405020304" pitchFamily="18" charset="0"/>
              </a:rPr>
              <a:t>Importance of modern routing technologies: Understanding VLANs, Inter-VLAN Routing, DHCP and dynamic routing (RIPv2) is essential for building scalable and efficient networks.</a:t>
            </a:r>
            <a:endParaRPr lang="en-US" sz="1150" dirty="0">
              <a:latin typeface="Times New Roman" panose="02020603050405020304" pitchFamily="18" charset="0"/>
              <a:cs typeface="Times New Roman" panose="02020603050405020304" pitchFamily="18" charset="0"/>
            </a:endParaRPr>
          </a:p>
        </p:txBody>
      </p:sp>
      <p:sp>
        <p:nvSpPr>
          <p:cNvPr id="22" name="Shape 20"/>
          <p:cNvSpPr/>
          <p:nvPr/>
        </p:nvSpPr>
        <p:spPr>
          <a:xfrm>
            <a:off x="457200" y="4809744"/>
            <a:ext cx="5501488" cy="1572768"/>
          </a:xfrm>
          <a:prstGeom prst="roundRect">
            <a:avLst>
              <a:gd name="adj" fmla="val 4651"/>
            </a:avLst>
          </a:prstGeom>
          <a:solidFill>
            <a:srgbClr val="EEF3FC"/>
          </a:solidFill>
          <a:ln/>
          <a:effectLst>
            <a:outerShdw blurRad="76200" dist="25400" dir="5400000" algn="bl" rotWithShape="0">
              <a:srgbClr val="6B7694">
                <a:alpha val="18000"/>
              </a:srgbClr>
            </a:outerShdw>
          </a:effectLst>
        </p:spPr>
      </p:sp>
      <p:sp>
        <p:nvSpPr>
          <p:cNvPr id="23" name="Shape 21"/>
          <p:cNvSpPr/>
          <p:nvPr/>
        </p:nvSpPr>
        <p:spPr>
          <a:xfrm>
            <a:off x="658368" y="5010912"/>
            <a:ext cx="384048" cy="384048"/>
          </a:xfrm>
          <a:prstGeom prst="ellipse">
            <a:avLst/>
          </a:prstGeom>
          <a:solidFill>
            <a:srgbClr val="00B4D8"/>
          </a:solidFill>
          <a:ln/>
        </p:spPr>
      </p:sp>
      <p:sp>
        <p:nvSpPr>
          <p:cNvPr id="24" name="Text 22"/>
          <p:cNvSpPr txBox="1"/>
          <p:nvPr/>
        </p:nvSpPr>
        <p:spPr>
          <a:xfrm>
            <a:off x="658368" y="50109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ea typeface="Cambria" pitchFamily="34" charset="-122"/>
                <a:cs typeface="Times New Roman" panose="02020603050405020304" pitchFamily="18" charset="0"/>
              </a:rPr>
              <a:t>5</a:t>
            </a:r>
            <a:endParaRPr lang="en-US" sz="1300" dirty="0">
              <a:latin typeface="Times New Roman" panose="02020603050405020304" pitchFamily="18" charset="0"/>
              <a:cs typeface="Times New Roman" panose="02020603050405020304" pitchFamily="18" charset="0"/>
            </a:endParaRPr>
          </a:p>
        </p:txBody>
      </p:sp>
      <p:sp>
        <p:nvSpPr>
          <p:cNvPr id="25" name="Text 23"/>
          <p:cNvSpPr txBox="1"/>
          <p:nvPr/>
        </p:nvSpPr>
        <p:spPr>
          <a:xfrm>
            <a:off x="658368" y="5495544"/>
            <a:ext cx="5099152" cy="704088"/>
          </a:xfrm>
          <a:prstGeom prst="rect">
            <a:avLst/>
          </a:prstGeom>
          <a:noFill/>
          <a:ln/>
        </p:spPr>
        <p:txBody>
          <a:bodyPr wrap="square" lIns="0" tIns="0" rIns="0" bIns="0" rtlCol="0" anchor="t"/>
          <a:lstStyle/>
          <a:p>
            <a:pPr marL="0" indent="0" algn="just">
              <a:lnSpc>
                <a:spcPct val="105000"/>
              </a:lnSpc>
              <a:buNone/>
            </a:pPr>
            <a:r>
              <a:rPr lang="en-US" sz="1150" b="1" dirty="0">
                <a:solidFill>
                  <a:srgbClr val="1E2761"/>
                </a:solidFill>
                <a:latin typeface="Times New Roman" panose="02020603050405020304" pitchFamily="18" charset="0"/>
                <a:ea typeface="Calibri" pitchFamily="34" charset="-122"/>
                <a:cs typeface="Times New Roman" panose="02020603050405020304" pitchFamily="18" charset="0"/>
              </a:rPr>
              <a:t>Need for practical networking experience:</a:t>
            </a: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 Cisco Packet Tracer provides a cost-effective environment to design, configure, test, and troubleshoot real-world network scenarios without requiring physical networking equipment.</a:t>
            </a:r>
            <a:endParaRPr lang="en-US" sz="1150" dirty="0">
              <a:latin typeface="Times New Roman" panose="02020603050405020304" pitchFamily="18" charset="0"/>
              <a:cs typeface="Times New Roman" panose="02020603050405020304" pitchFamily="18" charset="0"/>
            </a:endParaRPr>
          </a:p>
        </p:txBody>
      </p:sp>
      <p:sp>
        <p:nvSpPr>
          <p:cNvPr id="26" name="Text 24"/>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Times New Roman" panose="02020603050405020304" pitchFamily="18" charset="0"/>
                <a:ea typeface="Calibri" pitchFamily="34" charset="-122"/>
                <a:cs typeface="Times New Roman" panose="02020603050405020304" pitchFamily="18" charset="0"/>
              </a:rPr>
              <a:t>OUTR CAMPUS NETWORK  |  CISCO PACKET TRACER</a:t>
            </a:r>
            <a:endParaRPr lang="en-US" sz="800" dirty="0">
              <a:latin typeface="Times New Roman" panose="02020603050405020304" pitchFamily="18" charset="0"/>
              <a:cs typeface="Times New Roman" panose="02020603050405020304" pitchFamily="18" charset="0"/>
            </a:endParaRPr>
          </a:p>
        </p:txBody>
      </p:sp>
      <p:sp>
        <p:nvSpPr>
          <p:cNvPr id="27" name="Text 25"/>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6B7694"/>
                </a:solidFill>
                <a:latin typeface="Times New Roman" panose="02020603050405020304" pitchFamily="18" charset="0"/>
                <a:ea typeface="Calibri" pitchFamily="34" charset="-122"/>
                <a:cs typeface="Times New Roman" panose="02020603050405020304" pitchFamily="18" charset="0"/>
              </a:rPr>
              <a:t>4</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3FC"/>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Times New Roman" panose="02020603050405020304" pitchFamily="18" charset="0"/>
                <a:ea typeface="Cambria" pitchFamily="34" charset="-122"/>
                <a:cs typeface="Times New Roman" panose="02020603050405020304" pitchFamily="18" charset="0"/>
              </a:rPr>
              <a:t>Objective / Goal</a:t>
            </a:r>
            <a:endParaRPr lang="en-US" sz="2800" dirty="0">
              <a:latin typeface="Times New Roman" panose="02020603050405020304" pitchFamily="18" charset="0"/>
              <a:cs typeface="Times New Roman" panose="02020603050405020304" pitchFamily="18" charset="0"/>
            </a:endParaRPr>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Times New Roman" panose="02020603050405020304" pitchFamily="18" charset="0"/>
                <a:ea typeface="Calibri" pitchFamily="34" charset="-122"/>
                <a:cs typeface="Times New Roman" panose="02020603050405020304" pitchFamily="18" charset="0"/>
              </a:rPr>
              <a:t>SECTION 03</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Shape 4"/>
          <p:cNvSpPr/>
          <p:nvPr/>
        </p:nvSpPr>
        <p:spPr>
          <a:xfrm>
            <a:off x="457200" y="1207008"/>
            <a:ext cx="11277295" cy="940003"/>
          </a:xfrm>
          <a:prstGeom prst="roundRect">
            <a:avLst>
              <a:gd name="adj" fmla="val 7782"/>
            </a:avLst>
          </a:prstGeom>
          <a:solidFill>
            <a:srgbClr val="FFFFFF"/>
          </a:solidFill>
          <a:ln/>
          <a:effectLst>
            <a:outerShdw blurRad="76200" dist="25400" dir="5400000" algn="bl" rotWithShape="0">
              <a:srgbClr val="6B7694">
                <a:alpha val="18000"/>
              </a:srgbClr>
            </a:outerShdw>
          </a:effectLst>
        </p:spPr>
      </p:sp>
      <p:sp>
        <p:nvSpPr>
          <p:cNvPr id="7" name="Shape 5"/>
          <p:cNvSpPr/>
          <p:nvPr/>
        </p:nvSpPr>
        <p:spPr>
          <a:xfrm>
            <a:off x="658368" y="1457554"/>
            <a:ext cx="438912" cy="438912"/>
          </a:xfrm>
          <a:prstGeom prst="ellipse">
            <a:avLst/>
          </a:prstGeom>
          <a:solidFill>
            <a:srgbClr val="1E2761"/>
          </a:solidFill>
          <a:ln/>
        </p:spPr>
      </p:sp>
      <p:sp>
        <p:nvSpPr>
          <p:cNvPr id="8" name="Text 6"/>
          <p:cNvSpPr txBox="1"/>
          <p:nvPr/>
        </p:nvSpPr>
        <p:spPr>
          <a:xfrm>
            <a:off x="658368" y="1457554"/>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1</a:t>
            </a:r>
            <a:endParaRPr lang="en-US" sz="1800" dirty="0">
              <a:latin typeface="Times New Roman" panose="02020603050405020304" pitchFamily="18" charset="0"/>
              <a:cs typeface="Times New Roman" panose="02020603050405020304" pitchFamily="18" charset="0"/>
            </a:endParaRPr>
          </a:p>
        </p:txBody>
      </p:sp>
      <p:sp>
        <p:nvSpPr>
          <p:cNvPr id="9" name="Text 7"/>
          <p:cNvSpPr txBox="1"/>
          <p:nvPr/>
        </p:nvSpPr>
        <p:spPr>
          <a:xfrm>
            <a:off x="1280160" y="1261872"/>
            <a:ext cx="10241280" cy="830275"/>
          </a:xfrm>
          <a:prstGeom prst="rect">
            <a:avLst/>
          </a:prstGeom>
          <a:noFill/>
          <a:ln/>
        </p:spPr>
        <p:txBody>
          <a:bodyPr wrap="square" lIns="0" tIns="0" rIns="0" bIns="0" rtlCol="0" anchor="ctr"/>
          <a:lstStyle/>
          <a:p>
            <a:pPr marL="0" indent="0" algn="just">
              <a:lnSpc>
                <a:spcPct val="105000"/>
              </a:lnSpc>
              <a:buNone/>
            </a:pPr>
            <a:r>
              <a:rPr lang="en-US" sz="1200" b="1" dirty="0">
                <a:solidFill>
                  <a:srgbClr val="1E2761"/>
                </a:solidFill>
                <a:latin typeface="Times New Roman" panose="02020603050405020304" pitchFamily="18" charset="0"/>
                <a:ea typeface="Calibri" pitchFamily="34" charset="-122"/>
                <a:cs typeface="Times New Roman" panose="02020603050405020304" pitchFamily="18" charset="0"/>
              </a:rPr>
              <a:t>To design and establish a scalable network infrastructure</a:t>
            </a:r>
            <a:r>
              <a:rPr lang="en-US" sz="1200" dirty="0">
                <a:solidFill>
                  <a:srgbClr val="1B2340"/>
                </a:solidFill>
                <a:latin typeface="Times New Roman" panose="02020603050405020304" pitchFamily="18" charset="0"/>
                <a:ea typeface="Calibri" pitchFamily="34" charset="-122"/>
                <a:cs typeface="Times New Roman" panose="02020603050405020304" pitchFamily="18" charset="0"/>
              </a:rPr>
              <a:t> for a large company or university campus, connecting multiple buildings, departments, and network devices efficiently.</a:t>
            </a:r>
            <a:endParaRPr lang="en-US" sz="1200" dirty="0">
              <a:latin typeface="Times New Roman" panose="02020603050405020304" pitchFamily="18" charset="0"/>
              <a:cs typeface="Times New Roman" panose="02020603050405020304" pitchFamily="18" charset="0"/>
            </a:endParaRPr>
          </a:p>
        </p:txBody>
      </p:sp>
      <p:sp>
        <p:nvSpPr>
          <p:cNvPr id="10" name="Shape 8"/>
          <p:cNvSpPr/>
          <p:nvPr/>
        </p:nvSpPr>
        <p:spPr>
          <a:xfrm>
            <a:off x="457200" y="2275027"/>
            <a:ext cx="11277295" cy="940003"/>
          </a:xfrm>
          <a:prstGeom prst="roundRect">
            <a:avLst>
              <a:gd name="adj" fmla="val 7782"/>
            </a:avLst>
          </a:prstGeom>
          <a:solidFill>
            <a:srgbClr val="FFFFFF"/>
          </a:solidFill>
          <a:ln/>
          <a:effectLst>
            <a:outerShdw blurRad="76200" dist="25400" dir="5400000" algn="bl" rotWithShape="0">
              <a:srgbClr val="6B7694">
                <a:alpha val="18000"/>
              </a:srgbClr>
            </a:outerShdw>
          </a:effectLst>
        </p:spPr>
      </p:sp>
      <p:sp>
        <p:nvSpPr>
          <p:cNvPr id="11" name="Shape 9"/>
          <p:cNvSpPr/>
          <p:nvPr/>
        </p:nvSpPr>
        <p:spPr>
          <a:xfrm>
            <a:off x="658368" y="2525573"/>
            <a:ext cx="438912" cy="438912"/>
          </a:xfrm>
          <a:prstGeom prst="ellipse">
            <a:avLst/>
          </a:prstGeom>
          <a:solidFill>
            <a:srgbClr val="1E2761"/>
          </a:solidFill>
          <a:ln/>
        </p:spPr>
      </p:sp>
      <p:sp>
        <p:nvSpPr>
          <p:cNvPr id="12" name="Text 10"/>
          <p:cNvSpPr txBox="1"/>
          <p:nvPr/>
        </p:nvSpPr>
        <p:spPr>
          <a:xfrm>
            <a:off x="658368" y="2525573"/>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2</a:t>
            </a:r>
            <a:endParaRPr lang="en-US" sz="1800" dirty="0">
              <a:latin typeface="Times New Roman" panose="02020603050405020304" pitchFamily="18" charset="0"/>
              <a:cs typeface="Times New Roman" panose="02020603050405020304" pitchFamily="18" charset="0"/>
            </a:endParaRPr>
          </a:p>
        </p:txBody>
      </p:sp>
      <p:sp>
        <p:nvSpPr>
          <p:cNvPr id="13" name="Text 11"/>
          <p:cNvSpPr txBox="1"/>
          <p:nvPr/>
        </p:nvSpPr>
        <p:spPr>
          <a:xfrm>
            <a:off x="1280160" y="2329891"/>
            <a:ext cx="10241280" cy="830275"/>
          </a:xfrm>
          <a:prstGeom prst="rect">
            <a:avLst/>
          </a:prstGeom>
          <a:noFill/>
          <a:ln/>
        </p:spPr>
        <p:txBody>
          <a:bodyPr wrap="square" lIns="0" tIns="0" rIns="0" bIns="0" rtlCol="0" anchor="ctr"/>
          <a:lstStyle/>
          <a:p>
            <a:pPr marL="0" indent="0" algn="just">
              <a:lnSpc>
                <a:spcPct val="105000"/>
              </a:lnSpc>
              <a:buNone/>
            </a:pPr>
            <a:r>
              <a:rPr lang="en-US" sz="1200" b="1" dirty="0">
                <a:solidFill>
                  <a:srgbClr val="1E2761"/>
                </a:solidFill>
                <a:latin typeface="Times New Roman" panose="02020603050405020304" pitchFamily="18" charset="0"/>
                <a:ea typeface="Calibri" pitchFamily="34" charset="-122"/>
                <a:cs typeface="Times New Roman" panose="02020603050405020304" pitchFamily="18" charset="0"/>
              </a:rPr>
              <a:t>To simulate and validate the proposed network topology</a:t>
            </a:r>
            <a:r>
              <a:rPr lang="en-US" sz="1200" dirty="0">
                <a:solidFill>
                  <a:srgbClr val="1B2340"/>
                </a:solidFill>
                <a:latin typeface="Times New Roman" panose="02020603050405020304" pitchFamily="18" charset="0"/>
                <a:ea typeface="Calibri" pitchFamily="34" charset="-122"/>
                <a:cs typeface="Times New Roman" panose="02020603050405020304" pitchFamily="18" charset="0"/>
              </a:rPr>
              <a:t> using Cisco Packet Tracer, ensuring proper connectivity and reliable packet transmission between different network segments.</a:t>
            </a:r>
            <a:endParaRPr lang="en-US" sz="1200" dirty="0">
              <a:latin typeface="Times New Roman" panose="02020603050405020304" pitchFamily="18" charset="0"/>
              <a:cs typeface="Times New Roman" panose="02020603050405020304" pitchFamily="18" charset="0"/>
            </a:endParaRPr>
          </a:p>
        </p:txBody>
      </p:sp>
      <p:sp>
        <p:nvSpPr>
          <p:cNvPr id="14" name="Shape 12"/>
          <p:cNvSpPr/>
          <p:nvPr/>
        </p:nvSpPr>
        <p:spPr>
          <a:xfrm>
            <a:off x="457200" y="3343046"/>
            <a:ext cx="11277295" cy="940003"/>
          </a:xfrm>
          <a:prstGeom prst="roundRect">
            <a:avLst>
              <a:gd name="adj" fmla="val 7782"/>
            </a:avLst>
          </a:prstGeom>
          <a:solidFill>
            <a:srgbClr val="FFFFFF"/>
          </a:solidFill>
          <a:ln/>
          <a:effectLst>
            <a:outerShdw blurRad="76200" dist="25400" dir="5400000" algn="bl" rotWithShape="0">
              <a:srgbClr val="6B7694">
                <a:alpha val="18000"/>
              </a:srgbClr>
            </a:outerShdw>
          </a:effectLst>
        </p:spPr>
      </p:sp>
      <p:sp>
        <p:nvSpPr>
          <p:cNvPr id="15" name="Shape 13"/>
          <p:cNvSpPr/>
          <p:nvPr/>
        </p:nvSpPr>
        <p:spPr>
          <a:xfrm>
            <a:off x="658368" y="3593592"/>
            <a:ext cx="438912" cy="438912"/>
          </a:xfrm>
          <a:prstGeom prst="ellipse">
            <a:avLst/>
          </a:prstGeom>
          <a:solidFill>
            <a:srgbClr val="1E2761"/>
          </a:solidFill>
          <a:ln/>
        </p:spPr>
      </p:sp>
      <p:sp>
        <p:nvSpPr>
          <p:cNvPr id="16" name="Text 14"/>
          <p:cNvSpPr txBox="1"/>
          <p:nvPr/>
        </p:nvSpPr>
        <p:spPr>
          <a:xfrm>
            <a:off x="658368" y="3593592"/>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3</a:t>
            </a:r>
            <a:endParaRPr lang="en-US" sz="1800" dirty="0">
              <a:latin typeface="Times New Roman" panose="02020603050405020304" pitchFamily="18" charset="0"/>
              <a:cs typeface="Times New Roman" panose="02020603050405020304" pitchFamily="18" charset="0"/>
            </a:endParaRPr>
          </a:p>
        </p:txBody>
      </p:sp>
      <p:sp>
        <p:nvSpPr>
          <p:cNvPr id="17" name="Text 15"/>
          <p:cNvSpPr txBox="1"/>
          <p:nvPr/>
        </p:nvSpPr>
        <p:spPr>
          <a:xfrm>
            <a:off x="2560320" y="6973214"/>
            <a:ext cx="10241280" cy="830275"/>
          </a:xfrm>
          <a:prstGeom prst="rect">
            <a:avLst/>
          </a:prstGeom>
          <a:noFill/>
          <a:ln/>
        </p:spPr>
        <p:txBody>
          <a:bodyPr wrap="square" lIns="0" tIns="0" rIns="0" bIns="0" rtlCol="0" anchor="ctr"/>
          <a:lstStyle/>
          <a:p>
            <a:pPr marL="0" indent="0" algn="just">
              <a:lnSpc>
                <a:spcPct val="105000"/>
              </a:lnSpc>
              <a:buNone/>
            </a:pPr>
            <a:endParaRPr lang="en-US" sz="1200" dirty="0">
              <a:latin typeface="Times New Roman" panose="02020603050405020304" pitchFamily="18" charset="0"/>
              <a:cs typeface="Times New Roman" panose="02020603050405020304" pitchFamily="18" charset="0"/>
            </a:endParaRPr>
          </a:p>
        </p:txBody>
      </p:sp>
      <p:sp>
        <p:nvSpPr>
          <p:cNvPr id="18" name="Shape 16"/>
          <p:cNvSpPr/>
          <p:nvPr/>
        </p:nvSpPr>
        <p:spPr>
          <a:xfrm>
            <a:off x="457200" y="4411066"/>
            <a:ext cx="11277295" cy="940003"/>
          </a:xfrm>
          <a:prstGeom prst="roundRect">
            <a:avLst>
              <a:gd name="adj" fmla="val 7782"/>
            </a:avLst>
          </a:prstGeom>
          <a:solidFill>
            <a:srgbClr val="FFFFFF"/>
          </a:solidFill>
          <a:ln/>
          <a:effectLst>
            <a:outerShdw blurRad="76200" dist="25400" dir="5400000" algn="bl" rotWithShape="0">
              <a:srgbClr val="6B7694">
                <a:alpha val="18000"/>
              </a:srgbClr>
            </a:outerShdw>
          </a:effectLst>
        </p:spPr>
      </p:sp>
      <p:sp>
        <p:nvSpPr>
          <p:cNvPr id="19" name="Shape 17"/>
          <p:cNvSpPr/>
          <p:nvPr/>
        </p:nvSpPr>
        <p:spPr>
          <a:xfrm>
            <a:off x="658368" y="4661611"/>
            <a:ext cx="438912" cy="438912"/>
          </a:xfrm>
          <a:prstGeom prst="ellipse">
            <a:avLst/>
          </a:prstGeom>
          <a:solidFill>
            <a:srgbClr val="1E2761"/>
          </a:solidFill>
          <a:ln/>
        </p:spPr>
      </p:sp>
      <p:sp>
        <p:nvSpPr>
          <p:cNvPr id="20" name="Text 18"/>
          <p:cNvSpPr txBox="1"/>
          <p:nvPr/>
        </p:nvSpPr>
        <p:spPr>
          <a:xfrm>
            <a:off x="658368" y="4661611"/>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4</a:t>
            </a:r>
            <a:endParaRPr lang="en-US" sz="1800" dirty="0">
              <a:latin typeface="Times New Roman" panose="02020603050405020304" pitchFamily="18" charset="0"/>
              <a:cs typeface="Times New Roman" panose="02020603050405020304" pitchFamily="18" charset="0"/>
            </a:endParaRPr>
          </a:p>
        </p:txBody>
      </p:sp>
      <p:sp>
        <p:nvSpPr>
          <p:cNvPr id="21" name="Text 19"/>
          <p:cNvSpPr txBox="1"/>
          <p:nvPr/>
        </p:nvSpPr>
        <p:spPr>
          <a:xfrm>
            <a:off x="1280160" y="4465930"/>
            <a:ext cx="10241280" cy="830275"/>
          </a:xfrm>
          <a:prstGeom prst="rect">
            <a:avLst/>
          </a:prstGeom>
          <a:noFill/>
          <a:ln/>
        </p:spPr>
        <p:txBody>
          <a:bodyPr wrap="square" lIns="0" tIns="0" rIns="0" bIns="0" rtlCol="0" anchor="ctr"/>
          <a:lstStyle/>
          <a:p>
            <a:pPr marL="0" indent="0" algn="just">
              <a:lnSpc>
                <a:spcPct val="105000"/>
              </a:lnSpc>
              <a:buNone/>
            </a:pPr>
            <a:r>
              <a:rPr lang="en-US" sz="1200" b="1">
                <a:solidFill>
                  <a:schemeClr val="accent1">
                    <a:lumMod val="50000"/>
                  </a:schemeClr>
                </a:solidFill>
                <a:latin typeface="Times New Roman" panose="02020603050405020304" pitchFamily="18" charset="0"/>
                <a:cs typeface="Times New Roman" panose="02020603050405020304" pitchFamily="18" charset="0"/>
              </a:rPr>
              <a:t>To analyze inter-department and inter-building communication</a:t>
            </a:r>
            <a:r>
              <a:rPr lang="en-US" sz="1200">
                <a:latin typeface="Times New Roman" panose="02020603050405020304" pitchFamily="18" charset="0"/>
                <a:cs typeface="Times New Roman" panose="02020603050405020304" pitchFamily="18" charset="0"/>
              </a:rPr>
              <a:t>, studying how packets are routed between departments and between the Main Campus and ECE Branch Campus using RIPv2.</a:t>
            </a:r>
            <a:endParaRPr lang="en-US" sz="1200" dirty="0">
              <a:latin typeface="Times New Roman" panose="02020603050405020304" pitchFamily="18" charset="0"/>
              <a:cs typeface="Times New Roman" panose="02020603050405020304" pitchFamily="18" charset="0"/>
            </a:endParaRPr>
          </a:p>
        </p:txBody>
      </p:sp>
      <p:sp>
        <p:nvSpPr>
          <p:cNvPr id="22" name="Shape 20"/>
          <p:cNvSpPr/>
          <p:nvPr/>
        </p:nvSpPr>
        <p:spPr>
          <a:xfrm>
            <a:off x="457200" y="5479085"/>
            <a:ext cx="11277295" cy="940003"/>
          </a:xfrm>
          <a:prstGeom prst="roundRect">
            <a:avLst>
              <a:gd name="adj" fmla="val 7782"/>
            </a:avLst>
          </a:prstGeom>
          <a:solidFill>
            <a:srgbClr val="FFFFFF"/>
          </a:solidFill>
          <a:ln/>
          <a:effectLst>
            <a:outerShdw blurRad="76200" dist="25400" dir="5400000" algn="bl" rotWithShape="0">
              <a:srgbClr val="6B7694">
                <a:alpha val="18000"/>
              </a:srgbClr>
            </a:outerShdw>
          </a:effectLst>
        </p:spPr>
      </p:sp>
      <p:sp>
        <p:nvSpPr>
          <p:cNvPr id="23" name="Shape 21"/>
          <p:cNvSpPr/>
          <p:nvPr/>
        </p:nvSpPr>
        <p:spPr>
          <a:xfrm>
            <a:off x="658368" y="5729630"/>
            <a:ext cx="438912" cy="438912"/>
          </a:xfrm>
          <a:prstGeom prst="ellipse">
            <a:avLst/>
          </a:prstGeom>
          <a:solidFill>
            <a:srgbClr val="1E2761"/>
          </a:solidFill>
          <a:ln/>
        </p:spPr>
      </p:sp>
      <p:sp>
        <p:nvSpPr>
          <p:cNvPr id="24" name="Text 22"/>
          <p:cNvSpPr txBox="1"/>
          <p:nvPr/>
        </p:nvSpPr>
        <p:spPr>
          <a:xfrm>
            <a:off x="658368" y="5729630"/>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5</a:t>
            </a:r>
            <a:endParaRPr lang="en-US" sz="1800" dirty="0">
              <a:latin typeface="Times New Roman" panose="02020603050405020304" pitchFamily="18" charset="0"/>
              <a:cs typeface="Times New Roman" panose="02020603050405020304" pitchFamily="18" charset="0"/>
            </a:endParaRPr>
          </a:p>
        </p:txBody>
      </p:sp>
      <p:sp>
        <p:nvSpPr>
          <p:cNvPr id="25" name="Text 23"/>
          <p:cNvSpPr txBox="1"/>
          <p:nvPr/>
        </p:nvSpPr>
        <p:spPr>
          <a:xfrm>
            <a:off x="1280160" y="5533949"/>
            <a:ext cx="10241280" cy="830275"/>
          </a:xfrm>
          <a:prstGeom prst="rect">
            <a:avLst/>
          </a:prstGeom>
          <a:noFill/>
          <a:ln/>
        </p:spPr>
        <p:txBody>
          <a:bodyPr wrap="square" lIns="0" tIns="0" rIns="0" bIns="0" rtlCol="0" anchor="ctr"/>
          <a:lstStyle/>
          <a:p>
            <a:pPr marL="0" indent="0" algn="just">
              <a:lnSpc>
                <a:spcPct val="105000"/>
              </a:lnSpc>
              <a:buNone/>
            </a:pPr>
            <a:r>
              <a:rPr lang="en-US" sz="1200" b="1" dirty="0">
                <a:solidFill>
                  <a:srgbClr val="1E2761"/>
                </a:solidFill>
                <a:latin typeface="Times New Roman" panose="02020603050405020304" pitchFamily="18" charset="0"/>
                <a:ea typeface="Calibri" pitchFamily="34" charset="-122"/>
                <a:cs typeface="Times New Roman" panose="02020603050405020304" pitchFamily="18" charset="0"/>
              </a:rPr>
              <a:t>To improve network management, reliability, and security</a:t>
            </a:r>
            <a:r>
              <a:rPr lang="en-US" sz="1200" dirty="0">
                <a:solidFill>
                  <a:srgbClr val="1B2340"/>
                </a:solidFill>
                <a:latin typeface="Times New Roman" panose="02020603050405020304" pitchFamily="18" charset="0"/>
                <a:ea typeface="Calibri" pitchFamily="34" charset="-122"/>
                <a:cs typeface="Times New Roman" panose="02020603050405020304" pitchFamily="18" charset="0"/>
              </a:rPr>
              <a:t> by implementing appropriate IP addressing, traffic management, WAN connectivity, </a:t>
            </a:r>
            <a:r>
              <a:rPr lang="en-US" sz="1200">
                <a:solidFill>
                  <a:srgbClr val="1B2340"/>
                </a:solidFill>
                <a:latin typeface="Times New Roman" panose="02020603050405020304" pitchFamily="18" charset="0"/>
                <a:ea typeface="Calibri" pitchFamily="34" charset="-122"/>
                <a:cs typeface="Times New Roman" panose="02020603050405020304" pitchFamily="18" charset="0"/>
              </a:rPr>
              <a:t>and </a:t>
            </a:r>
            <a:r>
              <a:rPr lang="en-IN" sz="1200">
                <a:latin typeface="Times New Roman" panose="02020603050405020304" pitchFamily="18" charset="0"/>
                <a:cs typeface="Times New Roman" panose="02020603050405020304" pitchFamily="18" charset="0"/>
              </a:rPr>
              <a:t>VLAN-based segmentation</a:t>
            </a:r>
            <a:r>
              <a:rPr lang="en-US" sz="1200">
                <a:solidFill>
                  <a:srgbClr val="1B2340"/>
                </a:solidFill>
                <a:latin typeface="Times New Roman" panose="02020603050405020304" pitchFamily="18" charset="0"/>
                <a:ea typeface="Calibri" pitchFamily="34" charset="-122"/>
                <a:cs typeface="Times New Roman" panose="02020603050405020304" pitchFamily="18" charset="0"/>
              </a:rPr>
              <a:t> </a:t>
            </a:r>
            <a:r>
              <a:rPr lang="en-US" sz="1200" dirty="0">
                <a:solidFill>
                  <a:srgbClr val="1B2340"/>
                </a:solidFill>
                <a:latin typeface="Times New Roman" panose="02020603050405020304" pitchFamily="18" charset="0"/>
                <a:ea typeface="Calibri" pitchFamily="34" charset="-122"/>
                <a:cs typeface="Times New Roman" panose="02020603050405020304" pitchFamily="18" charset="0"/>
              </a:rPr>
              <a:t>for efficient and controlled data communication.</a:t>
            </a:r>
            <a:endParaRPr lang="en-US" sz="1200" dirty="0">
              <a:latin typeface="Times New Roman" panose="02020603050405020304" pitchFamily="18" charset="0"/>
              <a:cs typeface="Times New Roman" panose="02020603050405020304" pitchFamily="18" charset="0"/>
            </a:endParaRPr>
          </a:p>
        </p:txBody>
      </p:sp>
      <p:sp>
        <p:nvSpPr>
          <p:cNvPr id="26" name="Text 24"/>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Times New Roman" panose="02020603050405020304" pitchFamily="18" charset="0"/>
                <a:ea typeface="Calibri" pitchFamily="34" charset="-122"/>
                <a:cs typeface="Times New Roman" panose="02020603050405020304" pitchFamily="18" charset="0"/>
              </a:rPr>
              <a:t>OUTR CAMPUS NETWORK  |  CISCO PACKET TRACER</a:t>
            </a:r>
            <a:endParaRPr lang="en-US" sz="800" dirty="0">
              <a:latin typeface="Times New Roman" panose="02020603050405020304" pitchFamily="18" charset="0"/>
              <a:cs typeface="Times New Roman" panose="02020603050405020304" pitchFamily="18" charset="0"/>
            </a:endParaRPr>
          </a:p>
        </p:txBody>
      </p:sp>
      <p:sp>
        <p:nvSpPr>
          <p:cNvPr id="27" name="Text 25"/>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6B7694"/>
                </a:solidFill>
                <a:latin typeface="Times New Roman" panose="02020603050405020304" pitchFamily="18" charset="0"/>
                <a:ea typeface="Calibri" pitchFamily="34" charset="-122"/>
                <a:cs typeface="Times New Roman" panose="02020603050405020304" pitchFamily="18" charset="0"/>
              </a:rPr>
              <a:t>5</a:t>
            </a:r>
            <a:endParaRPr lang="en-US" sz="900" dirty="0">
              <a:latin typeface="Times New Roman" panose="02020603050405020304" pitchFamily="18" charset="0"/>
              <a:cs typeface="Times New Roman" panose="02020603050405020304" pitchFamily="18" charset="0"/>
            </a:endParaRPr>
          </a:p>
        </p:txBody>
      </p:sp>
      <p:sp>
        <p:nvSpPr>
          <p:cNvPr id="29" name="Rectangle 2">
            <a:extLst>
              <a:ext uri="{FF2B5EF4-FFF2-40B4-BE49-F238E27FC236}">
                <a16:creationId xmlns:a16="http://schemas.microsoft.com/office/drawing/2014/main" id="{410C2204-5E23-4633-B039-29B1DCAC2E90}"/>
              </a:ext>
            </a:extLst>
          </p:cNvPr>
          <p:cNvSpPr>
            <a:spLocks noChangeArrowheads="1"/>
          </p:cNvSpPr>
          <p:nvPr/>
        </p:nvSpPr>
        <p:spPr bwMode="auto">
          <a:xfrm>
            <a:off x="1211156" y="3626107"/>
            <a:ext cx="103133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accent1">
                    <a:lumMod val="50000"/>
                  </a:schemeClr>
                </a:solidFill>
                <a:effectLst/>
                <a:latin typeface="Times New Roman" panose="02020603050405020304" pitchFamily="18" charset="0"/>
                <a:cs typeface="Times New Roman" panose="02020603050405020304" pitchFamily="18" charset="0"/>
              </a:rPr>
              <a:t>To understand and implement various networking technologies</a:t>
            </a:r>
            <a:r>
              <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including VLANs, Inter-VLAN Routing, DHCP, RIPv2 dynamic routing, and serial WAN links.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Times New Roman" panose="02020603050405020304" pitchFamily="18" charset="0"/>
                <a:ea typeface="Cambria" pitchFamily="34" charset="-122"/>
                <a:cs typeface="Times New Roman" panose="02020603050405020304" pitchFamily="18" charset="0"/>
              </a:rPr>
              <a:t>Literature Review</a:t>
            </a:r>
            <a:endParaRPr lang="en-US" sz="2800" dirty="0">
              <a:latin typeface="Times New Roman" panose="02020603050405020304" pitchFamily="18" charset="0"/>
              <a:cs typeface="Times New Roman" panose="02020603050405020304" pitchFamily="18" charset="0"/>
            </a:endParaRPr>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Times New Roman" panose="02020603050405020304" pitchFamily="18" charset="0"/>
                <a:ea typeface="Calibri" pitchFamily="34" charset="-122"/>
                <a:cs typeface="Times New Roman" panose="02020603050405020304" pitchFamily="18" charset="0"/>
              </a:rPr>
              <a:t>SECTION 04</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Shape 4"/>
          <p:cNvSpPr/>
          <p:nvPr/>
        </p:nvSpPr>
        <p:spPr>
          <a:xfrm>
            <a:off x="457200" y="1207008"/>
            <a:ext cx="5501488" cy="1572768"/>
          </a:xfrm>
          <a:prstGeom prst="roundRect">
            <a:avLst>
              <a:gd name="adj" fmla="val 4651"/>
            </a:avLst>
          </a:prstGeom>
          <a:solidFill>
            <a:srgbClr val="EEF3FC"/>
          </a:solidFill>
          <a:ln/>
          <a:effectLst>
            <a:outerShdw blurRad="76200" dist="25400" dir="5400000" algn="bl" rotWithShape="0">
              <a:srgbClr val="6B7694">
                <a:alpha val="18000"/>
              </a:srgbClr>
            </a:outerShdw>
          </a:effectLst>
        </p:spPr>
      </p:sp>
      <p:sp>
        <p:nvSpPr>
          <p:cNvPr id="7" name="Shape 5"/>
          <p:cNvSpPr/>
          <p:nvPr/>
        </p:nvSpPr>
        <p:spPr>
          <a:xfrm>
            <a:off x="658368" y="1408176"/>
            <a:ext cx="384048" cy="384048"/>
          </a:xfrm>
          <a:prstGeom prst="ellipse">
            <a:avLst/>
          </a:prstGeom>
          <a:solidFill>
            <a:srgbClr val="00B4D8"/>
          </a:solidFill>
          <a:ln/>
        </p:spPr>
      </p:sp>
      <p:sp>
        <p:nvSpPr>
          <p:cNvPr id="8" name="Text 6"/>
          <p:cNvSpPr txBox="1"/>
          <p:nvPr/>
        </p:nvSpPr>
        <p:spPr>
          <a:xfrm>
            <a:off x="658368" y="14081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ea typeface="Cambria" pitchFamily="34" charset="-122"/>
                <a:cs typeface="Times New Roman" panose="02020603050405020304" pitchFamily="18" charset="0"/>
              </a:rPr>
              <a:t>1</a:t>
            </a:r>
            <a:endParaRPr lang="en-US" sz="1300" dirty="0">
              <a:latin typeface="Times New Roman" panose="02020603050405020304" pitchFamily="18" charset="0"/>
              <a:cs typeface="Times New Roman" panose="02020603050405020304" pitchFamily="18" charset="0"/>
            </a:endParaRPr>
          </a:p>
        </p:txBody>
      </p:sp>
      <p:sp>
        <p:nvSpPr>
          <p:cNvPr id="9" name="Text 7"/>
          <p:cNvSpPr txBox="1"/>
          <p:nvPr/>
        </p:nvSpPr>
        <p:spPr>
          <a:xfrm>
            <a:off x="658368" y="1892808"/>
            <a:ext cx="5099152" cy="704088"/>
          </a:xfrm>
          <a:prstGeom prst="rect">
            <a:avLst/>
          </a:prstGeom>
          <a:noFill/>
          <a:ln/>
        </p:spPr>
        <p:txBody>
          <a:bodyPr wrap="square" lIns="0" tIns="0" rIns="0" bIns="0" rtlCol="0" anchor="t"/>
          <a:lstStyle/>
          <a:p>
            <a:pPr marL="0" indent="0" algn="just">
              <a:lnSpc>
                <a:spcPct val="105000"/>
              </a:lnSpc>
              <a:buNone/>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Previous studies have explored University/Campus Network Design using Cisco Packet Tracer to understand network configuration, routing, connectivity, and performance.</a:t>
            </a:r>
            <a:endParaRPr lang="en-US" sz="1150" dirty="0">
              <a:latin typeface="Times New Roman" panose="02020603050405020304" pitchFamily="18" charset="0"/>
              <a:cs typeface="Times New Roman" panose="02020603050405020304" pitchFamily="18" charset="0"/>
            </a:endParaRPr>
          </a:p>
        </p:txBody>
      </p:sp>
      <p:sp>
        <p:nvSpPr>
          <p:cNvPr id="10" name="Shape 8"/>
          <p:cNvSpPr/>
          <p:nvPr/>
        </p:nvSpPr>
        <p:spPr>
          <a:xfrm>
            <a:off x="6233008" y="1207008"/>
            <a:ext cx="5501488" cy="1572768"/>
          </a:xfrm>
          <a:prstGeom prst="roundRect">
            <a:avLst>
              <a:gd name="adj" fmla="val 4651"/>
            </a:avLst>
          </a:prstGeom>
          <a:solidFill>
            <a:srgbClr val="EEF3FC"/>
          </a:solidFill>
          <a:ln/>
          <a:effectLst>
            <a:outerShdw blurRad="76200" dist="25400" dir="5400000" algn="bl" rotWithShape="0">
              <a:srgbClr val="6B7694">
                <a:alpha val="18000"/>
              </a:srgbClr>
            </a:outerShdw>
          </a:effectLst>
        </p:spPr>
      </p:sp>
      <p:sp>
        <p:nvSpPr>
          <p:cNvPr id="11" name="Shape 9"/>
          <p:cNvSpPr/>
          <p:nvPr/>
        </p:nvSpPr>
        <p:spPr>
          <a:xfrm>
            <a:off x="6434176" y="1408176"/>
            <a:ext cx="384048" cy="384048"/>
          </a:xfrm>
          <a:prstGeom prst="ellipse">
            <a:avLst/>
          </a:prstGeom>
          <a:solidFill>
            <a:srgbClr val="00B4D8"/>
          </a:solidFill>
          <a:ln/>
        </p:spPr>
      </p:sp>
      <p:sp>
        <p:nvSpPr>
          <p:cNvPr id="12" name="Text 10"/>
          <p:cNvSpPr txBox="1"/>
          <p:nvPr/>
        </p:nvSpPr>
        <p:spPr>
          <a:xfrm>
            <a:off x="6434176" y="14081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ea typeface="Cambria" pitchFamily="34" charset="-122"/>
                <a:cs typeface="Times New Roman" panose="02020603050405020304" pitchFamily="18" charset="0"/>
              </a:rPr>
              <a:t>2</a:t>
            </a:r>
            <a:endParaRPr lang="en-US" sz="1300" dirty="0">
              <a:latin typeface="Times New Roman" panose="02020603050405020304" pitchFamily="18" charset="0"/>
              <a:cs typeface="Times New Roman" panose="02020603050405020304" pitchFamily="18" charset="0"/>
            </a:endParaRPr>
          </a:p>
        </p:txBody>
      </p:sp>
      <p:sp>
        <p:nvSpPr>
          <p:cNvPr id="13" name="Text 11"/>
          <p:cNvSpPr txBox="1"/>
          <p:nvPr/>
        </p:nvSpPr>
        <p:spPr>
          <a:xfrm>
            <a:off x="6434176" y="1892808"/>
            <a:ext cx="5099152" cy="704088"/>
          </a:xfrm>
          <a:prstGeom prst="rect">
            <a:avLst/>
          </a:prstGeom>
          <a:noFill/>
          <a:ln/>
        </p:spPr>
        <p:txBody>
          <a:bodyPr wrap="square" lIns="0" tIns="0" rIns="0" bIns="0" rtlCol="0" anchor="t"/>
          <a:lstStyle/>
          <a:p>
            <a:pPr marL="0" indent="0" algn="just">
              <a:lnSpc>
                <a:spcPct val="105000"/>
              </a:lnSpc>
              <a:buNone/>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Research articles, theses, and technical literature provide the foundation for designing scalable, reliable, and efficient campus networks.</a:t>
            </a:r>
            <a:endParaRPr lang="en-US" sz="1150" dirty="0">
              <a:latin typeface="Times New Roman" panose="02020603050405020304" pitchFamily="18" charset="0"/>
              <a:cs typeface="Times New Roman" panose="02020603050405020304" pitchFamily="18" charset="0"/>
            </a:endParaRPr>
          </a:p>
        </p:txBody>
      </p:sp>
      <p:sp>
        <p:nvSpPr>
          <p:cNvPr id="14" name="Shape 12"/>
          <p:cNvSpPr/>
          <p:nvPr/>
        </p:nvSpPr>
        <p:spPr>
          <a:xfrm>
            <a:off x="457200" y="3008376"/>
            <a:ext cx="5501488" cy="1572768"/>
          </a:xfrm>
          <a:prstGeom prst="roundRect">
            <a:avLst>
              <a:gd name="adj" fmla="val 4651"/>
            </a:avLst>
          </a:prstGeom>
          <a:solidFill>
            <a:srgbClr val="EEF3FC"/>
          </a:solidFill>
          <a:ln/>
          <a:effectLst>
            <a:outerShdw blurRad="76200" dist="25400" dir="5400000" algn="bl" rotWithShape="0">
              <a:srgbClr val="6B7694">
                <a:alpha val="18000"/>
              </a:srgbClr>
            </a:outerShdw>
          </a:effectLst>
        </p:spPr>
      </p:sp>
      <p:sp>
        <p:nvSpPr>
          <p:cNvPr id="15" name="Shape 13"/>
          <p:cNvSpPr/>
          <p:nvPr/>
        </p:nvSpPr>
        <p:spPr>
          <a:xfrm>
            <a:off x="658368" y="3209544"/>
            <a:ext cx="384048" cy="384048"/>
          </a:xfrm>
          <a:prstGeom prst="ellipse">
            <a:avLst/>
          </a:prstGeom>
          <a:solidFill>
            <a:srgbClr val="00B4D8"/>
          </a:solidFill>
          <a:ln/>
        </p:spPr>
      </p:sp>
      <p:sp>
        <p:nvSpPr>
          <p:cNvPr id="16" name="Text 14"/>
          <p:cNvSpPr txBox="1"/>
          <p:nvPr/>
        </p:nvSpPr>
        <p:spPr>
          <a:xfrm>
            <a:off x="658368" y="32095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ea typeface="Cambria" pitchFamily="34" charset="-122"/>
                <a:cs typeface="Times New Roman" panose="02020603050405020304" pitchFamily="18" charset="0"/>
              </a:rPr>
              <a:t>3</a:t>
            </a:r>
            <a:endParaRPr lang="en-US" sz="1300" dirty="0">
              <a:latin typeface="Times New Roman" panose="02020603050405020304" pitchFamily="18" charset="0"/>
              <a:cs typeface="Times New Roman" panose="02020603050405020304" pitchFamily="18" charset="0"/>
            </a:endParaRPr>
          </a:p>
        </p:txBody>
      </p:sp>
      <p:sp>
        <p:nvSpPr>
          <p:cNvPr id="17" name="Text 15"/>
          <p:cNvSpPr txBox="1"/>
          <p:nvPr/>
        </p:nvSpPr>
        <p:spPr>
          <a:xfrm>
            <a:off x="658368" y="3694176"/>
            <a:ext cx="5099152" cy="704088"/>
          </a:xfrm>
          <a:prstGeom prst="rect">
            <a:avLst/>
          </a:prstGeom>
          <a:noFill/>
          <a:ln/>
        </p:spPr>
        <p:txBody>
          <a:bodyPr wrap="square" lIns="0" tIns="0" rIns="0" bIns="0" rtlCol="0" anchor="t"/>
          <a:lstStyle/>
          <a:p>
            <a:pPr marL="0" indent="0" algn="just">
              <a:lnSpc>
                <a:spcPct val="105000"/>
              </a:lnSpc>
              <a:buNone/>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The reviewed literature mainly focuses on network topology, routing protocols, IP addressing, network security, and communication between different departments.</a:t>
            </a:r>
            <a:endParaRPr lang="en-US" sz="1150" dirty="0">
              <a:latin typeface="Times New Roman" panose="02020603050405020304" pitchFamily="18" charset="0"/>
              <a:cs typeface="Times New Roman" panose="02020603050405020304" pitchFamily="18" charset="0"/>
            </a:endParaRPr>
          </a:p>
        </p:txBody>
      </p:sp>
      <p:sp>
        <p:nvSpPr>
          <p:cNvPr id="18" name="Shape 16"/>
          <p:cNvSpPr/>
          <p:nvPr/>
        </p:nvSpPr>
        <p:spPr>
          <a:xfrm>
            <a:off x="6233008" y="3008376"/>
            <a:ext cx="5501488" cy="1572768"/>
          </a:xfrm>
          <a:prstGeom prst="roundRect">
            <a:avLst>
              <a:gd name="adj" fmla="val 4651"/>
            </a:avLst>
          </a:prstGeom>
          <a:solidFill>
            <a:srgbClr val="EEF3FC"/>
          </a:solidFill>
          <a:ln/>
          <a:effectLst>
            <a:outerShdw blurRad="76200" dist="25400" dir="5400000" algn="bl" rotWithShape="0">
              <a:srgbClr val="6B7694">
                <a:alpha val="18000"/>
              </a:srgbClr>
            </a:outerShdw>
          </a:effectLst>
        </p:spPr>
      </p:sp>
      <p:sp>
        <p:nvSpPr>
          <p:cNvPr id="19" name="Shape 17"/>
          <p:cNvSpPr/>
          <p:nvPr/>
        </p:nvSpPr>
        <p:spPr>
          <a:xfrm>
            <a:off x="6434176" y="3209544"/>
            <a:ext cx="384048" cy="384048"/>
          </a:xfrm>
          <a:prstGeom prst="ellipse">
            <a:avLst/>
          </a:prstGeom>
          <a:solidFill>
            <a:srgbClr val="00B4D8"/>
          </a:solidFill>
          <a:ln/>
        </p:spPr>
      </p:sp>
      <p:sp>
        <p:nvSpPr>
          <p:cNvPr id="20" name="Text 18"/>
          <p:cNvSpPr txBox="1"/>
          <p:nvPr/>
        </p:nvSpPr>
        <p:spPr>
          <a:xfrm>
            <a:off x="6434176" y="32095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ea typeface="Cambria" pitchFamily="34" charset="-122"/>
                <a:cs typeface="Times New Roman" panose="02020603050405020304" pitchFamily="18" charset="0"/>
              </a:rPr>
              <a:t>4</a:t>
            </a:r>
            <a:endParaRPr lang="en-US" sz="1300" dirty="0">
              <a:latin typeface="Times New Roman" panose="02020603050405020304" pitchFamily="18" charset="0"/>
              <a:cs typeface="Times New Roman" panose="02020603050405020304" pitchFamily="18" charset="0"/>
            </a:endParaRPr>
          </a:p>
        </p:txBody>
      </p:sp>
      <p:sp>
        <p:nvSpPr>
          <p:cNvPr id="21" name="Text 19"/>
          <p:cNvSpPr txBox="1"/>
          <p:nvPr/>
        </p:nvSpPr>
        <p:spPr>
          <a:xfrm>
            <a:off x="6434176" y="3694176"/>
            <a:ext cx="5099152" cy="704088"/>
          </a:xfrm>
          <a:prstGeom prst="rect">
            <a:avLst/>
          </a:prstGeom>
          <a:noFill/>
          <a:ln/>
        </p:spPr>
        <p:txBody>
          <a:bodyPr wrap="square" lIns="0" tIns="0" rIns="0" bIns="0" rtlCol="0" anchor="t"/>
          <a:lstStyle/>
          <a:p>
            <a:pPr marL="0" indent="0" algn="just">
              <a:lnSpc>
                <a:spcPct val="105000"/>
              </a:lnSpc>
              <a:buNone/>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These studies helped identify suitable network architectures and technologies for implementing our proposed Smart Campus Network.</a:t>
            </a:r>
            <a:endParaRPr lang="en-US" sz="1150" dirty="0">
              <a:latin typeface="Times New Roman" panose="02020603050405020304" pitchFamily="18" charset="0"/>
              <a:cs typeface="Times New Roman" panose="02020603050405020304" pitchFamily="18" charset="0"/>
            </a:endParaRPr>
          </a:p>
        </p:txBody>
      </p:sp>
      <p:sp>
        <p:nvSpPr>
          <p:cNvPr id="22" name="Shape 20"/>
          <p:cNvSpPr/>
          <p:nvPr/>
        </p:nvSpPr>
        <p:spPr>
          <a:xfrm>
            <a:off x="457200" y="4809744"/>
            <a:ext cx="5501488" cy="1572768"/>
          </a:xfrm>
          <a:prstGeom prst="roundRect">
            <a:avLst>
              <a:gd name="adj" fmla="val 4651"/>
            </a:avLst>
          </a:prstGeom>
          <a:solidFill>
            <a:srgbClr val="EEF3FC"/>
          </a:solidFill>
          <a:ln/>
          <a:effectLst>
            <a:outerShdw blurRad="76200" dist="25400" dir="5400000" algn="bl" rotWithShape="0">
              <a:srgbClr val="6B7694">
                <a:alpha val="18000"/>
              </a:srgbClr>
            </a:outerShdw>
          </a:effectLst>
        </p:spPr>
      </p:sp>
      <p:sp>
        <p:nvSpPr>
          <p:cNvPr id="23" name="Shape 21"/>
          <p:cNvSpPr/>
          <p:nvPr/>
        </p:nvSpPr>
        <p:spPr>
          <a:xfrm>
            <a:off x="658368" y="5010912"/>
            <a:ext cx="384048" cy="384048"/>
          </a:xfrm>
          <a:prstGeom prst="ellipse">
            <a:avLst/>
          </a:prstGeom>
          <a:solidFill>
            <a:srgbClr val="00B4D8"/>
          </a:solidFill>
          <a:ln/>
        </p:spPr>
      </p:sp>
      <p:sp>
        <p:nvSpPr>
          <p:cNvPr id="24" name="Text 22"/>
          <p:cNvSpPr txBox="1"/>
          <p:nvPr/>
        </p:nvSpPr>
        <p:spPr>
          <a:xfrm>
            <a:off x="658368" y="50109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ea typeface="Cambria" pitchFamily="34" charset="-122"/>
                <a:cs typeface="Times New Roman" panose="02020603050405020304" pitchFamily="18" charset="0"/>
              </a:rPr>
              <a:t>5</a:t>
            </a:r>
            <a:endParaRPr lang="en-US" sz="1300" dirty="0">
              <a:latin typeface="Times New Roman" panose="02020603050405020304" pitchFamily="18" charset="0"/>
              <a:cs typeface="Times New Roman" panose="02020603050405020304" pitchFamily="18" charset="0"/>
            </a:endParaRPr>
          </a:p>
        </p:txBody>
      </p:sp>
      <p:sp>
        <p:nvSpPr>
          <p:cNvPr id="25" name="Text 23"/>
          <p:cNvSpPr txBox="1"/>
          <p:nvPr/>
        </p:nvSpPr>
        <p:spPr>
          <a:xfrm>
            <a:off x="658368" y="5495544"/>
            <a:ext cx="5099152" cy="704088"/>
          </a:xfrm>
          <a:prstGeom prst="rect">
            <a:avLst/>
          </a:prstGeom>
          <a:noFill/>
          <a:ln/>
        </p:spPr>
        <p:txBody>
          <a:bodyPr wrap="square" lIns="0" tIns="0" rIns="0" bIns="0" rtlCol="0" anchor="t"/>
          <a:lstStyle/>
          <a:p>
            <a:pPr marL="0" indent="0" algn="just">
              <a:lnSpc>
                <a:spcPct val="105000"/>
              </a:lnSpc>
              <a:buNone/>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Cisco Packet Tracer is widely used as a simulation tool to design, configure, test, and troubleshoot network infrastructure before real-world deployment.</a:t>
            </a:r>
            <a:endParaRPr lang="en-US" sz="1150" dirty="0">
              <a:latin typeface="Times New Roman" panose="02020603050405020304" pitchFamily="18" charset="0"/>
              <a:cs typeface="Times New Roman" panose="02020603050405020304" pitchFamily="18" charset="0"/>
            </a:endParaRPr>
          </a:p>
        </p:txBody>
      </p:sp>
      <p:sp>
        <p:nvSpPr>
          <p:cNvPr id="26" name="Text 24"/>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Times New Roman" panose="02020603050405020304" pitchFamily="18" charset="0"/>
                <a:ea typeface="Calibri" pitchFamily="34" charset="-122"/>
                <a:cs typeface="Times New Roman" panose="02020603050405020304" pitchFamily="18" charset="0"/>
              </a:rPr>
              <a:t>OUTR CAMPUS NETWORK  |  CISCO PACKET TRACER</a:t>
            </a:r>
            <a:endParaRPr lang="en-US" sz="800" dirty="0">
              <a:latin typeface="Times New Roman" panose="02020603050405020304" pitchFamily="18" charset="0"/>
              <a:cs typeface="Times New Roman" panose="02020603050405020304" pitchFamily="18" charset="0"/>
            </a:endParaRPr>
          </a:p>
        </p:txBody>
      </p:sp>
      <p:sp>
        <p:nvSpPr>
          <p:cNvPr id="27" name="Text 25"/>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6B7694"/>
                </a:solidFill>
                <a:latin typeface="Times New Roman" panose="02020603050405020304" pitchFamily="18" charset="0"/>
                <a:ea typeface="Calibri" pitchFamily="34" charset="-122"/>
                <a:cs typeface="Times New Roman" panose="02020603050405020304" pitchFamily="18" charset="0"/>
              </a:rPr>
              <a:t>6</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Times New Roman" panose="02020603050405020304" pitchFamily="18" charset="0"/>
                <a:ea typeface="Cambria" pitchFamily="34" charset="-122"/>
                <a:cs typeface="Times New Roman" panose="02020603050405020304" pitchFamily="18" charset="0"/>
              </a:rPr>
              <a:t>Literature Review</a:t>
            </a:r>
            <a:endParaRPr lang="en-US" sz="2800" dirty="0">
              <a:latin typeface="Times New Roman" panose="02020603050405020304" pitchFamily="18" charset="0"/>
              <a:cs typeface="Times New Roman" panose="02020603050405020304" pitchFamily="18" charset="0"/>
            </a:endParaRPr>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Times New Roman" panose="02020603050405020304" pitchFamily="18" charset="0"/>
                <a:ea typeface="Calibri" pitchFamily="34" charset="-122"/>
                <a:cs typeface="Times New Roman" panose="02020603050405020304" pitchFamily="18" charset="0"/>
              </a:rPr>
              <a:t>NETWORK TOPOLOGY</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Text 4"/>
          <p:cNvSpPr txBox="1"/>
          <p:nvPr/>
        </p:nvSpPr>
        <p:spPr>
          <a:xfrm>
            <a:off x="457200" y="1170432"/>
            <a:ext cx="11277295" cy="502920"/>
          </a:xfrm>
          <a:prstGeom prst="rect">
            <a:avLst/>
          </a:prstGeom>
          <a:noFill/>
          <a:ln/>
        </p:spPr>
        <p:txBody>
          <a:bodyPr wrap="square" lIns="0" tIns="0" rIns="0" bIns="0" rtlCol="0" anchor="t"/>
          <a:lstStyle/>
          <a:p>
            <a:pPr marL="0" indent="0" algn="just">
              <a:lnSpc>
                <a:spcPct val="105000"/>
              </a:lnSpc>
              <a:buNone/>
            </a:pPr>
            <a:r>
              <a:rPr lang="en-US" sz="1300" b="1" dirty="0">
                <a:solidFill>
                  <a:srgbClr val="1E2761"/>
                </a:solidFill>
                <a:latin typeface="Times New Roman" panose="02020603050405020304" pitchFamily="18" charset="0"/>
                <a:ea typeface="Calibri" pitchFamily="34" charset="-122"/>
                <a:cs typeface="Times New Roman" panose="02020603050405020304" pitchFamily="18" charset="0"/>
              </a:rPr>
              <a:t>Network Topology  </a:t>
            </a:r>
            <a:r>
              <a:rPr lang="en-US" sz="1300" dirty="0">
                <a:solidFill>
                  <a:srgbClr val="1B2340"/>
                </a:solidFill>
                <a:latin typeface="Times New Roman" panose="02020603050405020304" pitchFamily="18" charset="0"/>
                <a:ea typeface="Calibri" pitchFamily="34" charset="-122"/>
                <a:cs typeface="Times New Roman" panose="02020603050405020304" pitchFamily="18" charset="0"/>
              </a:rPr>
              <a:t>defines the physical or logical arrangement of computers, network devices, and communication links within a network.</a:t>
            </a:r>
            <a:endParaRPr lang="en-US" sz="1300" dirty="0">
              <a:latin typeface="Times New Roman" panose="02020603050405020304" pitchFamily="18" charset="0"/>
              <a:cs typeface="Times New Roman" panose="02020603050405020304" pitchFamily="18" charset="0"/>
            </a:endParaRPr>
          </a:p>
        </p:txBody>
      </p:sp>
      <p:sp>
        <p:nvSpPr>
          <p:cNvPr id="7" name="Shape 5"/>
          <p:cNvSpPr/>
          <p:nvPr/>
        </p:nvSpPr>
        <p:spPr>
          <a:xfrm>
            <a:off x="457200" y="1874520"/>
            <a:ext cx="3576218" cy="4251960"/>
          </a:xfrm>
          <a:prstGeom prst="roundRect">
            <a:avLst>
              <a:gd name="adj" fmla="val 2046"/>
            </a:avLst>
          </a:prstGeom>
          <a:solidFill>
            <a:srgbClr val="FFFFFF"/>
          </a:solidFill>
          <a:ln/>
          <a:effectLst>
            <a:outerShdw blurRad="76200" dist="25400" dir="5400000" algn="bl" rotWithShape="0">
              <a:srgbClr val="6B7694">
                <a:alpha val="18000"/>
              </a:srgbClr>
            </a:outerShdw>
          </a:effectLst>
        </p:spPr>
      </p:sp>
      <p:sp>
        <p:nvSpPr>
          <p:cNvPr id="8" name="Shape 6"/>
          <p:cNvSpPr/>
          <p:nvPr/>
        </p:nvSpPr>
        <p:spPr>
          <a:xfrm>
            <a:off x="457200" y="1874520"/>
            <a:ext cx="3576218" cy="566928"/>
          </a:xfrm>
          <a:prstGeom prst="roundRect">
            <a:avLst>
              <a:gd name="adj" fmla="val 12903"/>
            </a:avLst>
          </a:prstGeom>
          <a:solidFill>
            <a:srgbClr val="1E2761"/>
          </a:solidFill>
          <a:ln/>
        </p:spPr>
      </p:sp>
      <p:sp>
        <p:nvSpPr>
          <p:cNvPr id="9" name="Shape 7"/>
          <p:cNvSpPr/>
          <p:nvPr/>
        </p:nvSpPr>
        <p:spPr>
          <a:xfrm>
            <a:off x="457200" y="2157984"/>
            <a:ext cx="3576218" cy="283464"/>
          </a:xfrm>
          <a:prstGeom prst="rect">
            <a:avLst/>
          </a:prstGeom>
          <a:solidFill>
            <a:srgbClr val="1E2761"/>
          </a:solidFill>
          <a:ln/>
        </p:spPr>
      </p:sp>
      <p:sp>
        <p:nvSpPr>
          <p:cNvPr id="10" name="Text 8"/>
          <p:cNvSpPr txBox="1"/>
          <p:nvPr/>
        </p:nvSpPr>
        <p:spPr>
          <a:xfrm>
            <a:off x="640080" y="1874520"/>
            <a:ext cx="3210458" cy="56692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1. Point-to-Point</a:t>
            </a:r>
            <a:endParaRPr lang="en-US" sz="1500" dirty="0">
              <a:latin typeface="Times New Roman" panose="02020603050405020304" pitchFamily="18" charset="0"/>
              <a:cs typeface="Times New Roman" panose="02020603050405020304" pitchFamily="18" charset="0"/>
            </a:endParaRPr>
          </a:p>
        </p:txBody>
      </p:sp>
      <p:sp>
        <p:nvSpPr>
          <p:cNvPr id="11" name="Text 9"/>
          <p:cNvSpPr txBox="1"/>
          <p:nvPr/>
        </p:nvSpPr>
        <p:spPr>
          <a:xfrm>
            <a:off x="658368" y="2606040"/>
            <a:ext cx="3173882" cy="1965960"/>
          </a:xfrm>
          <a:prstGeom prst="rect">
            <a:avLst/>
          </a:prstGeom>
          <a:noFill/>
          <a:ln/>
        </p:spPr>
        <p:txBody>
          <a:bodyPr wrap="square" lIns="0" tIns="0" rIns="0" bIns="0" rtlCol="0" anchor="t"/>
          <a:lstStyle/>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Directly connects two devices through a dedicated communication link.</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Provides fast and simple communication.</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Easy to configure and relatively inexpensive.</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Suitable for direct device-to-device connections.</a:t>
            </a:r>
            <a:endParaRPr lang="en-US" sz="1150" dirty="0">
              <a:latin typeface="Times New Roman" panose="02020603050405020304" pitchFamily="18" charset="0"/>
              <a:cs typeface="Times New Roman" panose="02020603050405020304" pitchFamily="18" charset="0"/>
            </a:endParaRPr>
          </a:p>
        </p:txBody>
      </p:sp>
      <p:sp>
        <p:nvSpPr>
          <p:cNvPr id="12" name="Shape 10"/>
          <p:cNvSpPr/>
          <p:nvPr/>
        </p:nvSpPr>
        <p:spPr>
          <a:xfrm>
            <a:off x="685800" y="4663440"/>
            <a:ext cx="3119018" cy="0"/>
          </a:xfrm>
          <a:prstGeom prst="line">
            <a:avLst/>
          </a:prstGeom>
          <a:noFill/>
          <a:ln w="12700">
            <a:solidFill>
              <a:srgbClr val="ECEFF7"/>
            </a:solidFill>
            <a:prstDash val="solid"/>
          </a:ln>
        </p:spPr>
      </p:sp>
      <p:sp>
        <p:nvSpPr>
          <p:cNvPr id="13" name="Shape 11"/>
          <p:cNvSpPr/>
          <p:nvPr/>
        </p:nvSpPr>
        <p:spPr>
          <a:xfrm>
            <a:off x="1518892" y="5372100"/>
            <a:ext cx="1452835" cy="0"/>
          </a:xfrm>
          <a:prstGeom prst="line">
            <a:avLst/>
          </a:prstGeom>
          <a:noFill/>
          <a:ln w="22225">
            <a:solidFill>
              <a:srgbClr val="CADCFC"/>
            </a:solidFill>
            <a:prstDash val="solid"/>
          </a:ln>
        </p:spPr>
      </p:sp>
      <p:sp>
        <p:nvSpPr>
          <p:cNvPr id="14" name="Shape 12"/>
          <p:cNvSpPr/>
          <p:nvPr/>
        </p:nvSpPr>
        <p:spPr>
          <a:xfrm>
            <a:off x="1363444" y="5216652"/>
            <a:ext cx="310896" cy="310896"/>
          </a:xfrm>
          <a:prstGeom prst="ellipse">
            <a:avLst/>
          </a:prstGeom>
          <a:solidFill>
            <a:srgbClr val="1E2761"/>
          </a:solidFill>
          <a:ln w="19050">
            <a:solidFill>
              <a:srgbClr val="FFFFFF"/>
            </a:solidFill>
            <a:prstDash val="solid"/>
          </a:ln>
        </p:spPr>
      </p:sp>
      <p:sp>
        <p:nvSpPr>
          <p:cNvPr id="15" name="Shape 13"/>
          <p:cNvSpPr/>
          <p:nvPr/>
        </p:nvSpPr>
        <p:spPr>
          <a:xfrm>
            <a:off x="2816279" y="5216652"/>
            <a:ext cx="310896" cy="310896"/>
          </a:xfrm>
          <a:prstGeom prst="ellipse">
            <a:avLst/>
          </a:prstGeom>
          <a:solidFill>
            <a:srgbClr val="00B4D8"/>
          </a:solidFill>
          <a:ln w="19050">
            <a:solidFill>
              <a:srgbClr val="FFFFFF"/>
            </a:solidFill>
            <a:prstDash val="solid"/>
          </a:ln>
        </p:spPr>
      </p:sp>
      <p:sp>
        <p:nvSpPr>
          <p:cNvPr id="16" name="Shape 14"/>
          <p:cNvSpPr/>
          <p:nvPr/>
        </p:nvSpPr>
        <p:spPr>
          <a:xfrm>
            <a:off x="4307738" y="1874520"/>
            <a:ext cx="3576218" cy="4251960"/>
          </a:xfrm>
          <a:prstGeom prst="roundRect">
            <a:avLst>
              <a:gd name="adj" fmla="val 2046"/>
            </a:avLst>
          </a:prstGeom>
          <a:solidFill>
            <a:srgbClr val="FFFFFF"/>
          </a:solidFill>
          <a:ln/>
          <a:effectLst>
            <a:outerShdw blurRad="76200" dist="25400" dir="5400000" algn="bl" rotWithShape="0">
              <a:srgbClr val="6B7694">
                <a:alpha val="18000"/>
              </a:srgbClr>
            </a:outerShdw>
          </a:effectLst>
        </p:spPr>
      </p:sp>
      <p:sp>
        <p:nvSpPr>
          <p:cNvPr id="17" name="Shape 15"/>
          <p:cNvSpPr/>
          <p:nvPr/>
        </p:nvSpPr>
        <p:spPr>
          <a:xfrm>
            <a:off x="4307738" y="1874520"/>
            <a:ext cx="3576218" cy="566928"/>
          </a:xfrm>
          <a:prstGeom prst="roundRect">
            <a:avLst>
              <a:gd name="adj" fmla="val 12903"/>
            </a:avLst>
          </a:prstGeom>
          <a:solidFill>
            <a:srgbClr val="1E2761"/>
          </a:solidFill>
          <a:ln/>
        </p:spPr>
      </p:sp>
      <p:sp>
        <p:nvSpPr>
          <p:cNvPr id="18" name="Shape 16"/>
          <p:cNvSpPr/>
          <p:nvPr/>
        </p:nvSpPr>
        <p:spPr>
          <a:xfrm>
            <a:off x="4307738" y="2157984"/>
            <a:ext cx="3576218" cy="283464"/>
          </a:xfrm>
          <a:prstGeom prst="rect">
            <a:avLst/>
          </a:prstGeom>
          <a:solidFill>
            <a:srgbClr val="1E2761"/>
          </a:solidFill>
          <a:ln/>
        </p:spPr>
      </p:sp>
      <p:sp>
        <p:nvSpPr>
          <p:cNvPr id="19" name="Text 17"/>
          <p:cNvSpPr txBox="1"/>
          <p:nvPr/>
        </p:nvSpPr>
        <p:spPr>
          <a:xfrm>
            <a:off x="4490618" y="1874520"/>
            <a:ext cx="3210458" cy="56692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2. Bus Topology</a:t>
            </a:r>
            <a:endParaRPr lang="en-US" sz="1500" dirty="0">
              <a:latin typeface="Times New Roman" panose="02020603050405020304" pitchFamily="18" charset="0"/>
              <a:cs typeface="Times New Roman" panose="02020603050405020304" pitchFamily="18" charset="0"/>
            </a:endParaRPr>
          </a:p>
        </p:txBody>
      </p:sp>
      <p:sp>
        <p:nvSpPr>
          <p:cNvPr id="20" name="Text 18"/>
          <p:cNvSpPr txBox="1"/>
          <p:nvPr/>
        </p:nvSpPr>
        <p:spPr>
          <a:xfrm>
            <a:off x="4508906" y="2606040"/>
            <a:ext cx="3173882" cy="1965960"/>
          </a:xfrm>
          <a:prstGeom prst="rect">
            <a:avLst/>
          </a:prstGeom>
          <a:noFill/>
          <a:ln/>
        </p:spPr>
        <p:txBody>
          <a:bodyPr wrap="square" lIns="0" tIns="0" rIns="0" bIns="0" rtlCol="0" anchor="t"/>
          <a:lstStyle/>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All devices share a single main communication cable.</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Simple and inexpensive to implement.</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Suitable for small networks.</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Major limitation: failure of the main cable can disrupt the entire network.</a:t>
            </a:r>
            <a:endParaRPr lang="en-US" sz="1150" dirty="0">
              <a:latin typeface="Times New Roman" panose="02020603050405020304" pitchFamily="18" charset="0"/>
              <a:cs typeface="Times New Roman" panose="02020603050405020304" pitchFamily="18" charset="0"/>
            </a:endParaRPr>
          </a:p>
        </p:txBody>
      </p:sp>
      <p:sp>
        <p:nvSpPr>
          <p:cNvPr id="21" name="Shape 19"/>
          <p:cNvSpPr/>
          <p:nvPr/>
        </p:nvSpPr>
        <p:spPr>
          <a:xfrm>
            <a:off x="4536338" y="4663440"/>
            <a:ext cx="3119018" cy="0"/>
          </a:xfrm>
          <a:prstGeom prst="line">
            <a:avLst/>
          </a:prstGeom>
          <a:noFill/>
          <a:ln w="12700">
            <a:solidFill>
              <a:srgbClr val="ECEFF7"/>
            </a:solidFill>
            <a:prstDash val="solid"/>
          </a:ln>
        </p:spPr>
      </p:sp>
      <p:sp>
        <p:nvSpPr>
          <p:cNvPr id="22" name="Shape 20"/>
          <p:cNvSpPr/>
          <p:nvPr/>
        </p:nvSpPr>
        <p:spPr>
          <a:xfrm>
            <a:off x="4841126" y="5520233"/>
            <a:ext cx="2509443" cy="0"/>
          </a:xfrm>
          <a:prstGeom prst="line">
            <a:avLst/>
          </a:prstGeom>
          <a:noFill/>
          <a:ln w="22225">
            <a:solidFill>
              <a:srgbClr val="1E2761"/>
            </a:solidFill>
            <a:prstDash val="solid"/>
          </a:ln>
        </p:spPr>
      </p:sp>
      <p:sp>
        <p:nvSpPr>
          <p:cNvPr id="23" name="Shape 21"/>
          <p:cNvSpPr/>
          <p:nvPr/>
        </p:nvSpPr>
        <p:spPr>
          <a:xfrm flipV="1">
            <a:off x="4841126" y="5026457"/>
            <a:ext cx="0" cy="493776"/>
          </a:xfrm>
          <a:prstGeom prst="line">
            <a:avLst/>
          </a:prstGeom>
          <a:noFill/>
          <a:ln w="22225">
            <a:solidFill>
              <a:srgbClr val="CADCFC"/>
            </a:solidFill>
            <a:prstDash val="solid"/>
          </a:ln>
        </p:spPr>
      </p:sp>
      <p:sp>
        <p:nvSpPr>
          <p:cNvPr id="24" name="Shape 22"/>
          <p:cNvSpPr/>
          <p:nvPr/>
        </p:nvSpPr>
        <p:spPr>
          <a:xfrm>
            <a:off x="4722254" y="4907585"/>
            <a:ext cx="237744" cy="237744"/>
          </a:xfrm>
          <a:prstGeom prst="ellipse">
            <a:avLst/>
          </a:prstGeom>
          <a:solidFill>
            <a:srgbClr val="00B4D8"/>
          </a:solidFill>
          <a:ln w="19050">
            <a:solidFill>
              <a:srgbClr val="FFFFFF"/>
            </a:solidFill>
            <a:prstDash val="solid"/>
          </a:ln>
        </p:spPr>
      </p:sp>
      <p:sp>
        <p:nvSpPr>
          <p:cNvPr id="25" name="Shape 23"/>
          <p:cNvSpPr/>
          <p:nvPr/>
        </p:nvSpPr>
        <p:spPr>
          <a:xfrm flipV="1">
            <a:off x="5677607" y="5026457"/>
            <a:ext cx="0" cy="493776"/>
          </a:xfrm>
          <a:prstGeom prst="line">
            <a:avLst/>
          </a:prstGeom>
          <a:noFill/>
          <a:ln w="22225">
            <a:solidFill>
              <a:srgbClr val="CADCFC"/>
            </a:solidFill>
            <a:prstDash val="solid"/>
          </a:ln>
        </p:spPr>
      </p:sp>
      <p:sp>
        <p:nvSpPr>
          <p:cNvPr id="26" name="Shape 24"/>
          <p:cNvSpPr/>
          <p:nvPr/>
        </p:nvSpPr>
        <p:spPr>
          <a:xfrm>
            <a:off x="5558735" y="4907585"/>
            <a:ext cx="237744" cy="237744"/>
          </a:xfrm>
          <a:prstGeom prst="ellipse">
            <a:avLst/>
          </a:prstGeom>
          <a:solidFill>
            <a:srgbClr val="1E2761"/>
          </a:solidFill>
          <a:ln w="19050">
            <a:solidFill>
              <a:srgbClr val="FFFFFF"/>
            </a:solidFill>
            <a:prstDash val="solid"/>
          </a:ln>
        </p:spPr>
      </p:sp>
      <p:sp>
        <p:nvSpPr>
          <p:cNvPr id="27" name="Shape 25"/>
          <p:cNvSpPr/>
          <p:nvPr/>
        </p:nvSpPr>
        <p:spPr>
          <a:xfrm flipV="1">
            <a:off x="6514088" y="5026457"/>
            <a:ext cx="0" cy="493776"/>
          </a:xfrm>
          <a:prstGeom prst="line">
            <a:avLst/>
          </a:prstGeom>
          <a:noFill/>
          <a:ln w="22225">
            <a:solidFill>
              <a:srgbClr val="CADCFC"/>
            </a:solidFill>
            <a:prstDash val="solid"/>
          </a:ln>
        </p:spPr>
      </p:sp>
      <p:sp>
        <p:nvSpPr>
          <p:cNvPr id="28" name="Shape 26"/>
          <p:cNvSpPr/>
          <p:nvPr/>
        </p:nvSpPr>
        <p:spPr>
          <a:xfrm>
            <a:off x="6395216" y="4907585"/>
            <a:ext cx="237744" cy="237744"/>
          </a:xfrm>
          <a:prstGeom prst="ellipse">
            <a:avLst/>
          </a:prstGeom>
          <a:solidFill>
            <a:srgbClr val="00B4D8"/>
          </a:solidFill>
          <a:ln w="19050">
            <a:solidFill>
              <a:srgbClr val="FFFFFF"/>
            </a:solidFill>
            <a:prstDash val="solid"/>
          </a:ln>
        </p:spPr>
      </p:sp>
      <p:sp>
        <p:nvSpPr>
          <p:cNvPr id="29" name="Shape 27"/>
          <p:cNvSpPr/>
          <p:nvPr/>
        </p:nvSpPr>
        <p:spPr>
          <a:xfrm flipV="1">
            <a:off x="7350569" y="5026457"/>
            <a:ext cx="0" cy="493776"/>
          </a:xfrm>
          <a:prstGeom prst="line">
            <a:avLst/>
          </a:prstGeom>
          <a:noFill/>
          <a:ln w="22225">
            <a:solidFill>
              <a:srgbClr val="CADCFC"/>
            </a:solidFill>
            <a:prstDash val="solid"/>
          </a:ln>
        </p:spPr>
      </p:sp>
      <p:sp>
        <p:nvSpPr>
          <p:cNvPr id="30" name="Shape 28"/>
          <p:cNvSpPr/>
          <p:nvPr/>
        </p:nvSpPr>
        <p:spPr>
          <a:xfrm>
            <a:off x="7231697" y="4907585"/>
            <a:ext cx="237744" cy="237744"/>
          </a:xfrm>
          <a:prstGeom prst="ellipse">
            <a:avLst/>
          </a:prstGeom>
          <a:solidFill>
            <a:srgbClr val="1E2761"/>
          </a:solidFill>
          <a:ln w="19050">
            <a:solidFill>
              <a:srgbClr val="FFFFFF"/>
            </a:solidFill>
            <a:prstDash val="solid"/>
          </a:ln>
        </p:spPr>
      </p:sp>
      <p:sp>
        <p:nvSpPr>
          <p:cNvPr id="31" name="Shape 29"/>
          <p:cNvSpPr/>
          <p:nvPr/>
        </p:nvSpPr>
        <p:spPr>
          <a:xfrm>
            <a:off x="8158277" y="1874520"/>
            <a:ext cx="3576218" cy="4251960"/>
          </a:xfrm>
          <a:prstGeom prst="roundRect">
            <a:avLst>
              <a:gd name="adj" fmla="val 2046"/>
            </a:avLst>
          </a:prstGeom>
          <a:solidFill>
            <a:srgbClr val="FFFFFF"/>
          </a:solidFill>
          <a:ln/>
          <a:effectLst>
            <a:outerShdw blurRad="76200" dist="25400" dir="5400000" algn="bl" rotWithShape="0">
              <a:srgbClr val="6B7694">
                <a:alpha val="18000"/>
              </a:srgbClr>
            </a:outerShdw>
          </a:effectLst>
        </p:spPr>
      </p:sp>
      <p:sp>
        <p:nvSpPr>
          <p:cNvPr id="32" name="Shape 30"/>
          <p:cNvSpPr/>
          <p:nvPr/>
        </p:nvSpPr>
        <p:spPr>
          <a:xfrm>
            <a:off x="8158277" y="1874520"/>
            <a:ext cx="3576218" cy="566928"/>
          </a:xfrm>
          <a:prstGeom prst="roundRect">
            <a:avLst>
              <a:gd name="adj" fmla="val 12903"/>
            </a:avLst>
          </a:prstGeom>
          <a:solidFill>
            <a:srgbClr val="1E2761"/>
          </a:solidFill>
          <a:ln/>
        </p:spPr>
      </p:sp>
      <p:sp>
        <p:nvSpPr>
          <p:cNvPr id="33" name="Shape 31"/>
          <p:cNvSpPr/>
          <p:nvPr/>
        </p:nvSpPr>
        <p:spPr>
          <a:xfrm>
            <a:off x="8158277" y="2157984"/>
            <a:ext cx="3576218" cy="283464"/>
          </a:xfrm>
          <a:prstGeom prst="rect">
            <a:avLst/>
          </a:prstGeom>
          <a:solidFill>
            <a:srgbClr val="1E2761"/>
          </a:solidFill>
          <a:ln/>
        </p:spPr>
      </p:sp>
      <p:sp>
        <p:nvSpPr>
          <p:cNvPr id="34" name="Text 32"/>
          <p:cNvSpPr txBox="1"/>
          <p:nvPr/>
        </p:nvSpPr>
        <p:spPr>
          <a:xfrm>
            <a:off x="8341157" y="1874520"/>
            <a:ext cx="3210458" cy="56692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3. Ring Topology</a:t>
            </a:r>
            <a:endParaRPr lang="en-US" sz="1500" dirty="0">
              <a:latin typeface="Times New Roman" panose="02020603050405020304" pitchFamily="18" charset="0"/>
              <a:cs typeface="Times New Roman" panose="02020603050405020304" pitchFamily="18" charset="0"/>
            </a:endParaRPr>
          </a:p>
        </p:txBody>
      </p:sp>
      <p:sp>
        <p:nvSpPr>
          <p:cNvPr id="35" name="Text 33"/>
          <p:cNvSpPr txBox="1"/>
          <p:nvPr/>
        </p:nvSpPr>
        <p:spPr>
          <a:xfrm>
            <a:off x="8359445" y="2606040"/>
            <a:ext cx="3173882" cy="1965960"/>
          </a:xfrm>
          <a:prstGeom prst="rect">
            <a:avLst/>
          </a:prstGeom>
          <a:noFill/>
          <a:ln/>
        </p:spPr>
        <p:txBody>
          <a:bodyPr wrap="square" lIns="0" tIns="0" rIns="0" bIns="0" rtlCol="0" anchor="t"/>
          <a:lstStyle/>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Devices are connected in a closed-loop / circular arrangement.</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Data travels through connected nodes until it reaches the destination.</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Provides an organized path for data transmission.</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Failure of a link or node can significantly affect network communication.</a:t>
            </a:r>
            <a:endParaRPr lang="en-US" sz="1150" dirty="0">
              <a:latin typeface="Times New Roman" panose="02020603050405020304" pitchFamily="18" charset="0"/>
              <a:cs typeface="Times New Roman" panose="02020603050405020304" pitchFamily="18" charset="0"/>
            </a:endParaRPr>
          </a:p>
        </p:txBody>
      </p:sp>
      <p:sp>
        <p:nvSpPr>
          <p:cNvPr id="36" name="Shape 34"/>
          <p:cNvSpPr/>
          <p:nvPr/>
        </p:nvSpPr>
        <p:spPr>
          <a:xfrm>
            <a:off x="8386877" y="4663440"/>
            <a:ext cx="3119018" cy="0"/>
          </a:xfrm>
          <a:prstGeom prst="line">
            <a:avLst/>
          </a:prstGeom>
          <a:noFill/>
          <a:ln w="12700">
            <a:solidFill>
              <a:srgbClr val="ECEFF7"/>
            </a:solidFill>
            <a:prstDash val="solid"/>
          </a:ln>
        </p:spPr>
      </p:sp>
      <p:sp>
        <p:nvSpPr>
          <p:cNvPr id="37" name="Shape 35"/>
          <p:cNvSpPr/>
          <p:nvPr/>
        </p:nvSpPr>
        <p:spPr>
          <a:xfrm>
            <a:off x="9946386" y="4948733"/>
            <a:ext cx="446128" cy="324131"/>
          </a:xfrm>
          <a:prstGeom prst="line">
            <a:avLst/>
          </a:prstGeom>
          <a:noFill/>
          <a:ln w="22225">
            <a:solidFill>
              <a:srgbClr val="CADCFC"/>
            </a:solidFill>
            <a:prstDash val="solid"/>
          </a:ln>
        </p:spPr>
      </p:sp>
      <p:sp>
        <p:nvSpPr>
          <p:cNvPr id="38" name="Shape 36"/>
          <p:cNvSpPr/>
          <p:nvPr/>
        </p:nvSpPr>
        <p:spPr>
          <a:xfrm flipH="1">
            <a:off x="10222109" y="5272864"/>
            <a:ext cx="170406" cy="524455"/>
          </a:xfrm>
          <a:prstGeom prst="line">
            <a:avLst/>
          </a:prstGeom>
          <a:noFill/>
          <a:ln w="22225">
            <a:solidFill>
              <a:srgbClr val="CADCFC"/>
            </a:solidFill>
            <a:prstDash val="solid"/>
          </a:ln>
        </p:spPr>
      </p:sp>
      <p:sp>
        <p:nvSpPr>
          <p:cNvPr id="39" name="Shape 37"/>
          <p:cNvSpPr/>
          <p:nvPr/>
        </p:nvSpPr>
        <p:spPr>
          <a:xfrm flipH="1">
            <a:off x="9670663" y="5797320"/>
            <a:ext cx="551445" cy="0"/>
          </a:xfrm>
          <a:prstGeom prst="line">
            <a:avLst/>
          </a:prstGeom>
          <a:noFill/>
          <a:ln w="22225">
            <a:solidFill>
              <a:srgbClr val="CADCFC"/>
            </a:solidFill>
            <a:prstDash val="solid"/>
          </a:ln>
        </p:spPr>
      </p:sp>
      <p:sp>
        <p:nvSpPr>
          <p:cNvPr id="40" name="Shape 38"/>
          <p:cNvSpPr/>
          <p:nvPr/>
        </p:nvSpPr>
        <p:spPr>
          <a:xfrm flipH="1" flipV="1">
            <a:off x="9500258" y="5272864"/>
            <a:ext cx="170406" cy="524455"/>
          </a:xfrm>
          <a:prstGeom prst="line">
            <a:avLst/>
          </a:prstGeom>
          <a:noFill/>
          <a:ln w="22225">
            <a:solidFill>
              <a:srgbClr val="CADCFC"/>
            </a:solidFill>
            <a:prstDash val="solid"/>
          </a:ln>
        </p:spPr>
      </p:sp>
      <p:sp>
        <p:nvSpPr>
          <p:cNvPr id="41" name="Shape 39"/>
          <p:cNvSpPr/>
          <p:nvPr/>
        </p:nvSpPr>
        <p:spPr>
          <a:xfrm flipV="1">
            <a:off x="9500258" y="4948733"/>
            <a:ext cx="446128" cy="324131"/>
          </a:xfrm>
          <a:prstGeom prst="line">
            <a:avLst/>
          </a:prstGeom>
          <a:noFill/>
          <a:ln w="22225">
            <a:solidFill>
              <a:srgbClr val="CADCFC"/>
            </a:solidFill>
            <a:prstDash val="solid"/>
          </a:ln>
        </p:spPr>
      </p:sp>
      <p:sp>
        <p:nvSpPr>
          <p:cNvPr id="42" name="Shape 40"/>
          <p:cNvSpPr/>
          <p:nvPr/>
        </p:nvSpPr>
        <p:spPr>
          <a:xfrm>
            <a:off x="9827514" y="4829861"/>
            <a:ext cx="237744" cy="237744"/>
          </a:xfrm>
          <a:prstGeom prst="ellipse">
            <a:avLst/>
          </a:prstGeom>
          <a:solidFill>
            <a:srgbClr val="1E2761"/>
          </a:solidFill>
          <a:ln w="19050">
            <a:solidFill>
              <a:srgbClr val="FFFFFF"/>
            </a:solidFill>
            <a:prstDash val="solid"/>
          </a:ln>
        </p:spPr>
      </p:sp>
      <p:sp>
        <p:nvSpPr>
          <p:cNvPr id="43" name="Shape 41"/>
          <p:cNvSpPr/>
          <p:nvPr/>
        </p:nvSpPr>
        <p:spPr>
          <a:xfrm>
            <a:off x="10273642" y="5153992"/>
            <a:ext cx="237744" cy="237744"/>
          </a:xfrm>
          <a:prstGeom prst="ellipse">
            <a:avLst/>
          </a:prstGeom>
          <a:solidFill>
            <a:srgbClr val="00B4D8"/>
          </a:solidFill>
          <a:ln w="19050">
            <a:solidFill>
              <a:srgbClr val="FFFFFF"/>
            </a:solidFill>
            <a:prstDash val="solid"/>
          </a:ln>
        </p:spPr>
      </p:sp>
      <p:sp>
        <p:nvSpPr>
          <p:cNvPr id="44" name="Shape 42"/>
          <p:cNvSpPr/>
          <p:nvPr/>
        </p:nvSpPr>
        <p:spPr>
          <a:xfrm>
            <a:off x="10103237" y="5678448"/>
            <a:ext cx="237744" cy="237744"/>
          </a:xfrm>
          <a:prstGeom prst="ellipse">
            <a:avLst/>
          </a:prstGeom>
          <a:solidFill>
            <a:srgbClr val="1E2761"/>
          </a:solidFill>
          <a:ln w="19050">
            <a:solidFill>
              <a:srgbClr val="FFFFFF"/>
            </a:solidFill>
            <a:prstDash val="solid"/>
          </a:ln>
        </p:spPr>
      </p:sp>
      <p:sp>
        <p:nvSpPr>
          <p:cNvPr id="45" name="Shape 43"/>
          <p:cNvSpPr/>
          <p:nvPr/>
        </p:nvSpPr>
        <p:spPr>
          <a:xfrm>
            <a:off x="9551791" y="5678448"/>
            <a:ext cx="237744" cy="237744"/>
          </a:xfrm>
          <a:prstGeom prst="ellipse">
            <a:avLst/>
          </a:prstGeom>
          <a:solidFill>
            <a:srgbClr val="00B4D8"/>
          </a:solidFill>
          <a:ln w="19050">
            <a:solidFill>
              <a:srgbClr val="FFFFFF"/>
            </a:solidFill>
            <a:prstDash val="solid"/>
          </a:ln>
        </p:spPr>
      </p:sp>
      <p:sp>
        <p:nvSpPr>
          <p:cNvPr id="46" name="Shape 44"/>
          <p:cNvSpPr/>
          <p:nvPr/>
        </p:nvSpPr>
        <p:spPr>
          <a:xfrm>
            <a:off x="9381386" y="5153992"/>
            <a:ext cx="237744" cy="237744"/>
          </a:xfrm>
          <a:prstGeom prst="ellipse">
            <a:avLst/>
          </a:prstGeom>
          <a:solidFill>
            <a:srgbClr val="1E2761"/>
          </a:solidFill>
          <a:ln w="19050">
            <a:solidFill>
              <a:srgbClr val="FFFFFF"/>
            </a:solidFill>
            <a:prstDash val="solid"/>
          </a:ln>
        </p:spPr>
      </p:sp>
      <p:sp>
        <p:nvSpPr>
          <p:cNvPr id="47" name="Text 45"/>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Times New Roman" panose="02020603050405020304" pitchFamily="18" charset="0"/>
                <a:ea typeface="Calibri" pitchFamily="34" charset="-122"/>
                <a:cs typeface="Times New Roman" panose="02020603050405020304" pitchFamily="18" charset="0"/>
              </a:rPr>
              <a:t>OUTR CAMPUS NETWORK  |  CISCO PACKET TRACER</a:t>
            </a:r>
            <a:endParaRPr lang="en-US" sz="800" dirty="0">
              <a:latin typeface="Times New Roman" panose="02020603050405020304" pitchFamily="18" charset="0"/>
              <a:cs typeface="Times New Roman" panose="02020603050405020304" pitchFamily="18" charset="0"/>
            </a:endParaRPr>
          </a:p>
        </p:txBody>
      </p:sp>
      <p:sp>
        <p:nvSpPr>
          <p:cNvPr id="48" name="Text 46"/>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6B7694"/>
                </a:solidFill>
                <a:latin typeface="Times New Roman" panose="02020603050405020304" pitchFamily="18" charset="0"/>
                <a:ea typeface="Calibri" pitchFamily="34" charset="-122"/>
                <a:cs typeface="Times New Roman" panose="02020603050405020304" pitchFamily="18" charset="0"/>
              </a:rPr>
              <a:t>7</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Times New Roman" panose="02020603050405020304" pitchFamily="18" charset="0"/>
                <a:ea typeface="Cambria" pitchFamily="34" charset="-122"/>
                <a:cs typeface="Times New Roman" panose="02020603050405020304" pitchFamily="18" charset="0"/>
              </a:rPr>
              <a:t>Literature Review</a:t>
            </a:r>
            <a:endParaRPr lang="en-US" sz="2800" dirty="0">
              <a:latin typeface="Times New Roman" panose="02020603050405020304" pitchFamily="18" charset="0"/>
              <a:cs typeface="Times New Roman" panose="02020603050405020304" pitchFamily="18" charset="0"/>
            </a:endParaRPr>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Times New Roman" panose="02020603050405020304" pitchFamily="18" charset="0"/>
                <a:ea typeface="Calibri" pitchFamily="34" charset="-122"/>
                <a:cs typeface="Times New Roman" panose="02020603050405020304" pitchFamily="18" charset="0"/>
              </a:rPr>
              <a:t>NETWORK TOPOLOGY (CONT.)</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Shape 4"/>
          <p:cNvSpPr/>
          <p:nvPr/>
        </p:nvSpPr>
        <p:spPr>
          <a:xfrm>
            <a:off x="457200" y="1371600"/>
            <a:ext cx="5455768" cy="4800600"/>
          </a:xfrm>
          <a:prstGeom prst="roundRect">
            <a:avLst>
              <a:gd name="adj" fmla="val 1524"/>
            </a:avLst>
          </a:prstGeom>
          <a:solidFill>
            <a:srgbClr val="FFFFFF"/>
          </a:solidFill>
          <a:ln/>
          <a:effectLst>
            <a:outerShdw blurRad="76200" dist="25400" dir="5400000" algn="bl" rotWithShape="0">
              <a:srgbClr val="6B7694">
                <a:alpha val="18000"/>
              </a:srgbClr>
            </a:outerShdw>
          </a:effectLst>
        </p:spPr>
      </p:sp>
      <p:sp>
        <p:nvSpPr>
          <p:cNvPr id="9" name="Text 7"/>
          <p:cNvSpPr txBox="1"/>
          <p:nvPr/>
        </p:nvSpPr>
        <p:spPr>
          <a:xfrm>
            <a:off x="1165860" y="1166596"/>
            <a:ext cx="4998568" cy="685800"/>
          </a:xfrm>
          <a:prstGeom prst="rect">
            <a:avLst/>
          </a:prstGeom>
          <a:noFill/>
          <a:ln/>
        </p:spPr>
        <p:txBody>
          <a:bodyPr wrap="square" lIns="0" tIns="0" rIns="0" bIns="0" rtlCol="0" anchor="ctr"/>
          <a:lstStyle/>
          <a:p>
            <a:pPr marL="0" indent="0">
              <a:buNone/>
            </a:pPr>
            <a:endParaRPr lang="en-US" sz="1800" dirty="0">
              <a:latin typeface="Times New Roman" panose="02020603050405020304" pitchFamily="18" charset="0"/>
              <a:cs typeface="Times New Roman" panose="02020603050405020304" pitchFamily="18" charset="0"/>
            </a:endParaRPr>
          </a:p>
        </p:txBody>
      </p:sp>
      <p:sp>
        <p:nvSpPr>
          <p:cNvPr id="10" name="Text 8"/>
          <p:cNvSpPr txBox="1"/>
          <p:nvPr/>
        </p:nvSpPr>
        <p:spPr>
          <a:xfrm>
            <a:off x="713232" y="2286000"/>
            <a:ext cx="4943704" cy="1965960"/>
          </a:xfrm>
          <a:prstGeom prst="rect">
            <a:avLst/>
          </a:prstGeom>
          <a:noFill/>
          <a:ln/>
        </p:spPr>
        <p:txBody>
          <a:bodyPr wrap="square" lIns="0" tIns="0" rIns="0" bIns="0" rtlCol="0" anchor="t"/>
          <a:lstStyle/>
          <a:p>
            <a:pPr marL="203200" indent="-203200" algn="just">
              <a:lnSpc>
                <a:spcPct val="110000"/>
              </a:lnSpc>
              <a:spcAft>
                <a:spcPts val="1200"/>
              </a:spcAft>
              <a:buSzPct val="100000"/>
              <a:buChar char="▪"/>
            </a:pPr>
            <a:r>
              <a:rPr lang="en-US" sz="1300" dirty="0">
                <a:solidFill>
                  <a:srgbClr val="1B2340"/>
                </a:solidFill>
                <a:latin typeface="Times New Roman" panose="02020603050405020304" pitchFamily="18" charset="0"/>
                <a:ea typeface="Calibri" pitchFamily="34" charset="-122"/>
                <a:cs typeface="Times New Roman" panose="02020603050405020304" pitchFamily="18" charset="0"/>
              </a:rPr>
              <a:t>Devices are connected through multiple communication paths.</a:t>
            </a:r>
            <a:endParaRPr lang="en-US" sz="1300" dirty="0">
              <a:latin typeface="Times New Roman" panose="02020603050405020304" pitchFamily="18" charset="0"/>
              <a:cs typeface="Times New Roman" panose="02020603050405020304" pitchFamily="18" charset="0"/>
            </a:endParaRPr>
          </a:p>
          <a:p>
            <a:pPr marL="203200" indent="-203200" algn="just">
              <a:lnSpc>
                <a:spcPct val="110000"/>
              </a:lnSpc>
              <a:spcAft>
                <a:spcPts val="1200"/>
              </a:spcAft>
              <a:buSzPct val="100000"/>
              <a:buChar char="▪"/>
            </a:pPr>
            <a:r>
              <a:rPr lang="en-US" sz="1300" dirty="0">
                <a:solidFill>
                  <a:srgbClr val="1B2340"/>
                </a:solidFill>
                <a:latin typeface="Times New Roman" panose="02020603050405020304" pitchFamily="18" charset="0"/>
                <a:ea typeface="Calibri" pitchFamily="34" charset="-122"/>
                <a:cs typeface="Times New Roman" panose="02020603050405020304" pitchFamily="18" charset="0"/>
              </a:rPr>
              <a:t>Provides high reliability and fault tolerance.</a:t>
            </a:r>
            <a:endParaRPr lang="en-US" sz="1300" dirty="0">
              <a:latin typeface="Times New Roman" panose="02020603050405020304" pitchFamily="18" charset="0"/>
              <a:cs typeface="Times New Roman" panose="02020603050405020304" pitchFamily="18" charset="0"/>
            </a:endParaRPr>
          </a:p>
          <a:p>
            <a:pPr marL="203200" indent="-203200" algn="just">
              <a:lnSpc>
                <a:spcPct val="110000"/>
              </a:lnSpc>
              <a:spcAft>
                <a:spcPts val="1200"/>
              </a:spcAft>
              <a:buSzPct val="100000"/>
              <a:buChar char="▪"/>
            </a:pPr>
            <a:r>
              <a:rPr lang="en-US" sz="1300" dirty="0">
                <a:solidFill>
                  <a:srgbClr val="1B2340"/>
                </a:solidFill>
                <a:latin typeface="Times New Roman" panose="02020603050405020304" pitchFamily="18" charset="0"/>
                <a:ea typeface="Calibri" pitchFamily="34" charset="-122"/>
                <a:cs typeface="Times New Roman" panose="02020603050405020304" pitchFamily="18" charset="0"/>
              </a:rPr>
              <a:t>If one link fails, data can use an alternative path.</a:t>
            </a:r>
            <a:endParaRPr lang="en-US" sz="1300" dirty="0">
              <a:latin typeface="Times New Roman" panose="02020603050405020304" pitchFamily="18" charset="0"/>
              <a:cs typeface="Times New Roman" panose="02020603050405020304" pitchFamily="18" charset="0"/>
            </a:endParaRPr>
          </a:p>
          <a:p>
            <a:pPr marL="203200" indent="-203200" algn="just">
              <a:lnSpc>
                <a:spcPct val="110000"/>
              </a:lnSpc>
              <a:spcAft>
                <a:spcPts val="1200"/>
              </a:spcAft>
              <a:buSzPct val="100000"/>
              <a:buChar char="▪"/>
            </a:pPr>
            <a:r>
              <a:rPr lang="en-US" sz="1300" dirty="0">
                <a:solidFill>
                  <a:srgbClr val="1B2340"/>
                </a:solidFill>
                <a:latin typeface="Times New Roman" panose="02020603050405020304" pitchFamily="18" charset="0"/>
                <a:ea typeface="Calibri" pitchFamily="34" charset="-122"/>
                <a:cs typeface="Times New Roman" panose="02020603050405020304" pitchFamily="18" charset="0"/>
              </a:rPr>
              <a:t>Major limitation: high cost due to additional cables, ports, and network interfaces.</a:t>
            </a:r>
            <a:endParaRPr lang="en-US" sz="1300" dirty="0">
              <a:latin typeface="Times New Roman" panose="02020603050405020304" pitchFamily="18" charset="0"/>
              <a:cs typeface="Times New Roman" panose="02020603050405020304" pitchFamily="18" charset="0"/>
            </a:endParaRPr>
          </a:p>
        </p:txBody>
      </p:sp>
      <p:sp>
        <p:nvSpPr>
          <p:cNvPr id="11" name="Shape 9"/>
          <p:cNvSpPr/>
          <p:nvPr/>
        </p:nvSpPr>
        <p:spPr>
          <a:xfrm>
            <a:off x="731520" y="4389120"/>
            <a:ext cx="4907128" cy="0"/>
          </a:xfrm>
          <a:prstGeom prst="line">
            <a:avLst/>
          </a:prstGeom>
          <a:noFill/>
          <a:ln w="12700">
            <a:solidFill>
              <a:srgbClr val="ECEFF7"/>
            </a:solidFill>
            <a:prstDash val="solid"/>
          </a:ln>
        </p:spPr>
      </p:sp>
      <p:sp>
        <p:nvSpPr>
          <p:cNvPr id="12" name="Shape 10"/>
          <p:cNvSpPr/>
          <p:nvPr/>
        </p:nvSpPr>
        <p:spPr>
          <a:xfrm>
            <a:off x="3185084" y="4707331"/>
            <a:ext cx="545268" cy="396160"/>
          </a:xfrm>
          <a:prstGeom prst="line">
            <a:avLst/>
          </a:prstGeom>
          <a:noFill/>
          <a:ln w="22225">
            <a:solidFill>
              <a:srgbClr val="CADCFC"/>
            </a:solidFill>
            <a:prstDash val="solid"/>
          </a:ln>
        </p:spPr>
      </p:sp>
      <p:sp>
        <p:nvSpPr>
          <p:cNvPr id="13" name="Shape 11"/>
          <p:cNvSpPr/>
          <p:nvPr/>
        </p:nvSpPr>
        <p:spPr>
          <a:xfrm>
            <a:off x="3185084" y="4707331"/>
            <a:ext cx="336994" cy="1037162"/>
          </a:xfrm>
          <a:prstGeom prst="line">
            <a:avLst/>
          </a:prstGeom>
          <a:noFill/>
          <a:ln w="22225">
            <a:solidFill>
              <a:srgbClr val="CADCFC"/>
            </a:solidFill>
            <a:prstDash val="solid"/>
          </a:ln>
        </p:spPr>
      </p:sp>
      <p:sp>
        <p:nvSpPr>
          <p:cNvPr id="14" name="Shape 12"/>
          <p:cNvSpPr/>
          <p:nvPr/>
        </p:nvSpPr>
        <p:spPr>
          <a:xfrm flipH="1">
            <a:off x="2848090" y="4707331"/>
            <a:ext cx="336994" cy="1037162"/>
          </a:xfrm>
          <a:prstGeom prst="line">
            <a:avLst/>
          </a:prstGeom>
          <a:noFill/>
          <a:ln w="22225">
            <a:solidFill>
              <a:srgbClr val="CADCFC"/>
            </a:solidFill>
            <a:prstDash val="solid"/>
          </a:ln>
        </p:spPr>
      </p:sp>
      <p:sp>
        <p:nvSpPr>
          <p:cNvPr id="15" name="Shape 13"/>
          <p:cNvSpPr/>
          <p:nvPr/>
        </p:nvSpPr>
        <p:spPr>
          <a:xfrm flipH="1">
            <a:off x="2639816" y="4707331"/>
            <a:ext cx="545268" cy="396160"/>
          </a:xfrm>
          <a:prstGeom prst="line">
            <a:avLst/>
          </a:prstGeom>
          <a:noFill/>
          <a:ln w="22225">
            <a:solidFill>
              <a:srgbClr val="CADCFC"/>
            </a:solidFill>
            <a:prstDash val="solid"/>
          </a:ln>
        </p:spPr>
      </p:sp>
      <p:sp>
        <p:nvSpPr>
          <p:cNvPr id="16" name="Shape 14"/>
          <p:cNvSpPr/>
          <p:nvPr/>
        </p:nvSpPr>
        <p:spPr>
          <a:xfrm flipH="1">
            <a:off x="3522078" y="5103492"/>
            <a:ext cx="208274" cy="641001"/>
          </a:xfrm>
          <a:prstGeom prst="line">
            <a:avLst/>
          </a:prstGeom>
          <a:noFill/>
          <a:ln w="22225">
            <a:solidFill>
              <a:srgbClr val="CADCFC"/>
            </a:solidFill>
            <a:prstDash val="solid"/>
          </a:ln>
        </p:spPr>
      </p:sp>
      <p:sp>
        <p:nvSpPr>
          <p:cNvPr id="17" name="Shape 15"/>
          <p:cNvSpPr/>
          <p:nvPr/>
        </p:nvSpPr>
        <p:spPr>
          <a:xfrm flipH="1">
            <a:off x="2848090" y="5103492"/>
            <a:ext cx="882262" cy="641001"/>
          </a:xfrm>
          <a:prstGeom prst="line">
            <a:avLst/>
          </a:prstGeom>
          <a:noFill/>
          <a:ln w="22225">
            <a:solidFill>
              <a:srgbClr val="CADCFC"/>
            </a:solidFill>
            <a:prstDash val="solid"/>
          </a:ln>
        </p:spPr>
      </p:sp>
      <p:sp>
        <p:nvSpPr>
          <p:cNvPr id="18" name="Shape 16"/>
          <p:cNvSpPr/>
          <p:nvPr/>
        </p:nvSpPr>
        <p:spPr>
          <a:xfrm flipH="1">
            <a:off x="2639816" y="5103492"/>
            <a:ext cx="1090536" cy="0"/>
          </a:xfrm>
          <a:prstGeom prst="line">
            <a:avLst/>
          </a:prstGeom>
          <a:noFill/>
          <a:ln w="22225">
            <a:solidFill>
              <a:srgbClr val="CADCFC"/>
            </a:solidFill>
            <a:prstDash val="solid"/>
          </a:ln>
        </p:spPr>
      </p:sp>
      <p:sp>
        <p:nvSpPr>
          <p:cNvPr id="19" name="Shape 17"/>
          <p:cNvSpPr/>
          <p:nvPr/>
        </p:nvSpPr>
        <p:spPr>
          <a:xfrm flipH="1">
            <a:off x="2848090" y="5744493"/>
            <a:ext cx="673988" cy="0"/>
          </a:xfrm>
          <a:prstGeom prst="line">
            <a:avLst/>
          </a:prstGeom>
          <a:noFill/>
          <a:ln w="22225">
            <a:solidFill>
              <a:srgbClr val="CADCFC"/>
            </a:solidFill>
            <a:prstDash val="solid"/>
          </a:ln>
        </p:spPr>
      </p:sp>
      <p:sp>
        <p:nvSpPr>
          <p:cNvPr id="20" name="Shape 18"/>
          <p:cNvSpPr/>
          <p:nvPr/>
        </p:nvSpPr>
        <p:spPr>
          <a:xfrm flipH="1" flipV="1">
            <a:off x="2639816" y="5103492"/>
            <a:ext cx="882262" cy="641001"/>
          </a:xfrm>
          <a:prstGeom prst="line">
            <a:avLst/>
          </a:prstGeom>
          <a:noFill/>
          <a:ln w="22225">
            <a:solidFill>
              <a:srgbClr val="CADCFC"/>
            </a:solidFill>
            <a:prstDash val="solid"/>
          </a:ln>
        </p:spPr>
      </p:sp>
      <p:sp>
        <p:nvSpPr>
          <p:cNvPr id="21" name="Shape 19"/>
          <p:cNvSpPr/>
          <p:nvPr/>
        </p:nvSpPr>
        <p:spPr>
          <a:xfrm flipH="1" flipV="1">
            <a:off x="2639816" y="5103492"/>
            <a:ext cx="208274" cy="641001"/>
          </a:xfrm>
          <a:prstGeom prst="line">
            <a:avLst/>
          </a:prstGeom>
          <a:noFill/>
          <a:ln w="22225">
            <a:solidFill>
              <a:srgbClr val="CADCFC"/>
            </a:solidFill>
            <a:prstDash val="solid"/>
          </a:ln>
        </p:spPr>
      </p:sp>
      <p:sp>
        <p:nvSpPr>
          <p:cNvPr id="22" name="Shape 20"/>
          <p:cNvSpPr/>
          <p:nvPr/>
        </p:nvSpPr>
        <p:spPr>
          <a:xfrm>
            <a:off x="3066212" y="4588459"/>
            <a:ext cx="237744" cy="237744"/>
          </a:xfrm>
          <a:prstGeom prst="ellipse">
            <a:avLst/>
          </a:prstGeom>
          <a:solidFill>
            <a:srgbClr val="0091AD"/>
          </a:solidFill>
          <a:ln w="19050">
            <a:solidFill>
              <a:srgbClr val="FFFFFF"/>
            </a:solidFill>
            <a:prstDash val="solid"/>
          </a:ln>
        </p:spPr>
      </p:sp>
      <p:sp>
        <p:nvSpPr>
          <p:cNvPr id="23" name="Shape 21"/>
          <p:cNvSpPr/>
          <p:nvPr/>
        </p:nvSpPr>
        <p:spPr>
          <a:xfrm>
            <a:off x="3611480" y="4984620"/>
            <a:ext cx="237744" cy="237744"/>
          </a:xfrm>
          <a:prstGeom prst="ellipse">
            <a:avLst/>
          </a:prstGeom>
          <a:solidFill>
            <a:srgbClr val="1E2761"/>
          </a:solidFill>
          <a:ln w="19050">
            <a:solidFill>
              <a:srgbClr val="FFFFFF"/>
            </a:solidFill>
            <a:prstDash val="solid"/>
          </a:ln>
        </p:spPr>
      </p:sp>
      <p:sp>
        <p:nvSpPr>
          <p:cNvPr id="24" name="Shape 22"/>
          <p:cNvSpPr/>
          <p:nvPr/>
        </p:nvSpPr>
        <p:spPr>
          <a:xfrm>
            <a:off x="3403206" y="5625621"/>
            <a:ext cx="237744" cy="237744"/>
          </a:xfrm>
          <a:prstGeom prst="ellipse">
            <a:avLst/>
          </a:prstGeom>
          <a:solidFill>
            <a:srgbClr val="0091AD"/>
          </a:solidFill>
          <a:ln w="19050">
            <a:solidFill>
              <a:srgbClr val="FFFFFF"/>
            </a:solidFill>
            <a:prstDash val="solid"/>
          </a:ln>
        </p:spPr>
      </p:sp>
      <p:sp>
        <p:nvSpPr>
          <p:cNvPr id="25" name="Shape 23"/>
          <p:cNvSpPr/>
          <p:nvPr/>
        </p:nvSpPr>
        <p:spPr>
          <a:xfrm>
            <a:off x="2729218" y="5625621"/>
            <a:ext cx="237744" cy="237744"/>
          </a:xfrm>
          <a:prstGeom prst="ellipse">
            <a:avLst/>
          </a:prstGeom>
          <a:solidFill>
            <a:srgbClr val="1E2761"/>
          </a:solidFill>
          <a:ln w="19050">
            <a:solidFill>
              <a:srgbClr val="FFFFFF"/>
            </a:solidFill>
            <a:prstDash val="solid"/>
          </a:ln>
        </p:spPr>
      </p:sp>
      <p:sp>
        <p:nvSpPr>
          <p:cNvPr id="26" name="Shape 24"/>
          <p:cNvSpPr/>
          <p:nvPr/>
        </p:nvSpPr>
        <p:spPr>
          <a:xfrm>
            <a:off x="2520944" y="4984620"/>
            <a:ext cx="237744" cy="237744"/>
          </a:xfrm>
          <a:prstGeom prst="ellipse">
            <a:avLst/>
          </a:prstGeom>
          <a:solidFill>
            <a:srgbClr val="0091AD"/>
          </a:solidFill>
          <a:ln w="19050">
            <a:solidFill>
              <a:srgbClr val="FFFFFF"/>
            </a:solidFill>
            <a:prstDash val="solid"/>
          </a:ln>
        </p:spPr>
      </p:sp>
      <p:sp>
        <p:nvSpPr>
          <p:cNvPr id="27" name="Shape 25"/>
          <p:cNvSpPr/>
          <p:nvPr/>
        </p:nvSpPr>
        <p:spPr>
          <a:xfrm>
            <a:off x="6278728" y="1371600"/>
            <a:ext cx="5455768" cy="4800600"/>
          </a:xfrm>
          <a:prstGeom prst="roundRect">
            <a:avLst>
              <a:gd name="adj" fmla="val 1524"/>
            </a:avLst>
          </a:prstGeom>
          <a:solidFill>
            <a:srgbClr val="FFFFFF"/>
          </a:solidFill>
          <a:ln/>
          <a:effectLst>
            <a:outerShdw blurRad="76200" dist="25400" dir="5400000" algn="bl" rotWithShape="0">
              <a:srgbClr val="6B7694">
                <a:alpha val="18000"/>
              </a:srgbClr>
            </a:outerShdw>
          </a:effectLst>
        </p:spPr>
      </p:sp>
      <p:sp>
        <p:nvSpPr>
          <p:cNvPr id="28" name="Shape 26"/>
          <p:cNvSpPr/>
          <p:nvPr/>
        </p:nvSpPr>
        <p:spPr>
          <a:xfrm>
            <a:off x="6278728" y="1316556"/>
            <a:ext cx="5455768" cy="685800"/>
          </a:xfrm>
          <a:prstGeom prst="roundRect">
            <a:avLst>
              <a:gd name="adj" fmla="val 10667"/>
            </a:avLst>
          </a:prstGeom>
          <a:solidFill>
            <a:srgbClr val="1E2761"/>
          </a:solidFill>
          <a:ln/>
        </p:spPr>
      </p:sp>
      <p:sp>
        <p:nvSpPr>
          <p:cNvPr id="29" name="Shape 27"/>
          <p:cNvSpPr/>
          <p:nvPr/>
        </p:nvSpPr>
        <p:spPr>
          <a:xfrm>
            <a:off x="6278728" y="1719072"/>
            <a:ext cx="5455768" cy="338328"/>
          </a:xfrm>
          <a:prstGeom prst="rect">
            <a:avLst/>
          </a:prstGeom>
          <a:solidFill>
            <a:srgbClr val="1E2761"/>
          </a:solidFill>
          <a:ln/>
        </p:spPr>
      </p:sp>
      <p:sp>
        <p:nvSpPr>
          <p:cNvPr id="30" name="Text 28"/>
          <p:cNvSpPr txBox="1"/>
          <p:nvPr/>
        </p:nvSpPr>
        <p:spPr>
          <a:xfrm>
            <a:off x="6497708" y="1389889"/>
            <a:ext cx="4998568" cy="685800"/>
          </a:xfrm>
          <a:prstGeom prst="rect">
            <a:avLst/>
          </a:prstGeom>
          <a:noFill/>
          <a:ln/>
        </p:spPr>
        <p:txBody>
          <a:bodyPr wrap="square" lIns="0" tIns="0" rIns="0" bIns="0" rtlCol="0" anchor="ctr"/>
          <a:lstStyle/>
          <a:p>
            <a:pPr marL="0" indent="0">
              <a:buNone/>
            </a:pP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5. Star Topology</a:t>
            </a:r>
            <a:endParaRPr lang="en-US" sz="1800" dirty="0">
              <a:latin typeface="Times New Roman" panose="02020603050405020304" pitchFamily="18" charset="0"/>
              <a:cs typeface="Times New Roman" panose="02020603050405020304" pitchFamily="18" charset="0"/>
            </a:endParaRPr>
          </a:p>
        </p:txBody>
      </p:sp>
      <p:sp>
        <p:nvSpPr>
          <p:cNvPr id="31" name="Text 29"/>
          <p:cNvSpPr txBox="1"/>
          <p:nvPr/>
        </p:nvSpPr>
        <p:spPr>
          <a:xfrm>
            <a:off x="6534760" y="2286000"/>
            <a:ext cx="4943704" cy="1965960"/>
          </a:xfrm>
          <a:prstGeom prst="rect">
            <a:avLst/>
          </a:prstGeom>
          <a:noFill/>
          <a:ln/>
        </p:spPr>
        <p:txBody>
          <a:bodyPr wrap="square" lIns="0" tIns="0" rIns="0" bIns="0" rtlCol="0" anchor="t"/>
          <a:lstStyle/>
          <a:p>
            <a:pPr marL="203200" indent="-203200" algn="just">
              <a:lnSpc>
                <a:spcPct val="110000"/>
              </a:lnSpc>
              <a:spcAft>
                <a:spcPts val="1200"/>
              </a:spcAft>
              <a:buSzPct val="100000"/>
              <a:buChar char="▪"/>
            </a:pPr>
            <a:r>
              <a:rPr lang="en-US" sz="1300" dirty="0">
                <a:solidFill>
                  <a:srgbClr val="1B2340"/>
                </a:solidFill>
                <a:latin typeface="Times New Roman" panose="02020603050405020304" pitchFamily="18" charset="0"/>
                <a:ea typeface="Calibri" pitchFamily="34" charset="-122"/>
                <a:cs typeface="Times New Roman" panose="02020603050405020304" pitchFamily="18" charset="0"/>
              </a:rPr>
              <a:t>Each device is connected to a central switch, hub, or router.</a:t>
            </a:r>
            <a:endParaRPr lang="en-US" sz="1300" dirty="0">
              <a:latin typeface="Times New Roman" panose="02020603050405020304" pitchFamily="18" charset="0"/>
              <a:cs typeface="Times New Roman" panose="02020603050405020304" pitchFamily="18" charset="0"/>
            </a:endParaRPr>
          </a:p>
          <a:p>
            <a:pPr marL="203200" indent="-203200" algn="just">
              <a:lnSpc>
                <a:spcPct val="110000"/>
              </a:lnSpc>
              <a:spcAft>
                <a:spcPts val="1200"/>
              </a:spcAft>
              <a:buSzPct val="100000"/>
              <a:buChar char="▪"/>
            </a:pPr>
            <a:r>
              <a:rPr lang="en-US" sz="1300" dirty="0">
                <a:solidFill>
                  <a:srgbClr val="1B2340"/>
                </a:solidFill>
                <a:latin typeface="Times New Roman" panose="02020603050405020304" pitchFamily="18" charset="0"/>
                <a:ea typeface="Calibri" pitchFamily="34" charset="-122"/>
                <a:cs typeface="Times New Roman" panose="02020603050405020304" pitchFamily="18" charset="0"/>
              </a:rPr>
              <a:t>Easy to install, manage, expand, and troubleshoot.</a:t>
            </a:r>
            <a:endParaRPr lang="en-US" sz="1300" dirty="0">
              <a:latin typeface="Times New Roman" panose="02020603050405020304" pitchFamily="18" charset="0"/>
              <a:cs typeface="Times New Roman" panose="02020603050405020304" pitchFamily="18" charset="0"/>
            </a:endParaRPr>
          </a:p>
          <a:p>
            <a:pPr marL="203200" indent="-203200" algn="just">
              <a:lnSpc>
                <a:spcPct val="110000"/>
              </a:lnSpc>
              <a:spcAft>
                <a:spcPts val="1200"/>
              </a:spcAft>
              <a:buSzPct val="100000"/>
              <a:buChar char="▪"/>
            </a:pPr>
            <a:r>
              <a:rPr lang="en-US" sz="1300" dirty="0">
                <a:solidFill>
                  <a:srgbClr val="1B2340"/>
                </a:solidFill>
                <a:latin typeface="Times New Roman" panose="02020603050405020304" pitchFamily="18" charset="0"/>
                <a:ea typeface="Calibri" pitchFamily="34" charset="-122"/>
                <a:cs typeface="Times New Roman" panose="02020603050405020304" pitchFamily="18" charset="0"/>
              </a:rPr>
              <a:t>Failure of one individual link generally affects only the connected device.</a:t>
            </a:r>
            <a:endParaRPr lang="en-US" sz="1300" dirty="0">
              <a:latin typeface="Times New Roman" panose="02020603050405020304" pitchFamily="18" charset="0"/>
              <a:cs typeface="Times New Roman" panose="02020603050405020304" pitchFamily="18" charset="0"/>
            </a:endParaRPr>
          </a:p>
          <a:p>
            <a:pPr marL="203200" indent="-203200" algn="just">
              <a:lnSpc>
                <a:spcPct val="110000"/>
              </a:lnSpc>
              <a:spcAft>
                <a:spcPts val="1200"/>
              </a:spcAft>
              <a:buSzPct val="100000"/>
              <a:buChar char="▪"/>
            </a:pPr>
            <a:r>
              <a:rPr lang="en-US" sz="1300" dirty="0">
                <a:solidFill>
                  <a:srgbClr val="1B2340"/>
                </a:solidFill>
                <a:latin typeface="Times New Roman" panose="02020603050405020304" pitchFamily="18" charset="0"/>
                <a:ea typeface="Calibri" pitchFamily="34" charset="-122"/>
                <a:cs typeface="Times New Roman" panose="02020603050405020304" pitchFamily="18" charset="0"/>
              </a:rPr>
              <a:t>Major limitation: failure of the central device can affect the entire network.</a:t>
            </a:r>
            <a:endParaRPr lang="en-US" sz="1300" dirty="0">
              <a:latin typeface="Times New Roman" panose="02020603050405020304" pitchFamily="18" charset="0"/>
              <a:cs typeface="Times New Roman" panose="02020603050405020304" pitchFamily="18" charset="0"/>
            </a:endParaRPr>
          </a:p>
        </p:txBody>
      </p:sp>
      <p:sp>
        <p:nvSpPr>
          <p:cNvPr id="32" name="Shape 30"/>
          <p:cNvSpPr/>
          <p:nvPr/>
        </p:nvSpPr>
        <p:spPr>
          <a:xfrm>
            <a:off x="6553048" y="4389120"/>
            <a:ext cx="4907128" cy="0"/>
          </a:xfrm>
          <a:prstGeom prst="line">
            <a:avLst/>
          </a:prstGeom>
          <a:noFill/>
          <a:ln w="12700">
            <a:solidFill>
              <a:srgbClr val="ECEFF7"/>
            </a:solidFill>
            <a:prstDash val="solid"/>
          </a:ln>
        </p:spPr>
      </p:sp>
      <p:sp>
        <p:nvSpPr>
          <p:cNvPr id="33" name="Shape 31"/>
          <p:cNvSpPr/>
          <p:nvPr/>
        </p:nvSpPr>
        <p:spPr>
          <a:xfrm flipV="1">
            <a:off x="9006611" y="4677156"/>
            <a:ext cx="0" cy="603504"/>
          </a:xfrm>
          <a:prstGeom prst="line">
            <a:avLst/>
          </a:prstGeom>
          <a:noFill/>
          <a:ln w="22225">
            <a:solidFill>
              <a:srgbClr val="CADCFC"/>
            </a:solidFill>
            <a:prstDash val="solid"/>
          </a:ln>
        </p:spPr>
      </p:sp>
      <p:sp>
        <p:nvSpPr>
          <p:cNvPr id="34" name="Shape 32"/>
          <p:cNvSpPr/>
          <p:nvPr/>
        </p:nvSpPr>
        <p:spPr>
          <a:xfrm>
            <a:off x="8896883" y="4567428"/>
            <a:ext cx="219456" cy="219456"/>
          </a:xfrm>
          <a:prstGeom prst="ellipse">
            <a:avLst/>
          </a:prstGeom>
          <a:solidFill>
            <a:srgbClr val="1E2761"/>
          </a:solidFill>
          <a:ln w="19050">
            <a:solidFill>
              <a:srgbClr val="FFFFFF"/>
            </a:solidFill>
            <a:prstDash val="solid"/>
          </a:ln>
        </p:spPr>
      </p:sp>
      <p:sp>
        <p:nvSpPr>
          <p:cNvPr id="35" name="Shape 33"/>
          <p:cNvSpPr/>
          <p:nvPr/>
        </p:nvSpPr>
        <p:spPr>
          <a:xfrm flipV="1">
            <a:off x="9006611" y="4978908"/>
            <a:ext cx="522650" cy="301752"/>
          </a:xfrm>
          <a:prstGeom prst="line">
            <a:avLst/>
          </a:prstGeom>
          <a:noFill/>
          <a:ln w="22225">
            <a:solidFill>
              <a:srgbClr val="CADCFC"/>
            </a:solidFill>
            <a:prstDash val="solid"/>
          </a:ln>
        </p:spPr>
      </p:sp>
      <p:sp>
        <p:nvSpPr>
          <p:cNvPr id="36" name="Shape 34"/>
          <p:cNvSpPr/>
          <p:nvPr/>
        </p:nvSpPr>
        <p:spPr>
          <a:xfrm>
            <a:off x="9419533" y="4869180"/>
            <a:ext cx="219456" cy="219456"/>
          </a:xfrm>
          <a:prstGeom prst="ellipse">
            <a:avLst/>
          </a:prstGeom>
          <a:solidFill>
            <a:srgbClr val="1E2761"/>
          </a:solidFill>
          <a:ln w="19050">
            <a:solidFill>
              <a:srgbClr val="FFFFFF"/>
            </a:solidFill>
            <a:prstDash val="solid"/>
          </a:ln>
        </p:spPr>
      </p:sp>
      <p:sp>
        <p:nvSpPr>
          <p:cNvPr id="37" name="Shape 35"/>
          <p:cNvSpPr/>
          <p:nvPr/>
        </p:nvSpPr>
        <p:spPr>
          <a:xfrm>
            <a:off x="9006611" y="5280660"/>
            <a:ext cx="522650" cy="301752"/>
          </a:xfrm>
          <a:prstGeom prst="line">
            <a:avLst/>
          </a:prstGeom>
          <a:noFill/>
          <a:ln w="22225">
            <a:solidFill>
              <a:srgbClr val="CADCFC"/>
            </a:solidFill>
            <a:prstDash val="solid"/>
          </a:ln>
        </p:spPr>
      </p:sp>
      <p:sp>
        <p:nvSpPr>
          <p:cNvPr id="38" name="Shape 36"/>
          <p:cNvSpPr/>
          <p:nvPr/>
        </p:nvSpPr>
        <p:spPr>
          <a:xfrm>
            <a:off x="9419533" y="5472684"/>
            <a:ext cx="219456" cy="219456"/>
          </a:xfrm>
          <a:prstGeom prst="ellipse">
            <a:avLst/>
          </a:prstGeom>
          <a:solidFill>
            <a:srgbClr val="1E2761"/>
          </a:solidFill>
          <a:ln w="19050">
            <a:solidFill>
              <a:srgbClr val="FFFFFF"/>
            </a:solidFill>
            <a:prstDash val="solid"/>
          </a:ln>
        </p:spPr>
      </p:sp>
      <p:sp>
        <p:nvSpPr>
          <p:cNvPr id="39" name="Shape 37"/>
          <p:cNvSpPr/>
          <p:nvPr/>
        </p:nvSpPr>
        <p:spPr>
          <a:xfrm>
            <a:off x="9006611" y="5280660"/>
            <a:ext cx="0" cy="603504"/>
          </a:xfrm>
          <a:prstGeom prst="line">
            <a:avLst/>
          </a:prstGeom>
          <a:noFill/>
          <a:ln w="22225">
            <a:solidFill>
              <a:srgbClr val="CADCFC"/>
            </a:solidFill>
            <a:prstDash val="solid"/>
          </a:ln>
        </p:spPr>
      </p:sp>
      <p:sp>
        <p:nvSpPr>
          <p:cNvPr id="40" name="Shape 38"/>
          <p:cNvSpPr/>
          <p:nvPr/>
        </p:nvSpPr>
        <p:spPr>
          <a:xfrm>
            <a:off x="8896883" y="5774436"/>
            <a:ext cx="219456" cy="219456"/>
          </a:xfrm>
          <a:prstGeom prst="ellipse">
            <a:avLst/>
          </a:prstGeom>
          <a:solidFill>
            <a:srgbClr val="1E2761"/>
          </a:solidFill>
          <a:ln w="19050">
            <a:solidFill>
              <a:srgbClr val="FFFFFF"/>
            </a:solidFill>
            <a:prstDash val="solid"/>
          </a:ln>
        </p:spPr>
      </p:sp>
      <p:sp>
        <p:nvSpPr>
          <p:cNvPr id="41" name="Shape 39"/>
          <p:cNvSpPr/>
          <p:nvPr/>
        </p:nvSpPr>
        <p:spPr>
          <a:xfrm flipH="1">
            <a:off x="8483962" y="5280660"/>
            <a:ext cx="522650" cy="301752"/>
          </a:xfrm>
          <a:prstGeom prst="line">
            <a:avLst/>
          </a:prstGeom>
          <a:noFill/>
          <a:ln w="22225">
            <a:solidFill>
              <a:srgbClr val="CADCFC"/>
            </a:solidFill>
            <a:prstDash val="solid"/>
          </a:ln>
        </p:spPr>
      </p:sp>
      <p:sp>
        <p:nvSpPr>
          <p:cNvPr id="42" name="Shape 40"/>
          <p:cNvSpPr/>
          <p:nvPr/>
        </p:nvSpPr>
        <p:spPr>
          <a:xfrm>
            <a:off x="8374234" y="5472684"/>
            <a:ext cx="219456" cy="219456"/>
          </a:xfrm>
          <a:prstGeom prst="ellipse">
            <a:avLst/>
          </a:prstGeom>
          <a:solidFill>
            <a:srgbClr val="1E2761"/>
          </a:solidFill>
          <a:ln w="19050">
            <a:solidFill>
              <a:srgbClr val="FFFFFF"/>
            </a:solidFill>
            <a:prstDash val="solid"/>
          </a:ln>
        </p:spPr>
      </p:sp>
      <p:sp>
        <p:nvSpPr>
          <p:cNvPr id="43" name="Shape 41"/>
          <p:cNvSpPr/>
          <p:nvPr/>
        </p:nvSpPr>
        <p:spPr>
          <a:xfrm flipH="1" flipV="1">
            <a:off x="8483962" y="4978908"/>
            <a:ext cx="522650" cy="301752"/>
          </a:xfrm>
          <a:prstGeom prst="line">
            <a:avLst/>
          </a:prstGeom>
          <a:noFill/>
          <a:ln w="22225">
            <a:solidFill>
              <a:srgbClr val="CADCFC"/>
            </a:solidFill>
            <a:prstDash val="solid"/>
          </a:ln>
        </p:spPr>
      </p:sp>
      <p:sp>
        <p:nvSpPr>
          <p:cNvPr id="44" name="Shape 42"/>
          <p:cNvSpPr/>
          <p:nvPr/>
        </p:nvSpPr>
        <p:spPr>
          <a:xfrm>
            <a:off x="8374234" y="4869180"/>
            <a:ext cx="219456" cy="219456"/>
          </a:xfrm>
          <a:prstGeom prst="ellipse">
            <a:avLst/>
          </a:prstGeom>
          <a:solidFill>
            <a:srgbClr val="1E2761"/>
          </a:solidFill>
          <a:ln w="19050">
            <a:solidFill>
              <a:srgbClr val="FFFFFF"/>
            </a:solidFill>
            <a:prstDash val="solid"/>
          </a:ln>
        </p:spPr>
      </p:sp>
      <p:sp>
        <p:nvSpPr>
          <p:cNvPr id="45" name="Shape 43"/>
          <p:cNvSpPr/>
          <p:nvPr/>
        </p:nvSpPr>
        <p:spPr>
          <a:xfrm>
            <a:off x="8842019" y="5116068"/>
            <a:ext cx="329184" cy="329184"/>
          </a:xfrm>
          <a:prstGeom prst="ellipse">
            <a:avLst/>
          </a:prstGeom>
          <a:solidFill>
            <a:srgbClr val="00B4D8"/>
          </a:solidFill>
          <a:ln w="19050">
            <a:solidFill>
              <a:srgbClr val="FFFFFF"/>
            </a:solidFill>
            <a:prstDash val="solid"/>
          </a:ln>
        </p:spPr>
      </p:sp>
      <p:sp>
        <p:nvSpPr>
          <p:cNvPr id="46" name="Text 44"/>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Times New Roman" panose="02020603050405020304" pitchFamily="18" charset="0"/>
                <a:ea typeface="Calibri" pitchFamily="34" charset="-122"/>
                <a:cs typeface="Times New Roman" panose="02020603050405020304" pitchFamily="18" charset="0"/>
              </a:rPr>
              <a:t>OUTR CAMPUS NETWORK  |  CISCO PACKET TRACER</a:t>
            </a:r>
            <a:endParaRPr lang="en-US" sz="800" dirty="0">
              <a:latin typeface="Times New Roman" panose="02020603050405020304" pitchFamily="18" charset="0"/>
              <a:cs typeface="Times New Roman" panose="02020603050405020304" pitchFamily="18" charset="0"/>
            </a:endParaRPr>
          </a:p>
        </p:txBody>
      </p:sp>
      <p:sp>
        <p:nvSpPr>
          <p:cNvPr id="47" name="Text 45"/>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6B7694"/>
                </a:solidFill>
                <a:latin typeface="Times New Roman" panose="02020603050405020304" pitchFamily="18" charset="0"/>
                <a:ea typeface="Calibri" pitchFamily="34" charset="-122"/>
                <a:cs typeface="Times New Roman" panose="02020603050405020304" pitchFamily="18" charset="0"/>
              </a:rPr>
              <a:t>8</a:t>
            </a:r>
            <a:endParaRPr lang="en-US" sz="900" dirty="0">
              <a:latin typeface="Times New Roman" panose="02020603050405020304" pitchFamily="18" charset="0"/>
              <a:cs typeface="Times New Roman" panose="02020603050405020304" pitchFamily="18" charset="0"/>
            </a:endParaRPr>
          </a:p>
        </p:txBody>
      </p:sp>
      <p:sp>
        <p:nvSpPr>
          <p:cNvPr id="48" name="Shape 6">
            <a:extLst>
              <a:ext uri="{FF2B5EF4-FFF2-40B4-BE49-F238E27FC236}">
                <a16:creationId xmlns:a16="http://schemas.microsoft.com/office/drawing/2014/main" id="{17321FA2-7846-49F2-A085-6DD7CE4E8751}"/>
              </a:ext>
            </a:extLst>
          </p:cNvPr>
          <p:cNvSpPr/>
          <p:nvPr/>
        </p:nvSpPr>
        <p:spPr>
          <a:xfrm>
            <a:off x="425301" y="1354219"/>
            <a:ext cx="5469126" cy="685796"/>
          </a:xfrm>
          <a:prstGeom prst="roundRect">
            <a:avLst>
              <a:gd name="adj" fmla="val 12903"/>
            </a:avLst>
          </a:prstGeom>
          <a:solidFill>
            <a:srgbClr val="1E2761"/>
          </a:solidFill>
          <a:ln/>
        </p:spPr>
        <p:txBody>
          <a:bodyPr/>
          <a:lstStyle/>
          <a:p>
            <a:pPr marL="0" indent="0">
              <a:buNone/>
            </a:pPr>
            <a:endParaRPr lang="en-US" sz="1800" b="1">
              <a:solidFill>
                <a:srgbClr val="FFFFFF"/>
              </a:solidFill>
              <a:latin typeface="Times New Roman" panose="02020603050405020304" pitchFamily="18" charset="0"/>
              <a:ea typeface="Cambria" pitchFamily="34" charset="-122"/>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sp>
        <p:nvSpPr>
          <p:cNvPr id="49" name="Shape 27">
            <a:extLst>
              <a:ext uri="{FF2B5EF4-FFF2-40B4-BE49-F238E27FC236}">
                <a16:creationId xmlns:a16="http://schemas.microsoft.com/office/drawing/2014/main" id="{62EE5056-D782-44AD-968D-210725BA3B47}"/>
              </a:ext>
            </a:extLst>
          </p:cNvPr>
          <p:cNvSpPr/>
          <p:nvPr/>
        </p:nvSpPr>
        <p:spPr>
          <a:xfrm>
            <a:off x="425301" y="1719072"/>
            <a:ext cx="5469126" cy="320943"/>
          </a:xfrm>
          <a:prstGeom prst="rect">
            <a:avLst/>
          </a:prstGeom>
          <a:solidFill>
            <a:srgbClr val="1E2761"/>
          </a:solidFill>
          <a:ln/>
        </p:spPr>
      </p:sp>
      <p:sp>
        <p:nvSpPr>
          <p:cNvPr id="50" name="Text 28">
            <a:extLst>
              <a:ext uri="{FF2B5EF4-FFF2-40B4-BE49-F238E27FC236}">
                <a16:creationId xmlns:a16="http://schemas.microsoft.com/office/drawing/2014/main" id="{17C4C9DC-BD54-4453-9006-FDA1D33BFB40}"/>
              </a:ext>
            </a:extLst>
          </p:cNvPr>
          <p:cNvSpPr txBox="1"/>
          <p:nvPr/>
        </p:nvSpPr>
        <p:spPr>
          <a:xfrm>
            <a:off x="640080" y="1390249"/>
            <a:ext cx="4998568" cy="685800"/>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mbria" pitchFamily="34" charset="-122"/>
                <a:cs typeface="Times New Roman" panose="02020603050405020304" pitchFamily="18" charset="0"/>
              </a:rPr>
              <a:t>4</a:t>
            </a:r>
            <a:r>
              <a:rPr lang="en-US" sz="1800" b="1">
                <a:solidFill>
                  <a:srgbClr val="FFFFFF"/>
                </a:solidFill>
                <a:latin typeface="Times New Roman" panose="02020603050405020304" pitchFamily="18" charset="0"/>
                <a:ea typeface="Cambria" pitchFamily="34" charset="-122"/>
                <a:cs typeface="Times New Roman" panose="02020603050405020304" pitchFamily="18" charset="0"/>
              </a:rPr>
              <a:t>. </a:t>
            </a:r>
            <a:r>
              <a:rPr lang="en-US" b="1">
                <a:solidFill>
                  <a:srgbClr val="FFFFFF"/>
                </a:solidFill>
                <a:latin typeface="Times New Roman" panose="02020603050405020304" pitchFamily="18" charset="0"/>
                <a:ea typeface="Cambria" pitchFamily="34" charset="-122"/>
                <a:cs typeface="Times New Roman" panose="02020603050405020304" pitchFamily="18" charset="0"/>
              </a:rPr>
              <a:t>Mesh</a:t>
            </a:r>
            <a:r>
              <a:rPr lang="en-US" sz="1800" b="1">
                <a:solidFill>
                  <a:srgbClr val="FFFFFF"/>
                </a:solidFill>
                <a:latin typeface="Times New Roman" panose="02020603050405020304" pitchFamily="18" charset="0"/>
                <a:ea typeface="Cambria" pitchFamily="34" charset="-122"/>
                <a:cs typeface="Times New Roman" panose="02020603050405020304" pitchFamily="18" charset="0"/>
              </a:rPr>
              <a:t> </a:t>
            </a:r>
            <a:r>
              <a:rPr lang="en-US" sz="1800" b="1" dirty="0">
                <a:solidFill>
                  <a:srgbClr val="FFFFFF"/>
                </a:solidFill>
                <a:latin typeface="Times New Roman" panose="02020603050405020304" pitchFamily="18" charset="0"/>
                <a:ea typeface="Cambria" pitchFamily="34" charset="-122"/>
                <a:cs typeface="Times New Roman" panose="02020603050405020304" pitchFamily="18" charset="0"/>
              </a:rPr>
              <a:t>Topology</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Times New Roman" panose="02020603050405020304" pitchFamily="18" charset="0"/>
                <a:ea typeface="Cambria" pitchFamily="34" charset="-122"/>
                <a:cs typeface="Times New Roman" panose="02020603050405020304" pitchFamily="18" charset="0"/>
              </a:rPr>
              <a:t>Literature Review</a:t>
            </a:r>
            <a:endParaRPr lang="en-US" sz="2800" dirty="0">
              <a:latin typeface="Times New Roman" panose="02020603050405020304" pitchFamily="18" charset="0"/>
              <a:cs typeface="Times New Roman" panose="02020603050405020304" pitchFamily="18" charset="0"/>
            </a:endParaRPr>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Times New Roman" panose="02020603050405020304" pitchFamily="18" charset="0"/>
                <a:ea typeface="Calibri" pitchFamily="34" charset="-122"/>
                <a:cs typeface="Times New Roman" panose="02020603050405020304" pitchFamily="18" charset="0"/>
              </a:rPr>
              <a:t>IPv4 ADDRESS SCHEME</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Text 4"/>
          <p:cNvSpPr txBox="1"/>
          <p:nvPr/>
        </p:nvSpPr>
        <p:spPr>
          <a:xfrm>
            <a:off x="457200" y="1170432"/>
            <a:ext cx="11277295" cy="502920"/>
          </a:xfrm>
          <a:prstGeom prst="rect">
            <a:avLst/>
          </a:prstGeom>
          <a:noFill/>
          <a:ln/>
        </p:spPr>
        <p:txBody>
          <a:bodyPr wrap="square" lIns="0" tIns="0" rIns="0" bIns="0" rtlCol="0" anchor="t"/>
          <a:lstStyle/>
          <a:p>
            <a:pPr marL="0" indent="0" algn="just">
              <a:lnSpc>
                <a:spcPct val="105000"/>
              </a:lnSpc>
              <a:buNone/>
            </a:pPr>
            <a:r>
              <a:rPr lang="en-US" sz="1300" b="1" dirty="0">
                <a:solidFill>
                  <a:srgbClr val="1E2761"/>
                </a:solidFill>
                <a:latin typeface="Times New Roman" panose="02020603050405020304" pitchFamily="18" charset="0"/>
                <a:ea typeface="Calibri" pitchFamily="34" charset="-122"/>
                <a:cs typeface="Times New Roman" panose="02020603050405020304" pitchFamily="18" charset="0"/>
              </a:rPr>
              <a:t>IPv4 Address  </a:t>
            </a:r>
            <a:r>
              <a:rPr lang="en-US" sz="1300" dirty="0">
                <a:solidFill>
                  <a:srgbClr val="1B2340"/>
                </a:solidFill>
                <a:latin typeface="Times New Roman" panose="02020603050405020304" pitchFamily="18" charset="0"/>
                <a:ea typeface="Calibri" pitchFamily="34" charset="-122"/>
                <a:cs typeface="Times New Roman" panose="02020603050405020304" pitchFamily="18" charset="0"/>
              </a:rPr>
              <a:t>is a 32-bit address that uniquely and universally defines the connection of a device to the Internet.</a:t>
            </a:r>
            <a:endParaRPr lang="en-US" sz="1300" dirty="0">
              <a:latin typeface="Times New Roman" panose="02020603050405020304" pitchFamily="18" charset="0"/>
              <a:cs typeface="Times New Roman" panose="02020603050405020304" pitchFamily="18" charset="0"/>
            </a:endParaRPr>
          </a:p>
        </p:txBody>
      </p:sp>
      <p:sp>
        <p:nvSpPr>
          <p:cNvPr id="7" name="Shape 5"/>
          <p:cNvSpPr/>
          <p:nvPr/>
        </p:nvSpPr>
        <p:spPr>
          <a:xfrm>
            <a:off x="457200" y="1874520"/>
            <a:ext cx="3576218" cy="4251960"/>
          </a:xfrm>
          <a:prstGeom prst="roundRect">
            <a:avLst>
              <a:gd name="adj" fmla="val 2046"/>
            </a:avLst>
          </a:prstGeom>
          <a:solidFill>
            <a:srgbClr val="FFFFFF"/>
          </a:solidFill>
          <a:ln/>
          <a:effectLst>
            <a:outerShdw blurRad="76200" dist="25400" dir="5400000" algn="bl" rotWithShape="0">
              <a:srgbClr val="6B7694">
                <a:alpha val="18000"/>
              </a:srgbClr>
            </a:outerShdw>
          </a:effectLst>
        </p:spPr>
      </p:sp>
      <p:sp>
        <p:nvSpPr>
          <p:cNvPr id="8" name="Shape 6"/>
          <p:cNvSpPr/>
          <p:nvPr/>
        </p:nvSpPr>
        <p:spPr>
          <a:xfrm>
            <a:off x="457200" y="1874520"/>
            <a:ext cx="3576218" cy="566928"/>
          </a:xfrm>
          <a:prstGeom prst="roundRect">
            <a:avLst>
              <a:gd name="adj" fmla="val 12903"/>
            </a:avLst>
          </a:prstGeom>
          <a:solidFill>
            <a:srgbClr val="1E2761"/>
          </a:solidFill>
          <a:ln/>
        </p:spPr>
      </p:sp>
      <p:sp>
        <p:nvSpPr>
          <p:cNvPr id="9" name="Shape 7"/>
          <p:cNvSpPr/>
          <p:nvPr/>
        </p:nvSpPr>
        <p:spPr>
          <a:xfrm>
            <a:off x="457200" y="2157984"/>
            <a:ext cx="3576218" cy="283464"/>
          </a:xfrm>
          <a:prstGeom prst="rect">
            <a:avLst/>
          </a:prstGeom>
          <a:solidFill>
            <a:srgbClr val="1E2761"/>
          </a:solidFill>
          <a:ln/>
        </p:spPr>
      </p:sp>
      <p:sp>
        <p:nvSpPr>
          <p:cNvPr id="10" name="Text 8"/>
          <p:cNvSpPr txBox="1"/>
          <p:nvPr/>
        </p:nvSpPr>
        <p:spPr>
          <a:xfrm>
            <a:off x="640080" y="1874520"/>
            <a:ext cx="3210458" cy="56692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1. Key Features of IPv4</a:t>
            </a:r>
            <a:endParaRPr lang="en-US" sz="1500" dirty="0">
              <a:latin typeface="Times New Roman" panose="02020603050405020304" pitchFamily="18" charset="0"/>
              <a:cs typeface="Times New Roman" panose="02020603050405020304" pitchFamily="18" charset="0"/>
            </a:endParaRPr>
          </a:p>
        </p:txBody>
      </p:sp>
      <p:sp>
        <p:nvSpPr>
          <p:cNvPr id="11" name="Text 9"/>
          <p:cNvSpPr txBox="1"/>
          <p:nvPr/>
        </p:nvSpPr>
        <p:spPr>
          <a:xfrm>
            <a:off x="658368" y="2606040"/>
            <a:ext cx="3173882" cy="2480000"/>
          </a:xfrm>
          <a:prstGeom prst="rect">
            <a:avLst/>
          </a:prstGeom>
          <a:noFill/>
          <a:ln/>
        </p:spPr>
        <p:txBody>
          <a:bodyPr wrap="square" lIns="0" tIns="0" rIns="0" bIns="0" rtlCol="0" anchor="t"/>
          <a:lstStyle/>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Connectionless protocol: no connection is set up before data is sent.</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Fragments packets where necessary.</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Addressing is done via 32-bit Internet addresses.</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Best-effort delivery: packets are forwarded to the next destination, but delivery is not guaranteed.</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No functions for end-to-end message reliability or flow control.</a:t>
            </a:r>
            <a:endParaRPr lang="en-US" sz="1150" dirty="0">
              <a:latin typeface="Times New Roman" panose="02020603050405020304" pitchFamily="18" charset="0"/>
              <a:cs typeface="Times New Roman" panose="02020603050405020304" pitchFamily="18" charset="0"/>
            </a:endParaRPr>
          </a:p>
        </p:txBody>
      </p:sp>
      <p:sp>
        <p:nvSpPr>
          <p:cNvPr id="12" name="Shape 10"/>
          <p:cNvSpPr/>
          <p:nvPr/>
        </p:nvSpPr>
        <p:spPr>
          <a:xfrm>
            <a:off x="685800" y="5170000"/>
            <a:ext cx="3119018" cy="0"/>
          </a:xfrm>
          <a:prstGeom prst="line">
            <a:avLst/>
          </a:prstGeom>
          <a:noFill/>
          <a:ln w="12700">
            <a:solidFill>
              <a:srgbClr val="ECEFF7"/>
            </a:solidFill>
            <a:prstDash val="solid"/>
          </a:ln>
        </p:spPr>
      </p:sp>
      <p:sp>
        <p:nvSpPr>
          <p:cNvPr id="16" name="Shape 14"/>
          <p:cNvSpPr/>
          <p:nvPr/>
        </p:nvSpPr>
        <p:spPr>
          <a:xfrm>
            <a:off x="4307738" y="1874520"/>
            <a:ext cx="3576218" cy="4251960"/>
          </a:xfrm>
          <a:prstGeom prst="roundRect">
            <a:avLst>
              <a:gd name="adj" fmla="val 2046"/>
            </a:avLst>
          </a:prstGeom>
          <a:solidFill>
            <a:srgbClr val="FFFFFF"/>
          </a:solidFill>
          <a:ln/>
          <a:effectLst>
            <a:outerShdw blurRad="76200" dist="25400" dir="5400000" algn="bl" rotWithShape="0">
              <a:srgbClr val="6B7694">
                <a:alpha val="18000"/>
              </a:srgbClr>
            </a:outerShdw>
          </a:effectLst>
        </p:spPr>
      </p:sp>
      <p:sp>
        <p:nvSpPr>
          <p:cNvPr id="17" name="Shape 15"/>
          <p:cNvSpPr/>
          <p:nvPr/>
        </p:nvSpPr>
        <p:spPr>
          <a:xfrm>
            <a:off x="4307738" y="1874520"/>
            <a:ext cx="3576218" cy="566928"/>
          </a:xfrm>
          <a:prstGeom prst="roundRect">
            <a:avLst>
              <a:gd name="adj" fmla="val 12903"/>
            </a:avLst>
          </a:prstGeom>
          <a:solidFill>
            <a:srgbClr val="1E2761"/>
          </a:solidFill>
          <a:ln/>
        </p:spPr>
      </p:sp>
      <p:sp>
        <p:nvSpPr>
          <p:cNvPr id="18" name="Shape 16"/>
          <p:cNvSpPr/>
          <p:nvPr/>
        </p:nvSpPr>
        <p:spPr>
          <a:xfrm>
            <a:off x="4307738" y="2157984"/>
            <a:ext cx="3576218" cy="283464"/>
          </a:xfrm>
          <a:prstGeom prst="rect">
            <a:avLst/>
          </a:prstGeom>
          <a:solidFill>
            <a:srgbClr val="1E2761"/>
          </a:solidFill>
          <a:ln/>
        </p:spPr>
      </p:sp>
      <p:sp>
        <p:nvSpPr>
          <p:cNvPr id="19" name="Text 17"/>
          <p:cNvSpPr txBox="1"/>
          <p:nvPr/>
        </p:nvSpPr>
        <p:spPr>
          <a:xfrm>
            <a:off x="4490618" y="1874520"/>
            <a:ext cx="3210458" cy="56692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2. Address Structure</a:t>
            </a:r>
            <a:endParaRPr lang="en-US" sz="1500" dirty="0">
              <a:latin typeface="Times New Roman" panose="02020603050405020304" pitchFamily="18" charset="0"/>
              <a:cs typeface="Times New Roman" panose="02020603050405020304" pitchFamily="18" charset="0"/>
            </a:endParaRPr>
          </a:p>
        </p:txBody>
      </p:sp>
      <p:sp>
        <p:nvSpPr>
          <p:cNvPr id="20" name="Text 18"/>
          <p:cNvSpPr txBox="1"/>
          <p:nvPr/>
        </p:nvSpPr>
        <p:spPr>
          <a:xfrm>
            <a:off x="4508906" y="2606040"/>
            <a:ext cx="3173882" cy="2480000"/>
          </a:xfrm>
          <a:prstGeom prst="rect">
            <a:avLst/>
          </a:prstGeom>
          <a:noFill/>
          <a:ln/>
        </p:spPr>
        <p:txBody>
          <a:bodyPr wrap="square" lIns="0" tIns="0" rIns="0" bIns="0" rtlCol="0" anchor="t"/>
          <a:lstStyle/>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Every IP address is of the form &lt;Network ID, Host ID&gt;.</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Range: 0.0.0.0 to 255.255.255.255.</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Network number (N) is assigned by the Internet Registry (IR).</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Host number (H) is assigned by the Network Administrator.</a:t>
            </a:r>
            <a:endParaRPr lang="en-US" sz="1150" dirty="0">
              <a:latin typeface="Times New Roman" panose="02020603050405020304" pitchFamily="18" charset="0"/>
              <a:cs typeface="Times New Roman" panose="02020603050405020304" pitchFamily="18" charset="0"/>
            </a:endParaRPr>
          </a:p>
        </p:txBody>
      </p:sp>
      <p:sp>
        <p:nvSpPr>
          <p:cNvPr id="21" name="Shape 19"/>
          <p:cNvSpPr/>
          <p:nvPr/>
        </p:nvSpPr>
        <p:spPr>
          <a:xfrm>
            <a:off x="4536338" y="5170000"/>
            <a:ext cx="3119018" cy="0"/>
          </a:xfrm>
          <a:prstGeom prst="line">
            <a:avLst/>
          </a:prstGeom>
          <a:noFill/>
          <a:ln w="12700">
            <a:solidFill>
              <a:srgbClr val="ECEFF7"/>
            </a:solidFill>
            <a:prstDash val="solid"/>
          </a:ln>
        </p:spPr>
      </p:sp>
      <p:sp>
        <p:nvSpPr>
          <p:cNvPr id="31" name="Shape 29"/>
          <p:cNvSpPr/>
          <p:nvPr/>
        </p:nvSpPr>
        <p:spPr>
          <a:xfrm>
            <a:off x="8158277" y="1874520"/>
            <a:ext cx="3576218" cy="4251960"/>
          </a:xfrm>
          <a:prstGeom prst="roundRect">
            <a:avLst>
              <a:gd name="adj" fmla="val 2046"/>
            </a:avLst>
          </a:prstGeom>
          <a:solidFill>
            <a:srgbClr val="FFFFFF"/>
          </a:solidFill>
          <a:ln/>
          <a:effectLst>
            <a:outerShdw blurRad="76200" dist="25400" dir="5400000" algn="bl" rotWithShape="0">
              <a:srgbClr val="6B7694">
                <a:alpha val="18000"/>
              </a:srgbClr>
            </a:outerShdw>
          </a:effectLst>
        </p:spPr>
      </p:sp>
      <p:sp>
        <p:nvSpPr>
          <p:cNvPr id="32" name="Shape 30"/>
          <p:cNvSpPr/>
          <p:nvPr/>
        </p:nvSpPr>
        <p:spPr>
          <a:xfrm>
            <a:off x="8158277" y="1874520"/>
            <a:ext cx="3576218" cy="566928"/>
          </a:xfrm>
          <a:prstGeom prst="roundRect">
            <a:avLst>
              <a:gd name="adj" fmla="val 12903"/>
            </a:avLst>
          </a:prstGeom>
          <a:solidFill>
            <a:srgbClr val="1E2761"/>
          </a:solidFill>
          <a:ln/>
        </p:spPr>
      </p:sp>
      <p:sp>
        <p:nvSpPr>
          <p:cNvPr id="33" name="Shape 31"/>
          <p:cNvSpPr/>
          <p:nvPr/>
        </p:nvSpPr>
        <p:spPr>
          <a:xfrm>
            <a:off x="8158277" y="2157984"/>
            <a:ext cx="3576218" cy="283464"/>
          </a:xfrm>
          <a:prstGeom prst="rect">
            <a:avLst/>
          </a:prstGeom>
          <a:solidFill>
            <a:srgbClr val="1E2761"/>
          </a:solidFill>
          <a:ln/>
        </p:spPr>
      </p:sp>
      <p:sp>
        <p:nvSpPr>
          <p:cNvPr id="34" name="Text 32"/>
          <p:cNvSpPr txBox="1"/>
          <p:nvPr/>
        </p:nvSpPr>
        <p:spPr>
          <a:xfrm>
            <a:off x="8341157" y="1874520"/>
            <a:ext cx="3210458" cy="56692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3. Types of Addressing</a:t>
            </a:r>
            <a:endParaRPr lang="en-US" sz="1500" dirty="0">
              <a:latin typeface="Times New Roman" panose="02020603050405020304" pitchFamily="18" charset="0"/>
              <a:cs typeface="Times New Roman" panose="02020603050405020304" pitchFamily="18" charset="0"/>
            </a:endParaRPr>
          </a:p>
        </p:txBody>
      </p:sp>
      <p:sp>
        <p:nvSpPr>
          <p:cNvPr id="35" name="Text 33"/>
          <p:cNvSpPr txBox="1"/>
          <p:nvPr/>
        </p:nvSpPr>
        <p:spPr>
          <a:xfrm>
            <a:off x="8359445" y="2606040"/>
            <a:ext cx="3173882" cy="2480000"/>
          </a:xfrm>
          <a:prstGeom prst="rect">
            <a:avLst/>
          </a:prstGeom>
          <a:noFill/>
          <a:ln/>
        </p:spPr>
        <p:txBody>
          <a:bodyPr wrap="square" lIns="0" tIns="0" rIns="0" bIns="0" rtlCol="0" anchor="t"/>
          <a:lstStyle/>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Classful addressing: Classes A to E.</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Classless addressing: the default mask can be changed as required (/25, /26, /27 … /32).</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Classes A, B and C represent host and network addresses.</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Class D is used for multicasting; Class E is reserved for experimental use.</a:t>
            </a:r>
            <a:endParaRPr lang="en-US" sz="1150" dirty="0">
              <a:latin typeface="Times New Roman" panose="02020603050405020304" pitchFamily="18" charset="0"/>
              <a:cs typeface="Times New Roman" panose="02020603050405020304" pitchFamily="18" charset="0"/>
            </a:endParaRPr>
          </a:p>
        </p:txBody>
      </p:sp>
      <p:sp>
        <p:nvSpPr>
          <p:cNvPr id="36" name="Shape 34"/>
          <p:cNvSpPr/>
          <p:nvPr/>
        </p:nvSpPr>
        <p:spPr>
          <a:xfrm>
            <a:off x="8386877" y="5170000"/>
            <a:ext cx="3119018" cy="0"/>
          </a:xfrm>
          <a:prstGeom prst="line">
            <a:avLst/>
          </a:prstGeom>
          <a:noFill/>
          <a:ln w="12700">
            <a:solidFill>
              <a:srgbClr val="ECEFF7"/>
            </a:solidFill>
            <a:prstDash val="solid"/>
          </a:ln>
        </p:spPr>
      </p:sp>
      <p:sp>
        <p:nvSpPr>
          <p:cNvPr id="47" name="Text 45"/>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Times New Roman" panose="02020603050405020304" pitchFamily="18" charset="0"/>
                <a:ea typeface="Calibri" pitchFamily="34" charset="-122"/>
                <a:cs typeface="Times New Roman" panose="02020603050405020304" pitchFamily="18" charset="0"/>
              </a:rPr>
              <a:t>OUTR CAMPUS NETWORK  |  CISCO PACKET TRACER</a:t>
            </a:r>
            <a:endParaRPr lang="en-US" sz="800" dirty="0">
              <a:latin typeface="Times New Roman" panose="02020603050405020304" pitchFamily="18" charset="0"/>
              <a:cs typeface="Times New Roman" panose="02020603050405020304" pitchFamily="18" charset="0"/>
            </a:endParaRPr>
          </a:p>
        </p:txBody>
      </p:sp>
      <p:sp>
        <p:nvSpPr>
          <p:cNvPr id="100" name="Text 100"/>
          <p:cNvSpPr txBox="1"/>
          <p:nvPr/>
        </p:nvSpPr>
        <p:spPr>
          <a:xfrm>
            <a:off x="685800" y="5260000"/>
            <a:ext cx="3119018" cy="780000"/>
          </a:xfrm>
          <a:prstGeom prst="rect">
            <a:avLst/>
          </a:prstGeom>
          <a:noFill/>
          <a:ln/>
        </p:spPr>
        <p:txBody>
          <a:bodyPr wrap="square" lIns="0" tIns="0" rIns="0" bIns="0" rtlCol="0" anchor="ctr"/>
          <a:lstStyle/>
          <a:p>
            <a:pPr marL="0" indent="0" algn="ctr">
              <a:buNone/>
            </a:pPr>
            <a:r>
              <a:rPr lang="en-US" sz="2000" b="1" dirty="0">
                <a:solidFill>
                  <a:srgbClr val="1E2761"/>
                </a:solidFill>
                <a:latin typeface="Times New Roman" panose="02020603050405020304" pitchFamily="18" charset="0"/>
                <a:cs typeface="Times New Roman" panose="02020603050405020304" pitchFamily="18" charset="0"/>
              </a:rPr>
              <a:t>32-bit</a:t>
            </a:r>
            <a:endParaRPr lang="en-US" sz="2000" dirty="0"/>
          </a:p>
          <a:p>
            <a:pPr marL="0" indent="0" algn="ctr">
              <a:spcBef>
                <a:spcPts val="300"/>
              </a:spcBef>
              <a:buNone/>
            </a:pPr>
            <a:r>
              <a:rPr lang="en-US" sz="1000" dirty="0">
                <a:solidFill>
                  <a:srgbClr val="6B7694"/>
                </a:solidFill>
                <a:latin typeface="Times New Roman" panose="02020603050405020304" pitchFamily="18" charset="0"/>
                <a:cs typeface="Times New Roman" panose="02020603050405020304" pitchFamily="18" charset="0"/>
              </a:rPr>
              <a:t>Length of an IPv4 address</a:t>
            </a:r>
            <a:endParaRPr lang="en-US" sz="1000" dirty="0"/>
          </a:p>
        </p:txBody>
      </p:sp>
      <p:sp>
        <p:nvSpPr>
          <p:cNvPr id="101" name="Text 101"/>
          <p:cNvSpPr txBox="1"/>
          <p:nvPr/>
        </p:nvSpPr>
        <p:spPr>
          <a:xfrm>
            <a:off x="4536338" y="5260000"/>
            <a:ext cx="3119018" cy="780000"/>
          </a:xfrm>
          <a:prstGeom prst="rect">
            <a:avLst/>
          </a:prstGeom>
          <a:noFill/>
          <a:ln/>
        </p:spPr>
        <p:txBody>
          <a:bodyPr wrap="square" lIns="0" tIns="0" rIns="0" bIns="0" rtlCol="0" anchor="ctr"/>
          <a:lstStyle/>
          <a:p>
            <a:pPr marL="0" indent="0" algn="ctr">
              <a:buNone/>
            </a:pPr>
            <a:r>
              <a:rPr lang="en-US" sz="2000" b="1" dirty="0">
                <a:solidFill>
                  <a:srgbClr val="1E2761"/>
                </a:solidFill>
                <a:latin typeface="Times New Roman" panose="02020603050405020304" pitchFamily="18" charset="0"/>
                <a:cs typeface="Times New Roman" panose="02020603050405020304" pitchFamily="18" charset="0"/>
              </a:rPr>
              <a:t>0.0.0.0 – 255.255.255.255</a:t>
            </a:r>
            <a:endParaRPr lang="en-US" sz="2000" dirty="0"/>
          </a:p>
          <a:p>
            <a:pPr marL="0" indent="0" algn="ctr">
              <a:spcBef>
                <a:spcPts val="300"/>
              </a:spcBef>
              <a:buNone/>
            </a:pPr>
            <a:r>
              <a:rPr lang="en-US" sz="1000" dirty="0">
                <a:solidFill>
                  <a:srgbClr val="6B7694"/>
                </a:solidFill>
                <a:latin typeface="Times New Roman" panose="02020603050405020304" pitchFamily="18" charset="0"/>
                <a:cs typeface="Times New Roman" panose="02020603050405020304" pitchFamily="18" charset="0"/>
              </a:rPr>
              <a:t>Full IPv4 address range</a:t>
            </a:r>
            <a:endParaRPr lang="en-US" sz="1000" dirty="0"/>
          </a:p>
        </p:txBody>
      </p:sp>
      <p:sp>
        <p:nvSpPr>
          <p:cNvPr id="102" name="Text 102"/>
          <p:cNvSpPr txBox="1"/>
          <p:nvPr/>
        </p:nvSpPr>
        <p:spPr>
          <a:xfrm>
            <a:off x="8386877" y="5260000"/>
            <a:ext cx="3119018" cy="780000"/>
          </a:xfrm>
          <a:prstGeom prst="rect">
            <a:avLst/>
          </a:prstGeom>
          <a:noFill/>
          <a:ln/>
        </p:spPr>
        <p:txBody>
          <a:bodyPr wrap="square" lIns="0" tIns="0" rIns="0" bIns="0" rtlCol="0" anchor="ctr"/>
          <a:lstStyle/>
          <a:p>
            <a:pPr marL="0" indent="0" algn="ctr">
              <a:buNone/>
            </a:pPr>
            <a:r>
              <a:rPr lang="en-US" sz="2000" b="1" dirty="0">
                <a:solidFill>
                  <a:srgbClr val="1E2761"/>
                </a:solidFill>
                <a:latin typeface="Times New Roman" panose="02020603050405020304" pitchFamily="18" charset="0"/>
                <a:cs typeface="Times New Roman" panose="02020603050405020304" pitchFamily="18" charset="0"/>
              </a:rPr>
              <a:t>2</a:t>
            </a:r>
            <a:r>
              <a:rPr lang="en-US" sz="2000" b="1" baseline="30000" dirty="0">
                <a:solidFill>
                  <a:srgbClr val="1E2761"/>
                </a:solidFill>
                <a:latin typeface="Times New Roman" panose="02020603050405020304" pitchFamily="18" charset="0"/>
                <a:cs typeface="Times New Roman" panose="02020603050405020304" pitchFamily="18" charset="0"/>
              </a:rPr>
              <a:t>32</a:t>
            </a:r>
            <a:r>
              <a:rPr lang="en-US" sz="2000" b="1" dirty="0">
                <a:solidFill>
                  <a:srgbClr val="1E2761"/>
                </a:solidFill>
                <a:latin typeface="Times New Roman" panose="02020603050405020304" pitchFamily="18" charset="0"/>
                <a:cs typeface="Times New Roman" panose="02020603050405020304" pitchFamily="18" charset="0"/>
              </a:rPr>
              <a:t> = 4,294,967,296</a:t>
            </a:r>
            <a:endParaRPr lang="en-US" sz="2000" dirty="0"/>
          </a:p>
          <a:p>
            <a:pPr marL="0" indent="0" algn="ctr">
              <a:spcBef>
                <a:spcPts val="300"/>
              </a:spcBef>
              <a:buNone/>
            </a:pPr>
            <a:r>
              <a:rPr lang="en-US" sz="1000" dirty="0">
                <a:solidFill>
                  <a:srgbClr val="6B7694"/>
                </a:solidFill>
                <a:latin typeface="Times New Roman" panose="02020603050405020304" pitchFamily="18" charset="0"/>
                <a:cs typeface="Times New Roman" panose="02020603050405020304" pitchFamily="18" charset="0"/>
              </a:rPr>
              <a:t>Total possible addresses</a:t>
            </a:r>
            <a:endParaRPr lang="en-US" sz="1000" dirty="0"/>
          </a:p>
        </p:txBody>
      </p:sp>
      <p:sp>
        <p:nvSpPr>
          <p:cNvPr id="48" name="Text 46"/>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6B7694"/>
                </a:solidFill>
                <a:latin typeface="Times New Roman" panose="02020603050405020304" pitchFamily="18" charset="0"/>
                <a:ea typeface="Calibri" pitchFamily="34" charset="-122"/>
                <a:cs typeface="Times New Roman" panose="02020603050405020304" pitchFamily="18" charset="0"/>
              </a:rPr>
              <a:t>9</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Times New Roman" panose="02020603050405020304" pitchFamily="18" charset="0"/>
                <a:ea typeface="Cambria" pitchFamily="34" charset="-122"/>
                <a:cs typeface="Times New Roman" panose="02020603050405020304" pitchFamily="18" charset="0"/>
              </a:rPr>
              <a:t>Literature Review</a:t>
            </a:r>
            <a:endParaRPr lang="en-US" sz="2800" dirty="0">
              <a:latin typeface="Times New Roman" panose="02020603050405020304" pitchFamily="18" charset="0"/>
              <a:cs typeface="Times New Roman" panose="02020603050405020304" pitchFamily="18" charset="0"/>
            </a:endParaRPr>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Times New Roman" panose="02020603050405020304" pitchFamily="18" charset="0"/>
                <a:ea typeface="Calibri" pitchFamily="34" charset="-122"/>
                <a:cs typeface="Times New Roman" panose="02020603050405020304" pitchFamily="18" charset="0"/>
              </a:rPr>
              <a:t>IPv4 ADDRESS CLASSES</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Text 4"/>
          <p:cNvSpPr txBox="1"/>
          <p:nvPr/>
        </p:nvSpPr>
        <p:spPr>
          <a:xfrm>
            <a:off x="457200" y="1170432"/>
            <a:ext cx="11277295" cy="502920"/>
          </a:xfrm>
          <a:prstGeom prst="rect">
            <a:avLst/>
          </a:prstGeom>
          <a:noFill/>
          <a:ln/>
        </p:spPr>
        <p:txBody>
          <a:bodyPr wrap="square" lIns="0" tIns="0" rIns="0" bIns="0" rtlCol="0" anchor="t"/>
          <a:lstStyle/>
          <a:p>
            <a:pPr marL="0" indent="0" algn="just">
              <a:lnSpc>
                <a:spcPct val="105000"/>
              </a:lnSpc>
              <a:buNone/>
            </a:pPr>
            <a:r>
              <a:rPr lang="en-US" sz="1300" b="1" dirty="0">
                <a:solidFill>
                  <a:srgbClr val="1E2761"/>
                </a:solidFill>
                <a:latin typeface="Times New Roman" panose="02020603050405020304" pitchFamily="18" charset="0"/>
                <a:ea typeface="Calibri" pitchFamily="34" charset="-122"/>
                <a:cs typeface="Times New Roman" panose="02020603050405020304" pitchFamily="18" charset="0"/>
              </a:rPr>
              <a:t>Classful Addressing  </a:t>
            </a:r>
            <a:r>
              <a:rPr lang="en-US" sz="1300" dirty="0">
                <a:solidFill>
                  <a:srgbClr val="1B2340"/>
                </a:solidFill>
                <a:latin typeface="Times New Roman" panose="02020603050405020304" pitchFamily="18" charset="0"/>
                <a:ea typeface="Calibri" pitchFamily="34" charset="-122"/>
                <a:cs typeface="Times New Roman" panose="02020603050405020304" pitchFamily="18" charset="0"/>
              </a:rPr>
              <a:t>divides the address space into Classes A–E. The leading bits of the first octet identify the class, and the default mask fixes the network and host portions.</a:t>
            </a:r>
            <a:endParaRPr lang="en-US" sz="1300" dirty="0">
              <a:latin typeface="Times New Roman" panose="02020603050405020304" pitchFamily="18" charset="0"/>
              <a:cs typeface="Times New Roman" panose="02020603050405020304" pitchFamily="18" charset="0"/>
            </a:endParaRPr>
          </a:p>
        </p:txBody>
      </p:sp>
      <p:sp>
        <p:nvSpPr>
          <p:cNvPr id="7" name="Shape 5"/>
          <p:cNvSpPr/>
          <p:nvPr/>
        </p:nvSpPr>
        <p:spPr>
          <a:xfrm>
            <a:off x="457200" y="1874520"/>
            <a:ext cx="3576218" cy="4251960"/>
          </a:xfrm>
          <a:prstGeom prst="roundRect">
            <a:avLst>
              <a:gd name="adj" fmla="val 2046"/>
            </a:avLst>
          </a:prstGeom>
          <a:solidFill>
            <a:srgbClr val="FFFFFF"/>
          </a:solidFill>
          <a:ln/>
          <a:effectLst>
            <a:outerShdw blurRad="76200" dist="25400" dir="5400000" algn="bl" rotWithShape="0">
              <a:srgbClr val="6B7694">
                <a:alpha val="18000"/>
              </a:srgbClr>
            </a:outerShdw>
          </a:effectLst>
        </p:spPr>
      </p:sp>
      <p:sp>
        <p:nvSpPr>
          <p:cNvPr id="8" name="Shape 6"/>
          <p:cNvSpPr/>
          <p:nvPr/>
        </p:nvSpPr>
        <p:spPr>
          <a:xfrm>
            <a:off x="457200" y="1874520"/>
            <a:ext cx="3576218" cy="566928"/>
          </a:xfrm>
          <a:prstGeom prst="roundRect">
            <a:avLst>
              <a:gd name="adj" fmla="val 12903"/>
            </a:avLst>
          </a:prstGeom>
          <a:solidFill>
            <a:srgbClr val="1E2761"/>
          </a:solidFill>
          <a:ln/>
        </p:spPr>
      </p:sp>
      <p:sp>
        <p:nvSpPr>
          <p:cNvPr id="9" name="Shape 7"/>
          <p:cNvSpPr/>
          <p:nvPr/>
        </p:nvSpPr>
        <p:spPr>
          <a:xfrm>
            <a:off x="457200" y="2157984"/>
            <a:ext cx="3576218" cy="283464"/>
          </a:xfrm>
          <a:prstGeom prst="rect">
            <a:avLst/>
          </a:prstGeom>
          <a:solidFill>
            <a:srgbClr val="1E2761"/>
          </a:solidFill>
          <a:ln/>
        </p:spPr>
      </p:sp>
      <p:sp>
        <p:nvSpPr>
          <p:cNvPr id="10" name="Text 8"/>
          <p:cNvSpPr txBox="1"/>
          <p:nvPr/>
        </p:nvSpPr>
        <p:spPr>
          <a:xfrm>
            <a:off x="640080" y="1874520"/>
            <a:ext cx="3210458" cy="56692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1. Class A</a:t>
            </a:r>
            <a:endParaRPr lang="en-US" sz="1500" dirty="0">
              <a:latin typeface="Times New Roman" panose="02020603050405020304" pitchFamily="18" charset="0"/>
              <a:cs typeface="Times New Roman" panose="02020603050405020304" pitchFamily="18" charset="0"/>
            </a:endParaRPr>
          </a:p>
        </p:txBody>
      </p:sp>
      <p:sp>
        <p:nvSpPr>
          <p:cNvPr id="11" name="Text 9"/>
          <p:cNvSpPr txBox="1"/>
          <p:nvPr/>
        </p:nvSpPr>
        <p:spPr>
          <a:xfrm>
            <a:off x="658368" y="2606040"/>
            <a:ext cx="3173882" cy="2480000"/>
          </a:xfrm>
          <a:prstGeom prst="rect">
            <a:avLst/>
          </a:prstGeom>
          <a:noFill/>
          <a:ln/>
        </p:spPr>
        <p:txBody>
          <a:bodyPr wrap="square" lIns="0" tIns="0" rIns="0" bIns="0" rtlCol="0" anchor="t"/>
          <a:lstStyle/>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Leading bit 0; first octet 0 – 127.</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Default mask /8 (255.0.0.0): 7 network bits + 24 host bits (N.H.H.H).</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Networks: 2</a:t>
            </a:r>
            <a:r>
              <a:rPr lang="en-US" sz="1150" baseline="30000" dirty="0">
                <a:solidFill>
                  <a:srgbClr val="1B2340"/>
                </a:solidFill>
                <a:latin typeface="Times New Roman" panose="02020603050405020304" pitchFamily="18" charset="0"/>
                <a:ea typeface="Calibri" pitchFamily="34" charset="-122"/>
                <a:cs typeface="Times New Roman" panose="02020603050405020304" pitchFamily="18" charset="0"/>
              </a:rPr>
              <a:t>7</a:t>
            </a: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 = 128; ID 0 is not used and 127 is reserved for loopback, so usable IDs are 1 – 126.</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Hosts per network: 2</a:t>
            </a:r>
            <a:r>
              <a:rPr lang="en-US" sz="1150" baseline="30000" dirty="0">
                <a:solidFill>
                  <a:srgbClr val="1B2340"/>
                </a:solidFill>
                <a:latin typeface="Times New Roman" panose="02020603050405020304" pitchFamily="18" charset="0"/>
                <a:ea typeface="Calibri" pitchFamily="34" charset="-122"/>
                <a:cs typeface="Times New Roman" panose="02020603050405020304" pitchFamily="18" charset="0"/>
              </a:rPr>
              <a:t>24</a:t>
            </a: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 − 2 = 16,777,214.</a:t>
            </a:r>
            <a:endParaRPr lang="en-US" sz="1150" dirty="0">
              <a:latin typeface="Times New Roman" panose="02020603050405020304" pitchFamily="18" charset="0"/>
              <a:cs typeface="Times New Roman" panose="02020603050405020304" pitchFamily="18" charset="0"/>
            </a:endParaRPr>
          </a:p>
        </p:txBody>
      </p:sp>
      <p:sp>
        <p:nvSpPr>
          <p:cNvPr id="12" name="Shape 10"/>
          <p:cNvSpPr/>
          <p:nvPr/>
        </p:nvSpPr>
        <p:spPr>
          <a:xfrm>
            <a:off x="685800" y="5170000"/>
            <a:ext cx="3119018" cy="0"/>
          </a:xfrm>
          <a:prstGeom prst="line">
            <a:avLst/>
          </a:prstGeom>
          <a:noFill/>
          <a:ln w="12700">
            <a:solidFill>
              <a:srgbClr val="ECEFF7"/>
            </a:solidFill>
            <a:prstDash val="solid"/>
          </a:ln>
        </p:spPr>
      </p:sp>
      <p:sp>
        <p:nvSpPr>
          <p:cNvPr id="16" name="Shape 14"/>
          <p:cNvSpPr/>
          <p:nvPr/>
        </p:nvSpPr>
        <p:spPr>
          <a:xfrm>
            <a:off x="4307738" y="1874520"/>
            <a:ext cx="3576218" cy="4251960"/>
          </a:xfrm>
          <a:prstGeom prst="roundRect">
            <a:avLst>
              <a:gd name="adj" fmla="val 2046"/>
            </a:avLst>
          </a:prstGeom>
          <a:solidFill>
            <a:srgbClr val="FFFFFF"/>
          </a:solidFill>
          <a:ln/>
          <a:effectLst>
            <a:outerShdw blurRad="76200" dist="25400" dir="5400000" algn="bl" rotWithShape="0">
              <a:srgbClr val="6B7694">
                <a:alpha val="18000"/>
              </a:srgbClr>
            </a:outerShdw>
          </a:effectLst>
        </p:spPr>
      </p:sp>
      <p:sp>
        <p:nvSpPr>
          <p:cNvPr id="17" name="Shape 15"/>
          <p:cNvSpPr/>
          <p:nvPr/>
        </p:nvSpPr>
        <p:spPr>
          <a:xfrm>
            <a:off x="4307738" y="1874520"/>
            <a:ext cx="3576218" cy="566928"/>
          </a:xfrm>
          <a:prstGeom prst="roundRect">
            <a:avLst>
              <a:gd name="adj" fmla="val 12903"/>
            </a:avLst>
          </a:prstGeom>
          <a:solidFill>
            <a:srgbClr val="1E2761"/>
          </a:solidFill>
          <a:ln/>
        </p:spPr>
      </p:sp>
      <p:sp>
        <p:nvSpPr>
          <p:cNvPr id="18" name="Shape 16"/>
          <p:cNvSpPr/>
          <p:nvPr/>
        </p:nvSpPr>
        <p:spPr>
          <a:xfrm>
            <a:off x="4307738" y="2157984"/>
            <a:ext cx="3576218" cy="283464"/>
          </a:xfrm>
          <a:prstGeom prst="rect">
            <a:avLst/>
          </a:prstGeom>
          <a:solidFill>
            <a:srgbClr val="1E2761"/>
          </a:solidFill>
          <a:ln/>
        </p:spPr>
      </p:sp>
      <p:sp>
        <p:nvSpPr>
          <p:cNvPr id="19" name="Text 17"/>
          <p:cNvSpPr txBox="1"/>
          <p:nvPr/>
        </p:nvSpPr>
        <p:spPr>
          <a:xfrm>
            <a:off x="4490618" y="1874520"/>
            <a:ext cx="3210458" cy="56692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2. Class B</a:t>
            </a:r>
            <a:endParaRPr lang="en-US" sz="1500" dirty="0">
              <a:latin typeface="Times New Roman" panose="02020603050405020304" pitchFamily="18" charset="0"/>
              <a:cs typeface="Times New Roman" panose="02020603050405020304" pitchFamily="18" charset="0"/>
            </a:endParaRPr>
          </a:p>
        </p:txBody>
      </p:sp>
      <p:sp>
        <p:nvSpPr>
          <p:cNvPr id="20" name="Text 18"/>
          <p:cNvSpPr txBox="1"/>
          <p:nvPr/>
        </p:nvSpPr>
        <p:spPr>
          <a:xfrm>
            <a:off x="4508906" y="2606040"/>
            <a:ext cx="3173882" cy="2480000"/>
          </a:xfrm>
          <a:prstGeom prst="rect">
            <a:avLst/>
          </a:prstGeom>
          <a:noFill/>
          <a:ln/>
        </p:spPr>
        <p:txBody>
          <a:bodyPr wrap="square" lIns="0" tIns="0" rIns="0" bIns="0" rtlCol="0" anchor="t"/>
          <a:lstStyle/>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Leading bits 10; first octet 128 – 191.</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Default mask /16 (255.255.0.0): 14 network bits + 16 host bits (N.N.H.H).</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Networks: 2</a:t>
            </a:r>
            <a:r>
              <a:rPr lang="en-US" sz="1150" baseline="30000" dirty="0">
                <a:solidFill>
                  <a:srgbClr val="1B2340"/>
                </a:solidFill>
                <a:latin typeface="Times New Roman" panose="02020603050405020304" pitchFamily="18" charset="0"/>
                <a:ea typeface="Calibri" pitchFamily="34" charset="-122"/>
                <a:cs typeface="Times New Roman" panose="02020603050405020304" pitchFamily="18" charset="0"/>
              </a:rPr>
              <a:t>14</a:t>
            </a: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 = 16,384.</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Hosts per network: 2</a:t>
            </a:r>
            <a:r>
              <a:rPr lang="en-US" sz="1150" baseline="30000" dirty="0">
                <a:solidFill>
                  <a:srgbClr val="1B2340"/>
                </a:solidFill>
                <a:latin typeface="Times New Roman" panose="02020603050405020304" pitchFamily="18" charset="0"/>
                <a:ea typeface="Calibri" pitchFamily="34" charset="-122"/>
                <a:cs typeface="Times New Roman" panose="02020603050405020304" pitchFamily="18" charset="0"/>
              </a:rPr>
              <a:t>16</a:t>
            </a: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 − 2 = 65,534.</a:t>
            </a:r>
            <a:endParaRPr lang="en-US" sz="1150" dirty="0">
              <a:latin typeface="Times New Roman" panose="02020603050405020304" pitchFamily="18" charset="0"/>
              <a:cs typeface="Times New Roman" panose="02020603050405020304" pitchFamily="18" charset="0"/>
            </a:endParaRPr>
          </a:p>
        </p:txBody>
      </p:sp>
      <p:sp>
        <p:nvSpPr>
          <p:cNvPr id="21" name="Shape 19"/>
          <p:cNvSpPr/>
          <p:nvPr/>
        </p:nvSpPr>
        <p:spPr>
          <a:xfrm>
            <a:off x="4536338" y="5170000"/>
            <a:ext cx="3119018" cy="0"/>
          </a:xfrm>
          <a:prstGeom prst="line">
            <a:avLst/>
          </a:prstGeom>
          <a:noFill/>
          <a:ln w="12700">
            <a:solidFill>
              <a:srgbClr val="ECEFF7"/>
            </a:solidFill>
            <a:prstDash val="solid"/>
          </a:ln>
        </p:spPr>
      </p:sp>
      <p:sp>
        <p:nvSpPr>
          <p:cNvPr id="31" name="Shape 29"/>
          <p:cNvSpPr/>
          <p:nvPr/>
        </p:nvSpPr>
        <p:spPr>
          <a:xfrm>
            <a:off x="8158277" y="1874520"/>
            <a:ext cx="3576218" cy="4251960"/>
          </a:xfrm>
          <a:prstGeom prst="roundRect">
            <a:avLst>
              <a:gd name="adj" fmla="val 2046"/>
            </a:avLst>
          </a:prstGeom>
          <a:solidFill>
            <a:srgbClr val="FFFFFF"/>
          </a:solidFill>
          <a:ln/>
          <a:effectLst>
            <a:outerShdw blurRad="76200" dist="25400" dir="5400000" algn="bl" rotWithShape="0">
              <a:srgbClr val="6B7694">
                <a:alpha val="18000"/>
              </a:srgbClr>
            </a:outerShdw>
          </a:effectLst>
        </p:spPr>
      </p:sp>
      <p:sp>
        <p:nvSpPr>
          <p:cNvPr id="32" name="Shape 30"/>
          <p:cNvSpPr/>
          <p:nvPr/>
        </p:nvSpPr>
        <p:spPr>
          <a:xfrm>
            <a:off x="8158277" y="1874520"/>
            <a:ext cx="3576218" cy="566928"/>
          </a:xfrm>
          <a:prstGeom prst="roundRect">
            <a:avLst>
              <a:gd name="adj" fmla="val 12903"/>
            </a:avLst>
          </a:prstGeom>
          <a:solidFill>
            <a:srgbClr val="1E2761"/>
          </a:solidFill>
          <a:ln/>
        </p:spPr>
      </p:sp>
      <p:sp>
        <p:nvSpPr>
          <p:cNvPr id="33" name="Shape 31"/>
          <p:cNvSpPr/>
          <p:nvPr/>
        </p:nvSpPr>
        <p:spPr>
          <a:xfrm>
            <a:off x="8158277" y="2157984"/>
            <a:ext cx="3576218" cy="283464"/>
          </a:xfrm>
          <a:prstGeom prst="rect">
            <a:avLst/>
          </a:prstGeom>
          <a:solidFill>
            <a:srgbClr val="1E2761"/>
          </a:solidFill>
          <a:ln/>
        </p:spPr>
      </p:sp>
      <p:sp>
        <p:nvSpPr>
          <p:cNvPr id="34" name="Text 32"/>
          <p:cNvSpPr txBox="1"/>
          <p:nvPr/>
        </p:nvSpPr>
        <p:spPr>
          <a:xfrm>
            <a:off x="8341157" y="1874520"/>
            <a:ext cx="3210458" cy="56692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3. Class C</a:t>
            </a:r>
            <a:endParaRPr lang="en-US" sz="1500" dirty="0">
              <a:latin typeface="Times New Roman" panose="02020603050405020304" pitchFamily="18" charset="0"/>
              <a:cs typeface="Times New Roman" panose="02020603050405020304" pitchFamily="18" charset="0"/>
            </a:endParaRPr>
          </a:p>
        </p:txBody>
      </p:sp>
      <p:sp>
        <p:nvSpPr>
          <p:cNvPr id="35" name="Text 33"/>
          <p:cNvSpPr txBox="1"/>
          <p:nvPr/>
        </p:nvSpPr>
        <p:spPr>
          <a:xfrm>
            <a:off x="8359445" y="2606040"/>
            <a:ext cx="3173882" cy="2480000"/>
          </a:xfrm>
          <a:prstGeom prst="rect">
            <a:avLst/>
          </a:prstGeom>
          <a:noFill/>
          <a:ln/>
        </p:spPr>
        <p:txBody>
          <a:bodyPr wrap="square" lIns="0" tIns="0" rIns="0" bIns="0" rtlCol="0" anchor="t"/>
          <a:lstStyle/>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Leading bits 110; first octet 192 – 223.</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Default mask /24 (255.255.255.0): 21 network bits + 8 host bits (N.N.N.H).</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Networks: 2</a:t>
            </a:r>
            <a:r>
              <a:rPr lang="en-US" sz="1150" baseline="30000" dirty="0">
                <a:solidFill>
                  <a:srgbClr val="1B2340"/>
                </a:solidFill>
                <a:latin typeface="Times New Roman" panose="02020603050405020304" pitchFamily="18" charset="0"/>
                <a:ea typeface="Calibri" pitchFamily="34" charset="-122"/>
                <a:cs typeface="Times New Roman" panose="02020603050405020304" pitchFamily="18" charset="0"/>
              </a:rPr>
              <a:t>21</a:t>
            </a: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 = 2,097,152.</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Hosts per network: 2</a:t>
            </a:r>
            <a:r>
              <a:rPr lang="en-US" sz="1150" baseline="30000" dirty="0">
                <a:solidFill>
                  <a:srgbClr val="1B2340"/>
                </a:solidFill>
                <a:latin typeface="Times New Roman" panose="02020603050405020304" pitchFamily="18" charset="0"/>
                <a:ea typeface="Calibri" pitchFamily="34" charset="-122"/>
                <a:cs typeface="Times New Roman" panose="02020603050405020304" pitchFamily="18" charset="0"/>
              </a:rPr>
              <a:t>8</a:t>
            </a: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 − 2 = 254.</a:t>
            </a:r>
            <a:endParaRPr lang="en-US" sz="1150" dirty="0">
              <a:latin typeface="Times New Roman" panose="02020603050405020304" pitchFamily="18" charset="0"/>
              <a:cs typeface="Times New Roman" panose="02020603050405020304" pitchFamily="18" charset="0"/>
            </a:endParaRPr>
          </a:p>
        </p:txBody>
      </p:sp>
      <p:sp>
        <p:nvSpPr>
          <p:cNvPr id="36" name="Shape 34"/>
          <p:cNvSpPr/>
          <p:nvPr/>
        </p:nvSpPr>
        <p:spPr>
          <a:xfrm>
            <a:off x="8386877" y="5170000"/>
            <a:ext cx="3119018" cy="0"/>
          </a:xfrm>
          <a:prstGeom prst="line">
            <a:avLst/>
          </a:prstGeom>
          <a:noFill/>
          <a:ln w="12700">
            <a:solidFill>
              <a:srgbClr val="ECEFF7"/>
            </a:solidFill>
            <a:prstDash val="solid"/>
          </a:ln>
        </p:spPr>
      </p:sp>
      <p:sp>
        <p:nvSpPr>
          <p:cNvPr id="47" name="Text 45"/>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Times New Roman" panose="02020603050405020304" pitchFamily="18" charset="0"/>
                <a:ea typeface="Calibri" pitchFamily="34" charset="-122"/>
                <a:cs typeface="Times New Roman" panose="02020603050405020304" pitchFamily="18" charset="0"/>
              </a:rPr>
              <a:t>OUTR CAMPUS NETWORK  |  CISCO PACKET TRACER</a:t>
            </a:r>
            <a:endParaRPr lang="en-US" sz="800" dirty="0">
              <a:latin typeface="Times New Roman" panose="02020603050405020304" pitchFamily="18" charset="0"/>
              <a:cs typeface="Times New Roman" panose="02020603050405020304" pitchFamily="18" charset="0"/>
            </a:endParaRPr>
          </a:p>
        </p:txBody>
      </p:sp>
      <p:sp>
        <p:nvSpPr>
          <p:cNvPr id="100" name="Text 100"/>
          <p:cNvSpPr txBox="1"/>
          <p:nvPr/>
        </p:nvSpPr>
        <p:spPr>
          <a:xfrm>
            <a:off x="685800" y="5260000"/>
            <a:ext cx="3119018" cy="780000"/>
          </a:xfrm>
          <a:prstGeom prst="rect">
            <a:avLst/>
          </a:prstGeom>
          <a:noFill/>
          <a:ln/>
        </p:spPr>
        <p:txBody>
          <a:bodyPr wrap="square" lIns="0" tIns="0" rIns="0" bIns="0" rtlCol="0" anchor="ctr"/>
          <a:lstStyle/>
          <a:p>
            <a:pPr marL="0" indent="0" algn="ctr">
              <a:buNone/>
            </a:pPr>
            <a:r>
              <a:rPr lang="en-US" sz="2000" b="1" dirty="0">
                <a:solidFill>
                  <a:srgbClr val="1E2761"/>
                </a:solidFill>
                <a:latin typeface="Times New Roman" panose="02020603050405020304" pitchFamily="18" charset="0"/>
                <a:cs typeface="Times New Roman" panose="02020603050405020304" pitchFamily="18" charset="0"/>
              </a:rPr>
              <a:t>16,777,214</a:t>
            </a:r>
            <a:endParaRPr lang="en-US" sz="2000" dirty="0"/>
          </a:p>
          <a:p>
            <a:pPr marL="0" indent="0" algn="ctr">
              <a:spcBef>
                <a:spcPts val="300"/>
              </a:spcBef>
              <a:buNone/>
            </a:pPr>
            <a:r>
              <a:rPr lang="en-US" sz="1000" dirty="0">
                <a:solidFill>
                  <a:srgbClr val="6B7694"/>
                </a:solidFill>
                <a:latin typeface="Times New Roman" panose="02020603050405020304" pitchFamily="18" charset="0"/>
                <a:cs typeface="Times New Roman" panose="02020603050405020304" pitchFamily="18" charset="0"/>
              </a:rPr>
              <a:t>Usable hosts per network</a:t>
            </a:r>
            <a:endParaRPr lang="en-US" sz="1000" dirty="0"/>
          </a:p>
        </p:txBody>
      </p:sp>
      <p:sp>
        <p:nvSpPr>
          <p:cNvPr id="101" name="Text 101"/>
          <p:cNvSpPr txBox="1"/>
          <p:nvPr/>
        </p:nvSpPr>
        <p:spPr>
          <a:xfrm>
            <a:off x="4536338" y="5260000"/>
            <a:ext cx="3119018" cy="780000"/>
          </a:xfrm>
          <a:prstGeom prst="rect">
            <a:avLst/>
          </a:prstGeom>
          <a:noFill/>
          <a:ln/>
        </p:spPr>
        <p:txBody>
          <a:bodyPr wrap="square" lIns="0" tIns="0" rIns="0" bIns="0" rtlCol="0" anchor="ctr"/>
          <a:lstStyle/>
          <a:p>
            <a:pPr marL="0" indent="0" algn="ctr">
              <a:buNone/>
            </a:pPr>
            <a:r>
              <a:rPr lang="en-US" sz="2000" b="1" dirty="0">
                <a:solidFill>
                  <a:srgbClr val="1E2761"/>
                </a:solidFill>
                <a:latin typeface="Times New Roman" panose="02020603050405020304" pitchFamily="18" charset="0"/>
                <a:cs typeface="Times New Roman" panose="02020603050405020304" pitchFamily="18" charset="0"/>
              </a:rPr>
              <a:t>65,534</a:t>
            </a:r>
            <a:endParaRPr lang="en-US" sz="2000" dirty="0"/>
          </a:p>
          <a:p>
            <a:pPr marL="0" indent="0" algn="ctr">
              <a:spcBef>
                <a:spcPts val="300"/>
              </a:spcBef>
              <a:buNone/>
            </a:pPr>
            <a:r>
              <a:rPr lang="en-US" sz="1000" dirty="0">
                <a:solidFill>
                  <a:srgbClr val="6B7694"/>
                </a:solidFill>
                <a:latin typeface="Times New Roman" panose="02020603050405020304" pitchFamily="18" charset="0"/>
                <a:cs typeface="Times New Roman" panose="02020603050405020304" pitchFamily="18" charset="0"/>
              </a:rPr>
              <a:t>Usable hosts per network</a:t>
            </a:r>
            <a:endParaRPr lang="en-US" sz="1000" dirty="0"/>
          </a:p>
        </p:txBody>
      </p:sp>
      <p:sp>
        <p:nvSpPr>
          <p:cNvPr id="102" name="Text 102"/>
          <p:cNvSpPr txBox="1"/>
          <p:nvPr/>
        </p:nvSpPr>
        <p:spPr>
          <a:xfrm>
            <a:off x="8386877" y="5260000"/>
            <a:ext cx="3119018" cy="780000"/>
          </a:xfrm>
          <a:prstGeom prst="rect">
            <a:avLst/>
          </a:prstGeom>
          <a:noFill/>
          <a:ln/>
        </p:spPr>
        <p:txBody>
          <a:bodyPr wrap="square" lIns="0" tIns="0" rIns="0" bIns="0" rtlCol="0" anchor="ctr"/>
          <a:lstStyle/>
          <a:p>
            <a:pPr marL="0" indent="0" algn="ctr">
              <a:buNone/>
            </a:pPr>
            <a:r>
              <a:rPr lang="en-US" sz="2000" b="1" dirty="0">
                <a:solidFill>
                  <a:srgbClr val="1E2761"/>
                </a:solidFill>
                <a:latin typeface="Times New Roman" panose="02020603050405020304" pitchFamily="18" charset="0"/>
                <a:cs typeface="Times New Roman" panose="02020603050405020304" pitchFamily="18" charset="0"/>
              </a:rPr>
              <a:t>254</a:t>
            </a:r>
            <a:endParaRPr lang="en-US" sz="2000" dirty="0"/>
          </a:p>
          <a:p>
            <a:pPr marL="0" indent="0" algn="ctr">
              <a:spcBef>
                <a:spcPts val="300"/>
              </a:spcBef>
              <a:buNone/>
            </a:pPr>
            <a:r>
              <a:rPr lang="en-US" sz="1000" dirty="0">
                <a:solidFill>
                  <a:srgbClr val="6B7694"/>
                </a:solidFill>
                <a:latin typeface="Times New Roman" panose="02020603050405020304" pitchFamily="18" charset="0"/>
                <a:cs typeface="Times New Roman" panose="02020603050405020304" pitchFamily="18" charset="0"/>
              </a:rPr>
              <a:t>Usable hosts per network</a:t>
            </a:r>
            <a:endParaRPr lang="en-US" sz="1000" dirty="0"/>
          </a:p>
        </p:txBody>
      </p:sp>
      <p:sp>
        <p:nvSpPr>
          <p:cNvPr id="48" name="Text 46"/>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6B7694"/>
                </a:solidFill>
                <a:latin typeface="Times New Roman" panose="02020603050405020304" pitchFamily="18" charset="0"/>
                <a:ea typeface="Calibri" pitchFamily="34" charset="-122"/>
                <a:cs typeface="Times New Roman" panose="02020603050405020304" pitchFamily="18" charset="0"/>
              </a:rPr>
              <a:t>10</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Times New Roman" panose="02020603050405020304" pitchFamily="18" charset="0"/>
                <a:ea typeface="Cambria" pitchFamily="34" charset="-122"/>
                <a:cs typeface="Times New Roman" panose="02020603050405020304" pitchFamily="18" charset="0"/>
              </a:rPr>
              <a:t>Literature Review</a:t>
            </a:r>
            <a:endParaRPr lang="en-US" sz="2800" dirty="0">
              <a:latin typeface="Times New Roman" panose="02020603050405020304" pitchFamily="18" charset="0"/>
              <a:cs typeface="Times New Roman" panose="02020603050405020304" pitchFamily="18" charset="0"/>
            </a:endParaRPr>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Times New Roman" panose="02020603050405020304" pitchFamily="18" charset="0"/>
                <a:ea typeface="Calibri" pitchFamily="34" charset="-122"/>
                <a:cs typeface="Times New Roman" panose="02020603050405020304" pitchFamily="18" charset="0"/>
              </a:rPr>
              <a:t>IPv4 ADDRESS CLASSES (CONT.)</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Text 4"/>
          <p:cNvSpPr txBox="1"/>
          <p:nvPr/>
        </p:nvSpPr>
        <p:spPr>
          <a:xfrm>
            <a:off x="457200" y="1170432"/>
            <a:ext cx="11277295" cy="502920"/>
          </a:xfrm>
          <a:prstGeom prst="rect">
            <a:avLst/>
          </a:prstGeom>
          <a:noFill/>
          <a:ln/>
        </p:spPr>
        <p:txBody>
          <a:bodyPr wrap="square" lIns="0" tIns="0" rIns="0" bIns="0" rtlCol="0" anchor="t"/>
          <a:lstStyle/>
          <a:p>
            <a:pPr marL="0" indent="0" algn="just">
              <a:lnSpc>
                <a:spcPct val="105000"/>
              </a:lnSpc>
              <a:buNone/>
            </a:pPr>
            <a:r>
              <a:rPr lang="en-US" sz="1300" b="1" dirty="0">
                <a:solidFill>
                  <a:srgbClr val="1E2761"/>
                </a:solidFill>
                <a:latin typeface="Times New Roman" panose="02020603050405020304" pitchFamily="18" charset="0"/>
                <a:ea typeface="Calibri" pitchFamily="34" charset="-122"/>
                <a:cs typeface="Times New Roman" panose="02020603050405020304" pitchFamily="18" charset="0"/>
              </a:rPr>
              <a:t>Special Classes  </a:t>
            </a:r>
            <a:r>
              <a:rPr lang="en-US" sz="1300" dirty="0">
                <a:solidFill>
                  <a:srgbClr val="1B2340"/>
                </a:solidFill>
                <a:latin typeface="Times New Roman" panose="02020603050405020304" pitchFamily="18" charset="0"/>
                <a:ea typeface="Calibri" pitchFamily="34" charset="-122"/>
                <a:cs typeface="Times New Roman" panose="02020603050405020304" pitchFamily="18" charset="0"/>
              </a:rPr>
              <a:t>Class D and Class E are not divided into network and host parts. In every class, host IDs with all zeros or all ones are reserved.</a:t>
            </a:r>
            <a:endParaRPr lang="en-US" sz="1300" dirty="0">
              <a:latin typeface="Times New Roman" panose="02020603050405020304" pitchFamily="18" charset="0"/>
              <a:cs typeface="Times New Roman" panose="02020603050405020304" pitchFamily="18" charset="0"/>
            </a:endParaRPr>
          </a:p>
        </p:txBody>
      </p:sp>
      <p:sp>
        <p:nvSpPr>
          <p:cNvPr id="7" name="Shape 5"/>
          <p:cNvSpPr/>
          <p:nvPr/>
        </p:nvSpPr>
        <p:spPr>
          <a:xfrm>
            <a:off x="457200" y="1874520"/>
            <a:ext cx="3576218" cy="4251960"/>
          </a:xfrm>
          <a:prstGeom prst="roundRect">
            <a:avLst>
              <a:gd name="adj" fmla="val 2046"/>
            </a:avLst>
          </a:prstGeom>
          <a:solidFill>
            <a:srgbClr val="FFFFFF"/>
          </a:solidFill>
          <a:ln/>
          <a:effectLst>
            <a:outerShdw blurRad="76200" dist="25400" dir="5400000" algn="bl" rotWithShape="0">
              <a:srgbClr val="6B7694">
                <a:alpha val="18000"/>
              </a:srgbClr>
            </a:outerShdw>
          </a:effectLst>
        </p:spPr>
      </p:sp>
      <p:sp>
        <p:nvSpPr>
          <p:cNvPr id="8" name="Shape 6"/>
          <p:cNvSpPr/>
          <p:nvPr/>
        </p:nvSpPr>
        <p:spPr>
          <a:xfrm>
            <a:off x="457200" y="1874520"/>
            <a:ext cx="3576218" cy="566928"/>
          </a:xfrm>
          <a:prstGeom prst="roundRect">
            <a:avLst>
              <a:gd name="adj" fmla="val 12903"/>
            </a:avLst>
          </a:prstGeom>
          <a:solidFill>
            <a:srgbClr val="1E2761"/>
          </a:solidFill>
          <a:ln/>
        </p:spPr>
      </p:sp>
      <p:sp>
        <p:nvSpPr>
          <p:cNvPr id="9" name="Shape 7"/>
          <p:cNvSpPr/>
          <p:nvPr/>
        </p:nvSpPr>
        <p:spPr>
          <a:xfrm>
            <a:off x="457200" y="2157984"/>
            <a:ext cx="3576218" cy="283464"/>
          </a:xfrm>
          <a:prstGeom prst="rect">
            <a:avLst/>
          </a:prstGeom>
          <a:solidFill>
            <a:srgbClr val="1E2761"/>
          </a:solidFill>
          <a:ln/>
        </p:spPr>
      </p:sp>
      <p:sp>
        <p:nvSpPr>
          <p:cNvPr id="10" name="Text 8"/>
          <p:cNvSpPr txBox="1"/>
          <p:nvPr/>
        </p:nvSpPr>
        <p:spPr>
          <a:xfrm>
            <a:off x="640080" y="1874520"/>
            <a:ext cx="3210458" cy="56692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4. Class D (Multicast)</a:t>
            </a:r>
            <a:endParaRPr lang="en-US" sz="1500" dirty="0">
              <a:latin typeface="Times New Roman" panose="02020603050405020304" pitchFamily="18" charset="0"/>
              <a:cs typeface="Times New Roman" panose="02020603050405020304" pitchFamily="18" charset="0"/>
            </a:endParaRPr>
          </a:p>
        </p:txBody>
      </p:sp>
      <p:sp>
        <p:nvSpPr>
          <p:cNvPr id="11" name="Text 9"/>
          <p:cNvSpPr txBox="1"/>
          <p:nvPr/>
        </p:nvSpPr>
        <p:spPr>
          <a:xfrm>
            <a:off x="658368" y="2606040"/>
            <a:ext cx="3173882" cy="2480000"/>
          </a:xfrm>
          <a:prstGeom prst="rect">
            <a:avLst/>
          </a:prstGeom>
          <a:noFill/>
          <a:ln/>
        </p:spPr>
        <p:txBody>
          <a:bodyPr wrap="square" lIns="0" tIns="0" rIns="0" bIns="0" rtlCol="0" anchor="t"/>
          <a:lstStyle/>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Leading bits 1110; first octet 224 – 239.</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Special type of address used for multicasting.</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Not divided into network and host portions.</a:t>
            </a:r>
            <a:endParaRPr lang="en-US" sz="1150" dirty="0">
              <a:latin typeface="Times New Roman" panose="02020603050405020304" pitchFamily="18" charset="0"/>
              <a:cs typeface="Times New Roman" panose="02020603050405020304" pitchFamily="18" charset="0"/>
            </a:endParaRPr>
          </a:p>
        </p:txBody>
      </p:sp>
      <p:sp>
        <p:nvSpPr>
          <p:cNvPr id="12" name="Shape 10"/>
          <p:cNvSpPr/>
          <p:nvPr/>
        </p:nvSpPr>
        <p:spPr>
          <a:xfrm>
            <a:off x="685800" y="5170000"/>
            <a:ext cx="3119018" cy="0"/>
          </a:xfrm>
          <a:prstGeom prst="line">
            <a:avLst/>
          </a:prstGeom>
          <a:noFill/>
          <a:ln w="12700">
            <a:solidFill>
              <a:srgbClr val="ECEFF7"/>
            </a:solidFill>
            <a:prstDash val="solid"/>
          </a:ln>
        </p:spPr>
      </p:sp>
      <p:sp>
        <p:nvSpPr>
          <p:cNvPr id="16" name="Shape 14"/>
          <p:cNvSpPr/>
          <p:nvPr/>
        </p:nvSpPr>
        <p:spPr>
          <a:xfrm>
            <a:off x="4307738" y="1874520"/>
            <a:ext cx="3576218" cy="4251960"/>
          </a:xfrm>
          <a:prstGeom prst="roundRect">
            <a:avLst>
              <a:gd name="adj" fmla="val 2046"/>
            </a:avLst>
          </a:prstGeom>
          <a:solidFill>
            <a:srgbClr val="FFFFFF"/>
          </a:solidFill>
          <a:ln/>
          <a:effectLst>
            <a:outerShdw blurRad="76200" dist="25400" dir="5400000" algn="bl" rotWithShape="0">
              <a:srgbClr val="6B7694">
                <a:alpha val="18000"/>
              </a:srgbClr>
            </a:outerShdw>
          </a:effectLst>
        </p:spPr>
      </p:sp>
      <p:sp>
        <p:nvSpPr>
          <p:cNvPr id="17" name="Shape 15"/>
          <p:cNvSpPr/>
          <p:nvPr/>
        </p:nvSpPr>
        <p:spPr>
          <a:xfrm>
            <a:off x="4307738" y="1874520"/>
            <a:ext cx="3576218" cy="566928"/>
          </a:xfrm>
          <a:prstGeom prst="roundRect">
            <a:avLst>
              <a:gd name="adj" fmla="val 12903"/>
            </a:avLst>
          </a:prstGeom>
          <a:solidFill>
            <a:srgbClr val="1E2761"/>
          </a:solidFill>
          <a:ln/>
        </p:spPr>
      </p:sp>
      <p:sp>
        <p:nvSpPr>
          <p:cNvPr id="18" name="Shape 16"/>
          <p:cNvSpPr/>
          <p:nvPr/>
        </p:nvSpPr>
        <p:spPr>
          <a:xfrm>
            <a:off x="4307738" y="2157984"/>
            <a:ext cx="3576218" cy="283464"/>
          </a:xfrm>
          <a:prstGeom prst="rect">
            <a:avLst/>
          </a:prstGeom>
          <a:solidFill>
            <a:srgbClr val="1E2761"/>
          </a:solidFill>
          <a:ln/>
        </p:spPr>
      </p:sp>
      <p:sp>
        <p:nvSpPr>
          <p:cNvPr id="19" name="Text 17"/>
          <p:cNvSpPr txBox="1"/>
          <p:nvPr/>
        </p:nvSpPr>
        <p:spPr>
          <a:xfrm>
            <a:off x="4490618" y="1874520"/>
            <a:ext cx="3210458" cy="56692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5. Class E (Reserved)</a:t>
            </a:r>
            <a:endParaRPr lang="en-US" sz="1500" dirty="0">
              <a:latin typeface="Times New Roman" panose="02020603050405020304" pitchFamily="18" charset="0"/>
              <a:cs typeface="Times New Roman" panose="02020603050405020304" pitchFamily="18" charset="0"/>
            </a:endParaRPr>
          </a:p>
        </p:txBody>
      </p:sp>
      <p:sp>
        <p:nvSpPr>
          <p:cNvPr id="20" name="Text 18"/>
          <p:cNvSpPr txBox="1"/>
          <p:nvPr/>
        </p:nvSpPr>
        <p:spPr>
          <a:xfrm>
            <a:off x="4508906" y="2606040"/>
            <a:ext cx="3173882" cy="2480000"/>
          </a:xfrm>
          <a:prstGeom prst="rect">
            <a:avLst/>
          </a:prstGeom>
          <a:noFill/>
          <a:ln/>
        </p:spPr>
        <p:txBody>
          <a:bodyPr wrap="square" lIns="0" tIns="0" rIns="0" bIns="0" rtlCol="0" anchor="t"/>
          <a:lstStyle/>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Leading bits 1111; first octet 240 – 255.</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Reserved for experimental / research use.</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Not used for normal host addressing.</a:t>
            </a:r>
            <a:endParaRPr lang="en-US" sz="1150" dirty="0">
              <a:latin typeface="Times New Roman" panose="02020603050405020304" pitchFamily="18" charset="0"/>
              <a:cs typeface="Times New Roman" panose="02020603050405020304" pitchFamily="18" charset="0"/>
            </a:endParaRPr>
          </a:p>
        </p:txBody>
      </p:sp>
      <p:sp>
        <p:nvSpPr>
          <p:cNvPr id="21" name="Shape 19"/>
          <p:cNvSpPr/>
          <p:nvPr/>
        </p:nvSpPr>
        <p:spPr>
          <a:xfrm>
            <a:off x="4536338" y="5170000"/>
            <a:ext cx="3119018" cy="0"/>
          </a:xfrm>
          <a:prstGeom prst="line">
            <a:avLst/>
          </a:prstGeom>
          <a:noFill/>
          <a:ln w="12700">
            <a:solidFill>
              <a:srgbClr val="ECEFF7"/>
            </a:solidFill>
            <a:prstDash val="solid"/>
          </a:ln>
        </p:spPr>
      </p:sp>
      <p:sp>
        <p:nvSpPr>
          <p:cNvPr id="31" name="Shape 29"/>
          <p:cNvSpPr/>
          <p:nvPr/>
        </p:nvSpPr>
        <p:spPr>
          <a:xfrm>
            <a:off x="8158277" y="1874520"/>
            <a:ext cx="3576218" cy="4251960"/>
          </a:xfrm>
          <a:prstGeom prst="roundRect">
            <a:avLst>
              <a:gd name="adj" fmla="val 2046"/>
            </a:avLst>
          </a:prstGeom>
          <a:solidFill>
            <a:srgbClr val="FFFFFF"/>
          </a:solidFill>
          <a:ln/>
          <a:effectLst>
            <a:outerShdw blurRad="76200" dist="25400" dir="5400000" algn="bl" rotWithShape="0">
              <a:srgbClr val="6B7694">
                <a:alpha val="18000"/>
              </a:srgbClr>
            </a:outerShdw>
          </a:effectLst>
        </p:spPr>
      </p:sp>
      <p:sp>
        <p:nvSpPr>
          <p:cNvPr id="32" name="Shape 30"/>
          <p:cNvSpPr/>
          <p:nvPr/>
        </p:nvSpPr>
        <p:spPr>
          <a:xfrm>
            <a:off x="8158277" y="1874520"/>
            <a:ext cx="3576218" cy="566928"/>
          </a:xfrm>
          <a:prstGeom prst="roundRect">
            <a:avLst>
              <a:gd name="adj" fmla="val 12903"/>
            </a:avLst>
          </a:prstGeom>
          <a:solidFill>
            <a:srgbClr val="1E2761"/>
          </a:solidFill>
          <a:ln/>
        </p:spPr>
      </p:sp>
      <p:sp>
        <p:nvSpPr>
          <p:cNvPr id="33" name="Shape 31"/>
          <p:cNvSpPr/>
          <p:nvPr/>
        </p:nvSpPr>
        <p:spPr>
          <a:xfrm>
            <a:off x="8158277" y="2157984"/>
            <a:ext cx="3576218" cy="283464"/>
          </a:xfrm>
          <a:prstGeom prst="rect">
            <a:avLst/>
          </a:prstGeom>
          <a:solidFill>
            <a:srgbClr val="1E2761"/>
          </a:solidFill>
          <a:ln/>
        </p:spPr>
      </p:sp>
      <p:sp>
        <p:nvSpPr>
          <p:cNvPr id="34" name="Text 32"/>
          <p:cNvSpPr txBox="1"/>
          <p:nvPr/>
        </p:nvSpPr>
        <p:spPr>
          <a:xfrm>
            <a:off x="8341157" y="1874520"/>
            <a:ext cx="3210458" cy="56692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6. Usable Hosts Rule</a:t>
            </a:r>
            <a:endParaRPr lang="en-US" sz="1500" dirty="0">
              <a:latin typeface="Times New Roman" panose="02020603050405020304" pitchFamily="18" charset="0"/>
              <a:cs typeface="Times New Roman" panose="02020603050405020304" pitchFamily="18" charset="0"/>
            </a:endParaRPr>
          </a:p>
        </p:txBody>
      </p:sp>
      <p:sp>
        <p:nvSpPr>
          <p:cNvPr id="35" name="Text 33"/>
          <p:cNvSpPr txBox="1"/>
          <p:nvPr/>
        </p:nvSpPr>
        <p:spPr>
          <a:xfrm>
            <a:off x="8359445" y="2606040"/>
            <a:ext cx="3173882" cy="2480000"/>
          </a:xfrm>
          <a:prstGeom prst="rect">
            <a:avLst/>
          </a:prstGeom>
          <a:noFill/>
          <a:ln/>
        </p:spPr>
        <p:txBody>
          <a:bodyPr wrap="square" lIns="0" tIns="0" rIns="0" bIns="0" rtlCol="0" anchor="t"/>
          <a:lstStyle/>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No host ID can have all zeros: the first address identifies the network / subnet (SNID).</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No host ID can have all ones: the last address is the broadcast address.</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Hence usable hosts per network = 2</a:t>
            </a:r>
            <a:r>
              <a:rPr lang="en-US" sz="1150" baseline="30000" dirty="0">
                <a:solidFill>
                  <a:srgbClr val="1B2340"/>
                </a:solidFill>
                <a:latin typeface="Times New Roman" panose="02020603050405020304" pitchFamily="18" charset="0"/>
                <a:ea typeface="Calibri" pitchFamily="34" charset="-122"/>
                <a:cs typeface="Times New Roman" panose="02020603050405020304" pitchFamily="18" charset="0"/>
              </a:rPr>
              <a:t>h</a:t>
            </a: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 − 2, where h is the number of host bits.</a:t>
            </a:r>
            <a:endParaRPr lang="en-US" sz="1150" dirty="0">
              <a:latin typeface="Times New Roman" panose="02020603050405020304" pitchFamily="18" charset="0"/>
              <a:cs typeface="Times New Roman" panose="02020603050405020304" pitchFamily="18" charset="0"/>
            </a:endParaRPr>
          </a:p>
        </p:txBody>
      </p:sp>
      <p:sp>
        <p:nvSpPr>
          <p:cNvPr id="36" name="Shape 34"/>
          <p:cNvSpPr/>
          <p:nvPr/>
        </p:nvSpPr>
        <p:spPr>
          <a:xfrm>
            <a:off x="8386877" y="5170000"/>
            <a:ext cx="3119018" cy="0"/>
          </a:xfrm>
          <a:prstGeom prst="line">
            <a:avLst/>
          </a:prstGeom>
          <a:noFill/>
          <a:ln w="12700">
            <a:solidFill>
              <a:srgbClr val="ECEFF7"/>
            </a:solidFill>
            <a:prstDash val="solid"/>
          </a:ln>
        </p:spPr>
      </p:sp>
      <p:sp>
        <p:nvSpPr>
          <p:cNvPr id="47" name="Text 45"/>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Times New Roman" panose="02020603050405020304" pitchFamily="18" charset="0"/>
                <a:ea typeface="Calibri" pitchFamily="34" charset="-122"/>
                <a:cs typeface="Times New Roman" panose="02020603050405020304" pitchFamily="18" charset="0"/>
              </a:rPr>
              <a:t>OUTR CAMPUS NETWORK  |  CISCO PACKET TRACER</a:t>
            </a:r>
            <a:endParaRPr lang="en-US" sz="800" dirty="0">
              <a:latin typeface="Times New Roman" panose="02020603050405020304" pitchFamily="18" charset="0"/>
              <a:cs typeface="Times New Roman" panose="02020603050405020304" pitchFamily="18" charset="0"/>
            </a:endParaRPr>
          </a:p>
        </p:txBody>
      </p:sp>
      <p:sp>
        <p:nvSpPr>
          <p:cNvPr id="100" name="Text 100"/>
          <p:cNvSpPr txBox="1"/>
          <p:nvPr/>
        </p:nvSpPr>
        <p:spPr>
          <a:xfrm>
            <a:off x="685800" y="5260000"/>
            <a:ext cx="3119018" cy="780000"/>
          </a:xfrm>
          <a:prstGeom prst="rect">
            <a:avLst/>
          </a:prstGeom>
          <a:noFill/>
          <a:ln/>
        </p:spPr>
        <p:txBody>
          <a:bodyPr wrap="square" lIns="0" tIns="0" rIns="0" bIns="0" rtlCol="0" anchor="ctr"/>
          <a:lstStyle/>
          <a:p>
            <a:pPr marL="0" indent="0" algn="ctr">
              <a:buNone/>
            </a:pPr>
            <a:r>
              <a:rPr lang="en-US" sz="2000" b="1" dirty="0">
                <a:solidFill>
                  <a:srgbClr val="1E2761"/>
                </a:solidFill>
                <a:latin typeface="Times New Roman" panose="02020603050405020304" pitchFamily="18" charset="0"/>
                <a:cs typeface="Times New Roman" panose="02020603050405020304" pitchFamily="18" charset="0"/>
              </a:rPr>
              <a:t>224 – 239</a:t>
            </a:r>
            <a:endParaRPr lang="en-US" sz="2000" dirty="0"/>
          </a:p>
          <a:p>
            <a:pPr marL="0" indent="0" algn="ctr">
              <a:spcBef>
                <a:spcPts val="300"/>
              </a:spcBef>
              <a:buNone/>
            </a:pPr>
            <a:r>
              <a:rPr lang="en-US" sz="1000" dirty="0">
                <a:solidFill>
                  <a:srgbClr val="6B7694"/>
                </a:solidFill>
                <a:latin typeface="Times New Roman" panose="02020603050405020304" pitchFamily="18" charset="0"/>
                <a:cs typeface="Times New Roman" panose="02020603050405020304" pitchFamily="18" charset="0"/>
              </a:rPr>
              <a:t>First-octet range</a:t>
            </a:r>
            <a:endParaRPr lang="en-US" sz="1000" dirty="0"/>
          </a:p>
        </p:txBody>
      </p:sp>
      <p:sp>
        <p:nvSpPr>
          <p:cNvPr id="101" name="Text 101"/>
          <p:cNvSpPr txBox="1"/>
          <p:nvPr/>
        </p:nvSpPr>
        <p:spPr>
          <a:xfrm>
            <a:off x="4536338" y="5260000"/>
            <a:ext cx="3119018" cy="780000"/>
          </a:xfrm>
          <a:prstGeom prst="rect">
            <a:avLst/>
          </a:prstGeom>
          <a:noFill/>
          <a:ln/>
        </p:spPr>
        <p:txBody>
          <a:bodyPr wrap="square" lIns="0" tIns="0" rIns="0" bIns="0" rtlCol="0" anchor="ctr"/>
          <a:lstStyle/>
          <a:p>
            <a:pPr marL="0" indent="0" algn="ctr">
              <a:buNone/>
            </a:pPr>
            <a:r>
              <a:rPr lang="en-US" sz="2000" b="1" dirty="0">
                <a:solidFill>
                  <a:srgbClr val="1E2761"/>
                </a:solidFill>
                <a:latin typeface="Times New Roman" panose="02020603050405020304" pitchFamily="18" charset="0"/>
                <a:cs typeface="Times New Roman" panose="02020603050405020304" pitchFamily="18" charset="0"/>
              </a:rPr>
              <a:t>240 – 255</a:t>
            </a:r>
            <a:endParaRPr lang="en-US" sz="2000" dirty="0"/>
          </a:p>
          <a:p>
            <a:pPr marL="0" indent="0" algn="ctr">
              <a:spcBef>
                <a:spcPts val="300"/>
              </a:spcBef>
              <a:buNone/>
            </a:pPr>
            <a:r>
              <a:rPr lang="en-US" sz="1000" dirty="0">
                <a:solidFill>
                  <a:srgbClr val="6B7694"/>
                </a:solidFill>
                <a:latin typeface="Times New Roman" panose="02020603050405020304" pitchFamily="18" charset="0"/>
                <a:cs typeface="Times New Roman" panose="02020603050405020304" pitchFamily="18" charset="0"/>
              </a:rPr>
              <a:t>First-octet range</a:t>
            </a:r>
            <a:endParaRPr lang="en-US" sz="1000" dirty="0"/>
          </a:p>
        </p:txBody>
      </p:sp>
      <p:sp>
        <p:nvSpPr>
          <p:cNvPr id="102" name="Text 102"/>
          <p:cNvSpPr txBox="1"/>
          <p:nvPr/>
        </p:nvSpPr>
        <p:spPr>
          <a:xfrm>
            <a:off x="8386877" y="5260000"/>
            <a:ext cx="3119018" cy="780000"/>
          </a:xfrm>
          <a:prstGeom prst="rect">
            <a:avLst/>
          </a:prstGeom>
          <a:noFill/>
          <a:ln/>
        </p:spPr>
        <p:txBody>
          <a:bodyPr wrap="square" lIns="0" tIns="0" rIns="0" bIns="0" rtlCol="0" anchor="ctr"/>
          <a:lstStyle/>
          <a:p>
            <a:pPr marL="0" indent="0" algn="ctr">
              <a:buNone/>
            </a:pPr>
            <a:r>
              <a:rPr lang="en-US" sz="2000" b="1" dirty="0">
                <a:solidFill>
                  <a:srgbClr val="1E2761"/>
                </a:solidFill>
                <a:latin typeface="Times New Roman" panose="02020603050405020304" pitchFamily="18" charset="0"/>
                <a:cs typeface="Times New Roman" panose="02020603050405020304" pitchFamily="18" charset="0"/>
              </a:rPr>
              <a:t>2</a:t>
            </a:r>
            <a:r>
              <a:rPr lang="en-US" sz="2000" b="1" baseline="30000" dirty="0">
                <a:solidFill>
                  <a:srgbClr val="1E2761"/>
                </a:solidFill>
                <a:latin typeface="Times New Roman" panose="02020603050405020304" pitchFamily="18" charset="0"/>
                <a:cs typeface="Times New Roman" panose="02020603050405020304" pitchFamily="18" charset="0"/>
              </a:rPr>
              <a:t>h</a:t>
            </a:r>
            <a:r>
              <a:rPr lang="en-US" sz="2000" b="1" dirty="0">
                <a:solidFill>
                  <a:srgbClr val="1E2761"/>
                </a:solidFill>
                <a:latin typeface="Times New Roman" panose="02020603050405020304" pitchFamily="18" charset="0"/>
                <a:cs typeface="Times New Roman" panose="02020603050405020304" pitchFamily="18" charset="0"/>
              </a:rPr>
              <a:t> − 2</a:t>
            </a:r>
            <a:endParaRPr lang="en-US" sz="2000" dirty="0"/>
          </a:p>
          <a:p>
            <a:pPr marL="0" indent="0" algn="ctr">
              <a:spcBef>
                <a:spcPts val="300"/>
              </a:spcBef>
              <a:buNone/>
            </a:pPr>
            <a:r>
              <a:rPr lang="en-US" sz="1000" dirty="0">
                <a:solidFill>
                  <a:srgbClr val="6B7694"/>
                </a:solidFill>
                <a:latin typeface="Times New Roman" panose="02020603050405020304" pitchFamily="18" charset="0"/>
                <a:cs typeface="Times New Roman" panose="02020603050405020304" pitchFamily="18" charset="0"/>
              </a:rPr>
              <a:t>Usable hosts per network</a:t>
            </a:r>
            <a:endParaRPr lang="en-US" sz="1000" dirty="0"/>
          </a:p>
        </p:txBody>
      </p:sp>
      <p:sp>
        <p:nvSpPr>
          <p:cNvPr id="48" name="Text 46"/>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6B7694"/>
                </a:solidFill>
                <a:latin typeface="Times New Roman" panose="02020603050405020304" pitchFamily="18" charset="0"/>
                <a:ea typeface="Calibri" pitchFamily="34" charset="-122"/>
                <a:cs typeface="Times New Roman" panose="02020603050405020304" pitchFamily="18" charset="0"/>
              </a:rPr>
              <a:t>11</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Times New Roman" panose="02020603050405020304" pitchFamily="18" charset="0"/>
                <a:ea typeface="Cambria" pitchFamily="34" charset="-122"/>
                <a:cs typeface="Times New Roman" panose="02020603050405020304" pitchFamily="18" charset="0"/>
              </a:rPr>
              <a:t>Literature Review</a:t>
            </a:r>
            <a:endParaRPr lang="en-US" sz="2800" dirty="0">
              <a:latin typeface="Times New Roman" panose="02020603050405020304" pitchFamily="18" charset="0"/>
              <a:cs typeface="Times New Roman" panose="02020603050405020304" pitchFamily="18" charset="0"/>
            </a:endParaRPr>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Times New Roman" panose="02020603050405020304" pitchFamily="18" charset="0"/>
                <a:ea typeface="Calibri" pitchFamily="34" charset="-122"/>
                <a:cs typeface="Times New Roman" panose="02020603050405020304" pitchFamily="18" charset="0"/>
              </a:rPr>
              <a:t>SUBNETTING</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Text 4"/>
          <p:cNvSpPr txBox="1"/>
          <p:nvPr/>
        </p:nvSpPr>
        <p:spPr>
          <a:xfrm>
            <a:off x="457200" y="1170432"/>
            <a:ext cx="11277295" cy="502920"/>
          </a:xfrm>
          <a:prstGeom prst="rect">
            <a:avLst/>
          </a:prstGeom>
          <a:noFill/>
          <a:ln/>
        </p:spPr>
        <p:txBody>
          <a:bodyPr wrap="square" lIns="0" tIns="0" rIns="0" bIns="0" rtlCol="0" anchor="t"/>
          <a:lstStyle/>
          <a:p>
            <a:pPr marL="0" indent="0" algn="just">
              <a:lnSpc>
                <a:spcPct val="105000"/>
              </a:lnSpc>
              <a:buNone/>
            </a:pPr>
            <a:r>
              <a:rPr lang="en-US" sz="1300" b="1" dirty="0">
                <a:solidFill>
                  <a:srgbClr val="1E2761"/>
                </a:solidFill>
                <a:latin typeface="Times New Roman" panose="02020603050405020304" pitchFamily="18" charset="0"/>
                <a:ea typeface="Calibri" pitchFamily="34" charset="-122"/>
                <a:cs typeface="Times New Roman" panose="02020603050405020304" pitchFamily="18" charset="0"/>
              </a:rPr>
              <a:t>Subnetting  </a:t>
            </a:r>
            <a:r>
              <a:rPr lang="en-US" sz="1300" dirty="0">
                <a:solidFill>
                  <a:srgbClr val="1B2340"/>
                </a:solidFill>
                <a:latin typeface="Times New Roman" panose="02020603050405020304" pitchFamily="18" charset="0"/>
                <a:ea typeface="Calibri" pitchFamily="34" charset="-122"/>
                <a:cs typeface="Times New Roman" panose="02020603050405020304" pitchFamily="18" charset="0"/>
              </a:rPr>
              <a:t>is chopping a network into smaller networks by assigning some bits of the host portion to a subnet number.</a:t>
            </a:r>
            <a:endParaRPr lang="en-US" sz="1300" dirty="0">
              <a:latin typeface="Times New Roman" panose="02020603050405020304" pitchFamily="18" charset="0"/>
              <a:cs typeface="Times New Roman" panose="02020603050405020304" pitchFamily="18" charset="0"/>
            </a:endParaRPr>
          </a:p>
        </p:txBody>
      </p:sp>
      <p:sp>
        <p:nvSpPr>
          <p:cNvPr id="7" name="Shape 5"/>
          <p:cNvSpPr/>
          <p:nvPr/>
        </p:nvSpPr>
        <p:spPr>
          <a:xfrm>
            <a:off x="457200" y="1874520"/>
            <a:ext cx="3576218" cy="4251960"/>
          </a:xfrm>
          <a:prstGeom prst="roundRect">
            <a:avLst>
              <a:gd name="adj" fmla="val 2046"/>
            </a:avLst>
          </a:prstGeom>
          <a:solidFill>
            <a:srgbClr val="FFFFFF"/>
          </a:solidFill>
          <a:ln/>
          <a:effectLst>
            <a:outerShdw blurRad="76200" dist="25400" dir="5400000" algn="bl" rotWithShape="0">
              <a:srgbClr val="6B7694">
                <a:alpha val="18000"/>
              </a:srgbClr>
            </a:outerShdw>
          </a:effectLst>
        </p:spPr>
      </p:sp>
      <p:sp>
        <p:nvSpPr>
          <p:cNvPr id="8" name="Shape 6"/>
          <p:cNvSpPr/>
          <p:nvPr/>
        </p:nvSpPr>
        <p:spPr>
          <a:xfrm>
            <a:off x="457200" y="1874520"/>
            <a:ext cx="3576218" cy="566928"/>
          </a:xfrm>
          <a:prstGeom prst="roundRect">
            <a:avLst>
              <a:gd name="adj" fmla="val 12903"/>
            </a:avLst>
          </a:prstGeom>
          <a:solidFill>
            <a:srgbClr val="1E2761"/>
          </a:solidFill>
          <a:ln/>
        </p:spPr>
      </p:sp>
      <p:sp>
        <p:nvSpPr>
          <p:cNvPr id="9" name="Shape 7"/>
          <p:cNvSpPr/>
          <p:nvPr/>
        </p:nvSpPr>
        <p:spPr>
          <a:xfrm>
            <a:off x="457200" y="2157984"/>
            <a:ext cx="3576218" cy="283464"/>
          </a:xfrm>
          <a:prstGeom prst="rect">
            <a:avLst/>
          </a:prstGeom>
          <a:solidFill>
            <a:srgbClr val="1E2761"/>
          </a:solidFill>
          <a:ln/>
        </p:spPr>
      </p:sp>
      <p:sp>
        <p:nvSpPr>
          <p:cNvPr id="10" name="Text 8"/>
          <p:cNvSpPr txBox="1"/>
          <p:nvPr/>
        </p:nvSpPr>
        <p:spPr>
          <a:xfrm>
            <a:off x="640080" y="1874520"/>
            <a:ext cx="3210458" cy="56692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1. Concept &amp; Parameters</a:t>
            </a:r>
            <a:endParaRPr lang="en-US" sz="1500" dirty="0">
              <a:latin typeface="Times New Roman" panose="02020603050405020304" pitchFamily="18" charset="0"/>
              <a:cs typeface="Times New Roman" panose="02020603050405020304" pitchFamily="18" charset="0"/>
            </a:endParaRPr>
          </a:p>
        </p:txBody>
      </p:sp>
      <p:sp>
        <p:nvSpPr>
          <p:cNvPr id="11" name="Text 9"/>
          <p:cNvSpPr txBox="1"/>
          <p:nvPr/>
        </p:nvSpPr>
        <p:spPr>
          <a:xfrm>
            <a:off x="658368" y="2606040"/>
            <a:ext cx="3173882" cy="2480000"/>
          </a:xfrm>
          <a:prstGeom prst="rect">
            <a:avLst/>
          </a:prstGeom>
          <a:noFill/>
          <a:ln/>
        </p:spPr>
        <p:txBody>
          <a:bodyPr wrap="square" lIns="0" tIns="0" rIns="0" bIns="0" rtlCol="0" anchor="t"/>
          <a:lstStyle/>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Format: &lt;N/w No., Subnet No., Host No.&gt;.</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Uses the full network address efficiently; it is a real network under a network.</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Any class can be subnetted by borrowing host bits.</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Parameters: Subnet Mask (SNM), Subnet ID (SNID), Broadcast ID (BCIP) and Host Range.</a:t>
            </a:r>
            <a:endParaRPr lang="en-US" sz="1150" dirty="0">
              <a:latin typeface="Times New Roman" panose="02020603050405020304" pitchFamily="18" charset="0"/>
              <a:cs typeface="Times New Roman" panose="02020603050405020304" pitchFamily="18" charset="0"/>
            </a:endParaRPr>
          </a:p>
        </p:txBody>
      </p:sp>
      <p:sp>
        <p:nvSpPr>
          <p:cNvPr id="12" name="Shape 10"/>
          <p:cNvSpPr/>
          <p:nvPr/>
        </p:nvSpPr>
        <p:spPr>
          <a:xfrm>
            <a:off x="685800" y="5170000"/>
            <a:ext cx="3119018" cy="0"/>
          </a:xfrm>
          <a:prstGeom prst="line">
            <a:avLst/>
          </a:prstGeom>
          <a:noFill/>
          <a:ln w="12700">
            <a:solidFill>
              <a:srgbClr val="ECEFF7"/>
            </a:solidFill>
            <a:prstDash val="solid"/>
          </a:ln>
        </p:spPr>
      </p:sp>
      <p:sp>
        <p:nvSpPr>
          <p:cNvPr id="16" name="Shape 14"/>
          <p:cNvSpPr/>
          <p:nvPr/>
        </p:nvSpPr>
        <p:spPr>
          <a:xfrm>
            <a:off x="4307738" y="1874520"/>
            <a:ext cx="3576218" cy="4251960"/>
          </a:xfrm>
          <a:prstGeom prst="roundRect">
            <a:avLst>
              <a:gd name="adj" fmla="val 2046"/>
            </a:avLst>
          </a:prstGeom>
          <a:solidFill>
            <a:srgbClr val="FFFFFF"/>
          </a:solidFill>
          <a:ln/>
          <a:effectLst>
            <a:outerShdw blurRad="76200" dist="25400" dir="5400000" algn="bl" rotWithShape="0">
              <a:srgbClr val="6B7694">
                <a:alpha val="18000"/>
              </a:srgbClr>
            </a:outerShdw>
          </a:effectLst>
        </p:spPr>
      </p:sp>
      <p:sp>
        <p:nvSpPr>
          <p:cNvPr id="17" name="Shape 15"/>
          <p:cNvSpPr/>
          <p:nvPr/>
        </p:nvSpPr>
        <p:spPr>
          <a:xfrm>
            <a:off x="4307738" y="1874520"/>
            <a:ext cx="3576218" cy="566928"/>
          </a:xfrm>
          <a:prstGeom prst="roundRect">
            <a:avLst>
              <a:gd name="adj" fmla="val 12903"/>
            </a:avLst>
          </a:prstGeom>
          <a:solidFill>
            <a:srgbClr val="1E2761"/>
          </a:solidFill>
          <a:ln/>
        </p:spPr>
      </p:sp>
      <p:sp>
        <p:nvSpPr>
          <p:cNvPr id="18" name="Shape 16"/>
          <p:cNvSpPr/>
          <p:nvPr/>
        </p:nvSpPr>
        <p:spPr>
          <a:xfrm>
            <a:off x="4307738" y="2157984"/>
            <a:ext cx="3576218" cy="283464"/>
          </a:xfrm>
          <a:prstGeom prst="rect">
            <a:avLst/>
          </a:prstGeom>
          <a:solidFill>
            <a:srgbClr val="1E2761"/>
          </a:solidFill>
          <a:ln/>
        </p:spPr>
      </p:sp>
      <p:sp>
        <p:nvSpPr>
          <p:cNvPr id="19" name="Text 17"/>
          <p:cNvSpPr txBox="1"/>
          <p:nvPr/>
        </p:nvSpPr>
        <p:spPr>
          <a:xfrm>
            <a:off x="4490618" y="1874520"/>
            <a:ext cx="3210458" cy="56692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2. Finding SNID, BCIP &amp; Range</a:t>
            </a:r>
            <a:endParaRPr lang="en-US" sz="1500" dirty="0">
              <a:latin typeface="Times New Roman" panose="02020603050405020304" pitchFamily="18" charset="0"/>
              <a:cs typeface="Times New Roman" panose="02020603050405020304" pitchFamily="18" charset="0"/>
            </a:endParaRPr>
          </a:p>
        </p:txBody>
      </p:sp>
      <p:sp>
        <p:nvSpPr>
          <p:cNvPr id="20" name="Text 18"/>
          <p:cNvSpPr txBox="1"/>
          <p:nvPr/>
        </p:nvSpPr>
        <p:spPr>
          <a:xfrm>
            <a:off x="4508906" y="2606040"/>
            <a:ext cx="3173882" cy="2480000"/>
          </a:xfrm>
          <a:prstGeom prst="rect">
            <a:avLst/>
          </a:prstGeom>
          <a:noFill/>
          <a:ln/>
        </p:spPr>
        <p:txBody>
          <a:bodyPr wrap="square" lIns="0" tIns="0" rIns="0" bIns="0" rtlCol="0" anchor="t"/>
          <a:lstStyle/>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SNID: keep network and subnet bits, convert all host bits to 0.</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BCIP: keep network and subnet bits, convert all host bits to 1.</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Host range: SNID + 1 to BCIP − 1.</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192.168.1.10/26: 10 = 00|001010, so SNID = 192.168.1.0.</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192.168.1.70/26: 70 = 01|000110, so BCIP = 192.168.1.127.</a:t>
            </a:r>
            <a:endParaRPr lang="en-US" sz="1150" dirty="0">
              <a:latin typeface="Times New Roman" panose="02020603050405020304" pitchFamily="18" charset="0"/>
              <a:cs typeface="Times New Roman" panose="02020603050405020304" pitchFamily="18" charset="0"/>
            </a:endParaRPr>
          </a:p>
        </p:txBody>
      </p:sp>
      <p:sp>
        <p:nvSpPr>
          <p:cNvPr id="21" name="Shape 19"/>
          <p:cNvSpPr/>
          <p:nvPr/>
        </p:nvSpPr>
        <p:spPr>
          <a:xfrm>
            <a:off x="4536338" y="5170000"/>
            <a:ext cx="3119018" cy="0"/>
          </a:xfrm>
          <a:prstGeom prst="line">
            <a:avLst/>
          </a:prstGeom>
          <a:noFill/>
          <a:ln w="12700">
            <a:solidFill>
              <a:srgbClr val="ECEFF7"/>
            </a:solidFill>
            <a:prstDash val="solid"/>
          </a:ln>
        </p:spPr>
      </p:sp>
      <p:sp>
        <p:nvSpPr>
          <p:cNvPr id="31" name="Shape 29"/>
          <p:cNvSpPr/>
          <p:nvPr/>
        </p:nvSpPr>
        <p:spPr>
          <a:xfrm>
            <a:off x="8158277" y="1874520"/>
            <a:ext cx="3576218" cy="4251960"/>
          </a:xfrm>
          <a:prstGeom prst="roundRect">
            <a:avLst>
              <a:gd name="adj" fmla="val 2046"/>
            </a:avLst>
          </a:prstGeom>
          <a:solidFill>
            <a:srgbClr val="FFFFFF"/>
          </a:solidFill>
          <a:ln/>
          <a:effectLst>
            <a:outerShdw blurRad="76200" dist="25400" dir="5400000" algn="bl" rotWithShape="0">
              <a:srgbClr val="6B7694">
                <a:alpha val="18000"/>
              </a:srgbClr>
            </a:outerShdw>
          </a:effectLst>
        </p:spPr>
      </p:sp>
      <p:sp>
        <p:nvSpPr>
          <p:cNvPr id="32" name="Shape 30"/>
          <p:cNvSpPr/>
          <p:nvPr/>
        </p:nvSpPr>
        <p:spPr>
          <a:xfrm>
            <a:off x="8158277" y="1874520"/>
            <a:ext cx="3576218" cy="566928"/>
          </a:xfrm>
          <a:prstGeom prst="roundRect">
            <a:avLst>
              <a:gd name="adj" fmla="val 12903"/>
            </a:avLst>
          </a:prstGeom>
          <a:solidFill>
            <a:srgbClr val="1E2761"/>
          </a:solidFill>
          <a:ln/>
        </p:spPr>
      </p:sp>
      <p:sp>
        <p:nvSpPr>
          <p:cNvPr id="33" name="Shape 31"/>
          <p:cNvSpPr/>
          <p:nvPr/>
        </p:nvSpPr>
        <p:spPr>
          <a:xfrm>
            <a:off x="8158277" y="2157984"/>
            <a:ext cx="3576218" cy="283464"/>
          </a:xfrm>
          <a:prstGeom prst="rect">
            <a:avLst/>
          </a:prstGeom>
          <a:solidFill>
            <a:srgbClr val="1E2761"/>
          </a:solidFill>
          <a:ln/>
        </p:spPr>
      </p:sp>
      <p:sp>
        <p:nvSpPr>
          <p:cNvPr id="34" name="Text 32"/>
          <p:cNvSpPr txBox="1"/>
          <p:nvPr/>
        </p:nvSpPr>
        <p:spPr>
          <a:xfrm>
            <a:off x="8341157" y="1874520"/>
            <a:ext cx="3210458" cy="56692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mbria" pitchFamily="34" charset="-122"/>
                <a:cs typeface="Times New Roman" panose="02020603050405020304" pitchFamily="18" charset="0"/>
              </a:rPr>
              <a:t>3. Class C Example (/25)</a:t>
            </a:r>
            <a:endParaRPr lang="en-US" sz="1500" dirty="0">
              <a:latin typeface="Times New Roman" panose="02020603050405020304" pitchFamily="18" charset="0"/>
              <a:cs typeface="Times New Roman" panose="02020603050405020304" pitchFamily="18" charset="0"/>
            </a:endParaRPr>
          </a:p>
        </p:txBody>
      </p:sp>
      <p:sp>
        <p:nvSpPr>
          <p:cNvPr id="35" name="Text 33"/>
          <p:cNvSpPr txBox="1"/>
          <p:nvPr/>
        </p:nvSpPr>
        <p:spPr>
          <a:xfrm>
            <a:off x="8359445" y="2606040"/>
            <a:ext cx="3173882" cy="2480000"/>
          </a:xfrm>
          <a:prstGeom prst="rect">
            <a:avLst/>
          </a:prstGeom>
          <a:noFill/>
          <a:ln/>
        </p:spPr>
        <p:txBody>
          <a:bodyPr wrap="square" lIns="0" tIns="0" rIns="0" bIns="0" rtlCol="0" anchor="t"/>
          <a:lstStyle/>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Class C default /24 (8+8+8+0); borrowing 1 bit gives /25, so n = 25 and h = 7.</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1 bit gives 2</a:t>
            </a:r>
            <a:r>
              <a:rPr lang="en-US" sz="1150" baseline="30000" dirty="0">
                <a:solidFill>
                  <a:srgbClr val="1B2340"/>
                </a:solidFill>
                <a:latin typeface="Times New Roman" panose="02020603050405020304" pitchFamily="18" charset="0"/>
                <a:ea typeface="Calibri" pitchFamily="34" charset="-122"/>
                <a:cs typeface="Times New Roman" panose="02020603050405020304" pitchFamily="18" charset="0"/>
              </a:rPr>
              <a:t>1</a:t>
            </a: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 = 2 subnets; hosts per subnet = 2</a:t>
            </a:r>
            <a:r>
              <a:rPr lang="en-US" sz="1150" baseline="30000" dirty="0">
                <a:solidFill>
                  <a:srgbClr val="1B2340"/>
                </a:solidFill>
                <a:latin typeface="Times New Roman" panose="02020603050405020304" pitchFamily="18" charset="0"/>
                <a:ea typeface="Calibri" pitchFamily="34" charset="-122"/>
                <a:cs typeface="Times New Roman" panose="02020603050405020304" pitchFamily="18" charset="0"/>
              </a:rPr>
              <a:t>7</a:t>
            </a: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 − 2 = 126.</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Subnet 1: 192.168.0.0 – 192.168.0.127 (hosts .1 – .126).</a:t>
            </a:r>
            <a:endParaRPr lang="en-US" sz="1150" dirty="0">
              <a:latin typeface="Times New Roman" panose="02020603050405020304" pitchFamily="18" charset="0"/>
              <a:cs typeface="Times New Roman" panose="02020603050405020304" pitchFamily="18" charset="0"/>
            </a:endParaRPr>
          </a:p>
          <a:p>
            <a:pPr marL="177800" indent="-177800" algn="just">
              <a:lnSpc>
                <a:spcPct val="105000"/>
              </a:lnSpc>
              <a:spcAft>
                <a:spcPts val="900"/>
              </a:spcAft>
              <a:buSzPct val="100000"/>
              <a:buChar char="▪"/>
            </a:pPr>
            <a:r>
              <a:rPr lang="en-US" sz="1150" dirty="0">
                <a:solidFill>
                  <a:srgbClr val="1B2340"/>
                </a:solidFill>
                <a:latin typeface="Times New Roman" panose="02020603050405020304" pitchFamily="18" charset="0"/>
                <a:ea typeface="Calibri" pitchFamily="34" charset="-122"/>
                <a:cs typeface="Times New Roman" panose="02020603050405020304" pitchFamily="18" charset="0"/>
              </a:rPr>
              <a:t>Subnet 2: 192.168.0.128 – 192.168.0.255 (hosts .129 – .254).</a:t>
            </a:r>
            <a:endParaRPr lang="en-US" sz="1150" dirty="0">
              <a:latin typeface="Times New Roman" panose="02020603050405020304" pitchFamily="18" charset="0"/>
              <a:cs typeface="Times New Roman" panose="02020603050405020304" pitchFamily="18" charset="0"/>
            </a:endParaRPr>
          </a:p>
        </p:txBody>
      </p:sp>
      <p:sp>
        <p:nvSpPr>
          <p:cNvPr id="36" name="Shape 34"/>
          <p:cNvSpPr/>
          <p:nvPr/>
        </p:nvSpPr>
        <p:spPr>
          <a:xfrm>
            <a:off x="8386877" y="5170000"/>
            <a:ext cx="3119018" cy="0"/>
          </a:xfrm>
          <a:prstGeom prst="line">
            <a:avLst/>
          </a:prstGeom>
          <a:noFill/>
          <a:ln w="12700">
            <a:solidFill>
              <a:srgbClr val="ECEFF7"/>
            </a:solidFill>
            <a:prstDash val="solid"/>
          </a:ln>
        </p:spPr>
      </p:sp>
      <p:sp>
        <p:nvSpPr>
          <p:cNvPr id="47" name="Text 45"/>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Times New Roman" panose="02020603050405020304" pitchFamily="18" charset="0"/>
                <a:ea typeface="Calibri" pitchFamily="34" charset="-122"/>
                <a:cs typeface="Times New Roman" panose="02020603050405020304" pitchFamily="18" charset="0"/>
              </a:rPr>
              <a:t>OUTR CAMPUS NETWORK  |  CISCO PACKET TRACER</a:t>
            </a:r>
            <a:endParaRPr lang="en-US" sz="800" dirty="0">
              <a:latin typeface="Times New Roman" panose="02020603050405020304" pitchFamily="18" charset="0"/>
              <a:cs typeface="Times New Roman" panose="02020603050405020304" pitchFamily="18" charset="0"/>
            </a:endParaRPr>
          </a:p>
        </p:txBody>
      </p:sp>
      <p:sp>
        <p:nvSpPr>
          <p:cNvPr id="100" name="Text 100"/>
          <p:cNvSpPr txBox="1"/>
          <p:nvPr/>
        </p:nvSpPr>
        <p:spPr>
          <a:xfrm>
            <a:off x="685800" y="5260000"/>
            <a:ext cx="3119018" cy="780000"/>
          </a:xfrm>
          <a:prstGeom prst="rect">
            <a:avLst/>
          </a:prstGeom>
          <a:noFill/>
          <a:ln/>
        </p:spPr>
        <p:txBody>
          <a:bodyPr wrap="square" lIns="0" tIns="0" rIns="0" bIns="0" rtlCol="0" anchor="ctr"/>
          <a:lstStyle/>
          <a:p>
            <a:pPr marL="0" indent="0" algn="ctr">
              <a:buNone/>
            </a:pPr>
            <a:r>
              <a:rPr lang="en-US" sz="2000" b="1" dirty="0">
                <a:solidFill>
                  <a:srgbClr val="1E2761"/>
                </a:solidFill>
                <a:latin typeface="Times New Roman" panose="02020603050405020304" pitchFamily="18" charset="0"/>
                <a:cs typeface="Times New Roman" panose="02020603050405020304" pitchFamily="18" charset="0"/>
              </a:rPr>
              <a:t>&lt;N/w, Subnet, Host&gt;</a:t>
            </a:r>
            <a:endParaRPr lang="en-US" sz="2000" dirty="0"/>
          </a:p>
          <a:p>
            <a:pPr marL="0" indent="0" algn="ctr">
              <a:spcBef>
                <a:spcPts val="300"/>
              </a:spcBef>
              <a:buNone/>
            </a:pPr>
            <a:r>
              <a:rPr lang="en-US" sz="1000" dirty="0">
                <a:solidFill>
                  <a:srgbClr val="6B7694"/>
                </a:solidFill>
                <a:latin typeface="Times New Roman" panose="02020603050405020304" pitchFamily="18" charset="0"/>
                <a:cs typeface="Times New Roman" panose="02020603050405020304" pitchFamily="18" charset="0"/>
              </a:rPr>
              <a:t>Subnetted address format</a:t>
            </a:r>
            <a:endParaRPr lang="en-US" sz="1000" dirty="0"/>
          </a:p>
        </p:txBody>
      </p:sp>
      <p:sp>
        <p:nvSpPr>
          <p:cNvPr id="101" name="Text 101"/>
          <p:cNvSpPr txBox="1"/>
          <p:nvPr/>
        </p:nvSpPr>
        <p:spPr>
          <a:xfrm>
            <a:off x="4536338" y="5260000"/>
            <a:ext cx="3119018" cy="780000"/>
          </a:xfrm>
          <a:prstGeom prst="rect">
            <a:avLst/>
          </a:prstGeom>
          <a:noFill/>
          <a:ln/>
        </p:spPr>
        <p:txBody>
          <a:bodyPr wrap="square" lIns="0" tIns="0" rIns="0" bIns="0" rtlCol="0" anchor="ctr"/>
          <a:lstStyle/>
          <a:p>
            <a:pPr marL="0" indent="0" algn="ctr">
              <a:buNone/>
            </a:pPr>
            <a:r>
              <a:rPr lang="en-US" sz="2000" b="1" dirty="0">
                <a:solidFill>
                  <a:srgbClr val="1E2761"/>
                </a:solidFill>
                <a:latin typeface="Times New Roman" panose="02020603050405020304" pitchFamily="18" charset="0"/>
                <a:cs typeface="Times New Roman" panose="02020603050405020304" pitchFamily="18" charset="0"/>
              </a:rPr>
              <a:t>SNID + 1  to  BCIP − 1</a:t>
            </a:r>
            <a:endParaRPr lang="en-US" sz="2000" dirty="0"/>
          </a:p>
          <a:p>
            <a:pPr marL="0" indent="0" algn="ctr">
              <a:spcBef>
                <a:spcPts val="300"/>
              </a:spcBef>
              <a:buNone/>
            </a:pPr>
            <a:r>
              <a:rPr lang="en-US" sz="1000" dirty="0">
                <a:solidFill>
                  <a:srgbClr val="6B7694"/>
                </a:solidFill>
                <a:latin typeface="Times New Roman" panose="02020603050405020304" pitchFamily="18" charset="0"/>
                <a:cs typeface="Times New Roman" panose="02020603050405020304" pitchFamily="18" charset="0"/>
              </a:rPr>
              <a:t>Assignable host range</a:t>
            </a:r>
            <a:endParaRPr lang="en-US" sz="1000" dirty="0"/>
          </a:p>
        </p:txBody>
      </p:sp>
      <p:sp>
        <p:nvSpPr>
          <p:cNvPr id="102" name="Text 102"/>
          <p:cNvSpPr txBox="1"/>
          <p:nvPr/>
        </p:nvSpPr>
        <p:spPr>
          <a:xfrm>
            <a:off x="8386877" y="5260000"/>
            <a:ext cx="3119018" cy="780000"/>
          </a:xfrm>
          <a:prstGeom prst="rect">
            <a:avLst/>
          </a:prstGeom>
          <a:noFill/>
          <a:ln/>
        </p:spPr>
        <p:txBody>
          <a:bodyPr wrap="square" lIns="0" tIns="0" rIns="0" bIns="0" rtlCol="0" anchor="ctr"/>
          <a:lstStyle/>
          <a:p>
            <a:pPr marL="0" indent="0" algn="ctr">
              <a:buNone/>
            </a:pPr>
            <a:r>
              <a:rPr lang="en-US" sz="2000" b="1" dirty="0">
                <a:solidFill>
                  <a:srgbClr val="1E2761"/>
                </a:solidFill>
                <a:latin typeface="Times New Roman" panose="02020603050405020304" pitchFamily="18" charset="0"/>
                <a:cs typeface="Times New Roman" panose="02020603050405020304" pitchFamily="18" charset="0"/>
              </a:rPr>
              <a:t>255.255.255.128</a:t>
            </a:r>
            <a:endParaRPr lang="en-US" sz="2000" dirty="0"/>
          </a:p>
          <a:p>
            <a:pPr marL="0" indent="0" algn="ctr">
              <a:spcBef>
                <a:spcPts val="300"/>
              </a:spcBef>
              <a:buNone/>
            </a:pPr>
            <a:r>
              <a:rPr lang="en-US" sz="1000" dirty="0">
                <a:solidFill>
                  <a:srgbClr val="6B7694"/>
                </a:solidFill>
                <a:latin typeface="Times New Roman" panose="02020603050405020304" pitchFamily="18" charset="0"/>
                <a:cs typeface="Times New Roman" panose="02020603050405020304" pitchFamily="18" charset="0"/>
              </a:rPr>
              <a:t>Subnet mask for /25</a:t>
            </a:r>
            <a:endParaRPr lang="en-US" sz="1000" dirty="0"/>
          </a:p>
        </p:txBody>
      </p:sp>
      <p:sp>
        <p:nvSpPr>
          <p:cNvPr id="48" name="Text 46"/>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6B7694"/>
                </a:solidFill>
                <a:latin typeface="Times New Roman" panose="02020603050405020304" pitchFamily="18" charset="0"/>
                <a:ea typeface="Calibri" pitchFamily="34" charset="-122"/>
                <a:cs typeface="Times New Roman" panose="02020603050405020304" pitchFamily="18" charset="0"/>
              </a:rPr>
              <a:t>12</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Times New Roman" panose="02020603050405020304" pitchFamily="18" charset="0"/>
                <a:ea typeface="Cambria" pitchFamily="34" charset="-122"/>
                <a:cs typeface="Times New Roman" panose="02020603050405020304" pitchFamily="18" charset="0"/>
              </a:rPr>
              <a:t>Methodology / Approach</a:t>
            </a:r>
            <a:endParaRPr lang="en-US" sz="2800" dirty="0">
              <a:latin typeface="Times New Roman" panose="02020603050405020304" pitchFamily="18" charset="0"/>
              <a:cs typeface="Times New Roman" panose="02020603050405020304" pitchFamily="18" charset="0"/>
            </a:endParaRPr>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Times New Roman" panose="02020603050405020304" pitchFamily="18" charset="0"/>
                <a:ea typeface="Calibri" pitchFamily="34" charset="-122"/>
                <a:cs typeface="Times New Roman" panose="02020603050405020304" pitchFamily="18" charset="0"/>
              </a:rPr>
              <a:t>SECTION 05</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Text 4"/>
          <p:cNvSpPr txBox="1"/>
          <p:nvPr/>
        </p:nvSpPr>
        <p:spPr>
          <a:xfrm>
            <a:off x="457200" y="1152144"/>
            <a:ext cx="11277295" cy="365760"/>
          </a:xfrm>
          <a:prstGeom prst="rect">
            <a:avLst/>
          </a:prstGeom>
          <a:noFill/>
          <a:ln/>
        </p:spPr>
        <p:txBody>
          <a:bodyPr wrap="square" lIns="0" tIns="0" rIns="0" bIns="0" rtlCol="0" anchor="ctr"/>
          <a:lstStyle/>
          <a:p>
            <a:pPr marL="0" indent="0">
              <a:buNone/>
            </a:pPr>
            <a:r>
              <a:rPr lang="en-US" sz="1500" b="1" dirty="0">
                <a:solidFill>
                  <a:srgbClr val="1E2761"/>
                </a:solidFill>
                <a:latin typeface="Times New Roman" panose="02020603050405020304" pitchFamily="18" charset="0"/>
                <a:ea typeface="Cambria" pitchFamily="34" charset="-122"/>
                <a:cs typeface="Times New Roman" panose="02020603050405020304" pitchFamily="18" charset="0"/>
              </a:rPr>
              <a:t>University Network Design using Cisco Packet Tracer</a:t>
            </a:r>
            <a:endParaRPr lang="en-US" sz="1500" dirty="0">
              <a:latin typeface="Times New Roman" panose="02020603050405020304" pitchFamily="18" charset="0"/>
              <a:cs typeface="Times New Roman" panose="02020603050405020304" pitchFamily="18" charset="0"/>
            </a:endParaRPr>
          </a:p>
        </p:txBody>
      </p:sp>
      <p:sp>
        <p:nvSpPr>
          <p:cNvPr id="7" name="Text 5"/>
          <p:cNvSpPr txBox="1"/>
          <p:nvPr/>
        </p:nvSpPr>
        <p:spPr>
          <a:xfrm>
            <a:off x="457200" y="1572768"/>
            <a:ext cx="5486400" cy="1691640"/>
          </a:xfrm>
          <a:prstGeom prst="rect">
            <a:avLst/>
          </a:prstGeom>
          <a:noFill/>
          <a:ln/>
        </p:spPr>
        <p:txBody>
          <a:bodyPr wrap="square" lIns="0" tIns="0" rIns="0" bIns="0" rtlCol="0" anchor="t"/>
          <a:lstStyle/>
          <a:p>
            <a:pPr marL="177800" indent="-177800" algn="just">
              <a:lnSpc>
                <a:spcPct val="105000"/>
              </a:lnSpc>
              <a:spcAft>
                <a:spcPts val="800"/>
              </a:spcAft>
              <a:buSzPct val="100000"/>
              <a:buChar char="▪"/>
            </a:pPr>
            <a:r>
              <a:rPr lang="en-US" sz="1200" dirty="0">
                <a:latin typeface="Times New Roman" panose="02020603050405020304" pitchFamily="18" charset="0"/>
                <a:ea typeface="Calibri" pitchFamily="34" charset="-122"/>
                <a:cs typeface="Times New Roman" panose="02020603050405020304" pitchFamily="18" charset="0"/>
              </a:rPr>
              <a:t>Design and simulate a four-building university network using Cisco Packet Tracer.</a:t>
            </a:r>
            <a:endParaRPr lang="en-US" sz="1200" dirty="0">
              <a:latin typeface="Times New Roman" panose="02020603050405020304" pitchFamily="18" charset="0"/>
              <a:cs typeface="Times New Roman" panose="02020603050405020304" pitchFamily="18" charset="0"/>
            </a:endParaRPr>
          </a:p>
          <a:p>
            <a:pPr marL="177800" indent="-177800" algn="just">
              <a:lnSpc>
                <a:spcPct val="105000"/>
              </a:lnSpc>
              <a:spcAft>
                <a:spcPts val="800"/>
              </a:spcAft>
              <a:buSzPct val="100000"/>
              <a:buChar char="▪"/>
            </a:pPr>
            <a:r>
              <a:rPr lang="en-US" sz="1200" dirty="0">
                <a:latin typeface="Times New Roman" panose="02020603050405020304" pitchFamily="18" charset="0"/>
                <a:ea typeface="Calibri" pitchFamily="34" charset="-122"/>
                <a:cs typeface="Times New Roman" panose="02020603050405020304" pitchFamily="18" charset="0"/>
              </a:rPr>
              <a:t>Divide the university into separate departments and IP networks.</a:t>
            </a:r>
            <a:endParaRPr lang="en-US" sz="1200" dirty="0">
              <a:latin typeface="Times New Roman" panose="02020603050405020304" pitchFamily="18" charset="0"/>
              <a:cs typeface="Times New Roman" panose="02020603050405020304" pitchFamily="18" charset="0"/>
            </a:endParaRPr>
          </a:p>
          <a:p>
            <a:pPr marL="177800" indent="-177800" algn="just">
              <a:lnSpc>
                <a:spcPct val="105000"/>
              </a:lnSpc>
              <a:spcAft>
                <a:spcPts val="800"/>
              </a:spcAft>
              <a:buSzPct val="100000"/>
              <a:buChar char="▪"/>
            </a:pPr>
            <a:r>
              <a:rPr lang="en-US" sz="1200" dirty="0">
                <a:latin typeface="Times New Roman" panose="02020603050405020304" pitchFamily="18" charset="0"/>
                <a:ea typeface="Calibri" pitchFamily="34" charset="-122"/>
                <a:cs typeface="Times New Roman" panose="02020603050405020304" pitchFamily="18" charset="0"/>
              </a:rPr>
              <a:t>Implement VLANs to logically separate users and improve network security.</a:t>
            </a:r>
            <a:endParaRPr lang="en-US" sz="1200" dirty="0">
              <a:latin typeface="Times New Roman" panose="02020603050405020304" pitchFamily="18" charset="0"/>
              <a:cs typeface="Times New Roman" panose="02020603050405020304" pitchFamily="18" charset="0"/>
            </a:endParaRPr>
          </a:p>
          <a:p>
            <a:pPr marL="177800" indent="-177800" algn="just">
              <a:lnSpc>
                <a:spcPct val="105000"/>
              </a:lnSpc>
              <a:spcAft>
                <a:spcPts val="800"/>
              </a:spcAft>
              <a:buSzPct val="100000"/>
              <a:buChar char="▪"/>
            </a:pPr>
            <a:r>
              <a:rPr lang="en-US" sz="1200" dirty="0">
                <a:latin typeface="Times New Roman" panose="02020603050405020304" pitchFamily="18" charset="0"/>
                <a:ea typeface="Calibri" pitchFamily="34" charset="-122"/>
                <a:cs typeface="Times New Roman" panose="02020603050405020304" pitchFamily="18" charset="0"/>
              </a:rPr>
              <a:t>Configure inter-VLAN routing for communication between departments.</a:t>
            </a:r>
            <a:endParaRPr lang="en-US" sz="1200" dirty="0">
              <a:latin typeface="Times New Roman" panose="02020603050405020304" pitchFamily="18" charset="0"/>
              <a:cs typeface="Times New Roman" panose="02020603050405020304" pitchFamily="18" charset="0"/>
            </a:endParaRPr>
          </a:p>
        </p:txBody>
      </p:sp>
      <p:sp>
        <p:nvSpPr>
          <p:cNvPr id="8" name="Text 6"/>
          <p:cNvSpPr txBox="1"/>
          <p:nvPr/>
        </p:nvSpPr>
        <p:spPr>
          <a:xfrm>
            <a:off x="6245352" y="1572768"/>
            <a:ext cx="5486400" cy="1691640"/>
          </a:xfrm>
          <a:prstGeom prst="rect">
            <a:avLst/>
          </a:prstGeom>
          <a:noFill/>
          <a:ln/>
        </p:spPr>
        <p:txBody>
          <a:bodyPr wrap="square" lIns="0" tIns="0" rIns="0" bIns="0" rtlCol="0" anchor="t"/>
          <a:lstStyle/>
          <a:p>
            <a:pPr marL="177800" indent="-177800" algn="just">
              <a:lnSpc>
                <a:spcPct val="105000"/>
              </a:lnSpc>
              <a:spcAft>
                <a:spcPts val="800"/>
              </a:spcAft>
              <a:buSzPct val="100000"/>
              <a:buChar char="▪"/>
            </a:pPr>
            <a:r>
              <a:rPr lang="en-US" sz="1200" dirty="0">
                <a:latin typeface="Times New Roman" panose="02020603050405020304" pitchFamily="18" charset="0"/>
                <a:ea typeface="Calibri" pitchFamily="34" charset="-122"/>
                <a:cs typeface="Times New Roman" panose="02020603050405020304" pitchFamily="18" charset="0"/>
              </a:rPr>
              <a:t>Use RIPv2 for internal dynamic routing.</a:t>
            </a:r>
            <a:endParaRPr lang="en-US" sz="1200" dirty="0">
              <a:latin typeface="Times New Roman" panose="02020603050405020304" pitchFamily="18" charset="0"/>
              <a:cs typeface="Times New Roman" panose="02020603050405020304" pitchFamily="18" charset="0"/>
            </a:endParaRPr>
          </a:p>
          <a:p>
            <a:pPr marL="177800" indent="-177800" algn="just">
              <a:lnSpc>
                <a:spcPct val="105000"/>
              </a:lnSpc>
              <a:spcAft>
                <a:spcPts val="800"/>
              </a:spcAft>
              <a:buSzPct val="100000"/>
              <a:buChar char="▪"/>
            </a:pPr>
            <a:r>
              <a:rPr lang="en-IN" sz="1200">
                <a:effectLst/>
                <a:latin typeface="Times New Roman" panose="02020603050405020304" pitchFamily="18" charset="0"/>
                <a:ea typeface="Calibri" panose="020F0502020204030204" pitchFamily="34" charset="0"/>
                <a:cs typeface="Times New Roman" panose="02020603050405020304" pitchFamily="18" charset="0"/>
              </a:rPr>
              <a:t>RIP configured on the Cloud Router</a:t>
            </a:r>
            <a:endParaRPr lang="en-US" sz="1200">
              <a:latin typeface="Times New Roman" panose="02020603050405020304" pitchFamily="18" charset="0"/>
              <a:cs typeface="Times New Roman" panose="02020603050405020304" pitchFamily="18" charset="0"/>
            </a:endParaRPr>
          </a:p>
          <a:p>
            <a:pPr marL="177800" indent="-177800" algn="just">
              <a:lnSpc>
                <a:spcPct val="105000"/>
              </a:lnSpc>
              <a:spcAft>
                <a:spcPts val="800"/>
              </a:spcAft>
              <a:buSzPct val="100000"/>
              <a:buChar char="▪"/>
            </a:pPr>
            <a:r>
              <a:rPr lang="en-US" sz="1200">
                <a:latin typeface="Times New Roman" panose="02020603050405020304" pitchFamily="18" charset="0"/>
                <a:ea typeface="Calibri" pitchFamily="34" charset="-122"/>
                <a:cs typeface="Times New Roman" panose="02020603050405020304" pitchFamily="18" charset="0"/>
              </a:rPr>
              <a:t>Implement </a:t>
            </a:r>
            <a:r>
              <a:rPr lang="en-IN" sz="1200">
                <a:effectLst/>
                <a:latin typeface="Times New Roman" panose="02020603050405020304" pitchFamily="18" charset="0"/>
                <a:ea typeface="Calibri" panose="020F0502020204030204" pitchFamily="34" charset="0"/>
                <a:cs typeface="Times New Roman" panose="02020603050405020304" pitchFamily="18" charset="0"/>
              </a:rPr>
              <a:t>DHCP pools which are configured on the routers for every VLAN</a:t>
            </a:r>
            <a:r>
              <a:rPr lang="en-US" sz="1200">
                <a:latin typeface="Times New Roman" panose="02020603050405020304" pitchFamily="18" charset="0"/>
                <a:ea typeface="Calibri" pitchFamily="34" charset="-122"/>
                <a:cs typeface="Times New Roman" panose="02020603050405020304" pitchFamily="18" charset="0"/>
              </a:rPr>
              <a:t>.</a:t>
            </a:r>
            <a:endParaRPr lang="en-US" sz="1200">
              <a:latin typeface="Times New Roman" panose="02020603050405020304" pitchFamily="18" charset="0"/>
              <a:cs typeface="Times New Roman" panose="02020603050405020304" pitchFamily="18" charset="0"/>
            </a:endParaRPr>
          </a:p>
          <a:p>
            <a:pPr marL="177800" indent="-177800" algn="just">
              <a:lnSpc>
                <a:spcPct val="105000"/>
              </a:lnSpc>
              <a:spcAft>
                <a:spcPts val="800"/>
              </a:spcAft>
              <a:buSzPct val="100000"/>
              <a:buChar char="▪"/>
            </a:pPr>
            <a:r>
              <a:rPr lang="en-US" sz="1200">
                <a:latin typeface="Times New Roman" panose="02020603050405020304" pitchFamily="18" charset="0"/>
                <a:ea typeface="Calibri" pitchFamily="34" charset="-122"/>
                <a:cs typeface="Times New Roman" panose="02020603050405020304" pitchFamily="18" charset="0"/>
              </a:rPr>
              <a:t>Verify </a:t>
            </a:r>
            <a:r>
              <a:rPr lang="en-US" sz="1200" dirty="0">
                <a:latin typeface="Times New Roman" panose="02020603050405020304" pitchFamily="18" charset="0"/>
                <a:ea typeface="Calibri" pitchFamily="34" charset="-122"/>
                <a:cs typeface="Times New Roman" panose="02020603050405020304" pitchFamily="18" charset="0"/>
              </a:rPr>
              <a:t>end-to-end connectivity between PCs, printers, internal servers, and the external email server.</a:t>
            </a:r>
            <a:endParaRPr lang="en-US" sz="1200" dirty="0">
              <a:latin typeface="Times New Roman" panose="02020603050405020304" pitchFamily="18" charset="0"/>
              <a:cs typeface="Times New Roman" panose="02020603050405020304" pitchFamily="18" charset="0"/>
            </a:endParaRPr>
          </a:p>
        </p:txBody>
      </p:sp>
      <p:sp>
        <p:nvSpPr>
          <p:cNvPr id="9" name="Text 7"/>
          <p:cNvSpPr txBox="1"/>
          <p:nvPr/>
        </p:nvSpPr>
        <p:spPr>
          <a:xfrm>
            <a:off x="457200" y="3429000"/>
            <a:ext cx="11277295" cy="320040"/>
          </a:xfrm>
          <a:prstGeom prst="rect">
            <a:avLst/>
          </a:prstGeom>
          <a:noFill/>
          <a:ln/>
        </p:spPr>
        <p:txBody>
          <a:bodyPr wrap="square" lIns="0" tIns="0" rIns="0" bIns="0" rtlCol="0" anchor="ctr"/>
          <a:lstStyle/>
          <a:p>
            <a:pPr marL="0" indent="0">
              <a:buNone/>
            </a:pPr>
            <a:r>
              <a:rPr lang="en-US" sz="1400" b="1" dirty="0">
                <a:solidFill>
                  <a:srgbClr val="1E2761"/>
                </a:solidFill>
                <a:latin typeface="Times New Roman" panose="02020603050405020304" pitchFamily="18" charset="0"/>
                <a:ea typeface="Cambria" pitchFamily="34" charset="-122"/>
                <a:cs typeface="Times New Roman" panose="02020603050405020304" pitchFamily="18" charset="0"/>
              </a:rPr>
              <a:t>Campus Building Allocation</a:t>
            </a:r>
            <a:endParaRPr lang="en-US" sz="1400" dirty="0">
              <a:latin typeface="Times New Roman" panose="02020603050405020304" pitchFamily="18" charset="0"/>
              <a:cs typeface="Times New Roman" panose="02020603050405020304" pitchFamily="18" charset="0"/>
            </a:endParaRPr>
          </a:p>
        </p:txBody>
      </p:sp>
      <p:graphicFrame>
        <p:nvGraphicFramePr>
          <p:cNvPr id="10" name="Table 0"/>
          <p:cNvGraphicFramePr>
            <a:graphicFrameLocks noGrp="1"/>
          </p:cNvGraphicFramePr>
          <p:nvPr>
            <p:extLst>
              <p:ext uri="{D42A27DB-BD31-4B8C-83A1-F6EECF244321}">
                <p14:modId xmlns:p14="http://schemas.microsoft.com/office/powerpoint/2010/main" val="3919052863"/>
              </p:ext>
            </p:extLst>
          </p:nvPr>
        </p:nvGraphicFramePr>
        <p:xfrm>
          <a:off x="457200" y="3813048"/>
          <a:ext cx="11274552" cy="2215896"/>
        </p:xfrm>
        <a:graphic>
          <a:graphicData uri="http://schemas.openxmlformats.org/drawingml/2006/table">
            <a:tbl>
              <a:tblPr/>
              <a:tblGrid>
                <a:gridCol w="1463040">
                  <a:extLst>
                    <a:ext uri="{9D8B030D-6E8A-4147-A177-3AD203B41FA5}">
                      <a16:colId xmlns:a16="http://schemas.microsoft.com/office/drawing/2014/main" val="20000"/>
                    </a:ext>
                  </a:extLst>
                </a:gridCol>
                <a:gridCol w="6049384">
                  <a:extLst>
                    <a:ext uri="{9D8B030D-6E8A-4147-A177-3AD203B41FA5}">
                      <a16:colId xmlns:a16="http://schemas.microsoft.com/office/drawing/2014/main" val="20001"/>
                    </a:ext>
                  </a:extLst>
                </a:gridCol>
                <a:gridCol w="3762128">
                  <a:extLst>
                    <a:ext uri="{9D8B030D-6E8A-4147-A177-3AD203B41FA5}">
                      <a16:colId xmlns:a16="http://schemas.microsoft.com/office/drawing/2014/main" val="20002"/>
                    </a:ext>
                  </a:extLst>
                </a:gridCol>
              </a:tblGrid>
              <a:tr h="420624">
                <a:tc>
                  <a:txBody>
                    <a:bodyPr/>
                    <a:lstStyle/>
                    <a:p>
                      <a:pPr marL="0" indent="0" algn="just">
                        <a:buNone/>
                      </a:pPr>
                      <a:r>
                        <a:rPr lang="en-US" sz="1250" b="1" dirty="0">
                          <a:solidFill>
                            <a:srgbClr val="FFFFFF"/>
                          </a:solidFill>
                          <a:latin typeface="Times New Roman" panose="02020603050405020304" pitchFamily="18" charset="0"/>
                          <a:ea typeface="Calibri" pitchFamily="34" charset="-122"/>
                          <a:cs typeface="Times New Roman" panose="02020603050405020304" pitchFamily="18" charset="0"/>
                        </a:rPr>
                        <a:t>Building</a:t>
                      </a:r>
                      <a:endParaRPr lang="en-US" sz="1250" dirty="0">
                        <a:latin typeface="Times New Roman" panose="02020603050405020304" pitchFamily="18" charset="0"/>
                        <a:ea typeface="Calibri" charset="0"/>
                        <a:cs typeface="Times New Roman" panose="02020603050405020304" pitchFamily="18" charset="0"/>
                      </a:endParaRPr>
                    </a:p>
                  </a:txBody>
                  <a:tcPr marL="127000" marR="127000" marT="76200" marB="76200" anchor="ctr">
                    <a:lnL w="12700" cap="flat" cmpd="sng" algn="ctr">
                      <a:solidFill>
                        <a:srgbClr val="DCE4F5"/>
                      </a:solidFill>
                      <a:prstDash val="solid"/>
                      <a:round/>
                      <a:headEnd type="none" w="med" len="med"/>
                      <a:tailEnd type="none" w="med" len="med"/>
                    </a:lnL>
                    <a:lnR w="12700" cap="flat" cmpd="sng" algn="ctr">
                      <a:solidFill>
                        <a:srgbClr val="DCE4F5"/>
                      </a:solidFill>
                      <a:prstDash val="solid"/>
                      <a:round/>
                      <a:headEnd type="none" w="med" len="med"/>
                      <a:tailEnd type="none" w="med" len="med"/>
                    </a:lnR>
                    <a:lnT w="12700" cap="flat" cmpd="sng" algn="ctr">
                      <a:solidFill>
                        <a:srgbClr val="DCE4F5"/>
                      </a:solidFill>
                      <a:prstDash val="solid"/>
                      <a:round/>
                      <a:headEnd type="none" w="med" len="med"/>
                      <a:tailEnd type="none" w="med" len="med"/>
                    </a:lnT>
                    <a:lnB w="12700" cap="flat" cmpd="sng" algn="ctr">
                      <a:solidFill>
                        <a:srgbClr val="DCE4F5"/>
                      </a:solidFill>
                      <a:prstDash val="solid"/>
                      <a:round/>
                      <a:headEnd type="none" w="med" len="med"/>
                      <a:tailEnd type="none" w="med" len="med"/>
                    </a:lnB>
                    <a:solidFill>
                      <a:srgbClr val="1E2761"/>
                    </a:solidFill>
                  </a:tcPr>
                </a:tc>
                <a:tc>
                  <a:txBody>
                    <a:bodyPr/>
                    <a:lstStyle/>
                    <a:p>
                      <a:pPr marL="0" indent="0" algn="just">
                        <a:buNone/>
                      </a:pPr>
                      <a:r>
                        <a:rPr lang="en-US" sz="1250" b="1" dirty="0">
                          <a:solidFill>
                            <a:srgbClr val="FFFFFF"/>
                          </a:solidFill>
                          <a:latin typeface="Times New Roman" panose="02020603050405020304" pitchFamily="18" charset="0"/>
                          <a:ea typeface="Calibri" pitchFamily="34" charset="-122"/>
                          <a:cs typeface="Times New Roman" panose="02020603050405020304" pitchFamily="18" charset="0"/>
                        </a:rPr>
                        <a:t>Department / Area</a:t>
                      </a:r>
                      <a:endParaRPr lang="en-US" sz="1250" dirty="0">
                        <a:latin typeface="Times New Roman" panose="02020603050405020304" pitchFamily="18" charset="0"/>
                        <a:ea typeface="Calibri" charset="0"/>
                        <a:cs typeface="Times New Roman" panose="02020603050405020304" pitchFamily="18" charset="0"/>
                      </a:endParaRPr>
                    </a:p>
                  </a:txBody>
                  <a:tcPr marL="127000" marR="127000" marT="76200" marB="76200" anchor="ctr">
                    <a:lnL w="12700" cap="flat" cmpd="sng" algn="ctr">
                      <a:solidFill>
                        <a:srgbClr val="DCE4F5"/>
                      </a:solidFill>
                      <a:prstDash val="solid"/>
                      <a:round/>
                      <a:headEnd type="none" w="med" len="med"/>
                      <a:tailEnd type="none" w="med" len="med"/>
                    </a:lnL>
                    <a:lnR w="12700" cap="flat" cmpd="sng" algn="ctr">
                      <a:solidFill>
                        <a:srgbClr val="DCE4F5"/>
                      </a:solidFill>
                      <a:prstDash val="solid"/>
                      <a:round/>
                      <a:headEnd type="none" w="med" len="med"/>
                      <a:tailEnd type="none" w="med" len="med"/>
                    </a:lnR>
                    <a:lnT w="12700" cap="flat" cmpd="sng" algn="ctr">
                      <a:solidFill>
                        <a:srgbClr val="DCE4F5"/>
                      </a:solidFill>
                      <a:prstDash val="solid"/>
                      <a:round/>
                      <a:headEnd type="none" w="med" len="med"/>
                      <a:tailEnd type="none" w="med" len="med"/>
                    </a:lnT>
                    <a:lnB w="12700" cap="flat" cmpd="sng" algn="ctr">
                      <a:solidFill>
                        <a:srgbClr val="DCE4F5"/>
                      </a:solidFill>
                      <a:prstDash val="solid"/>
                      <a:round/>
                      <a:headEnd type="none" w="med" len="med"/>
                      <a:tailEnd type="none" w="med" len="med"/>
                    </a:lnB>
                    <a:solidFill>
                      <a:srgbClr val="1E2761"/>
                    </a:solidFill>
                  </a:tcPr>
                </a:tc>
                <a:tc>
                  <a:txBody>
                    <a:bodyPr/>
                    <a:lstStyle/>
                    <a:p>
                      <a:pPr marL="0" indent="0" algn="just">
                        <a:buNone/>
                      </a:pPr>
                      <a:r>
                        <a:rPr lang="en-US" sz="1250" b="1" dirty="0">
                          <a:solidFill>
                            <a:srgbClr val="FFFFFF"/>
                          </a:solidFill>
                          <a:latin typeface="Times New Roman" panose="02020603050405020304" pitchFamily="18" charset="0"/>
                          <a:ea typeface="Calibri" pitchFamily="34" charset="-122"/>
                          <a:cs typeface="Times New Roman" panose="02020603050405020304" pitchFamily="18" charset="0"/>
                        </a:rPr>
                        <a:t>Main Components</a:t>
                      </a:r>
                      <a:endParaRPr lang="en-US" sz="1250" dirty="0">
                        <a:latin typeface="Times New Roman" panose="02020603050405020304" pitchFamily="18" charset="0"/>
                        <a:ea typeface="Calibri" charset="0"/>
                        <a:cs typeface="Times New Roman" panose="02020603050405020304" pitchFamily="18" charset="0"/>
                      </a:endParaRPr>
                    </a:p>
                  </a:txBody>
                  <a:tcPr marL="127000" marR="127000" marT="76200" marB="76200" anchor="ctr">
                    <a:lnL w="12700" cap="flat" cmpd="sng" algn="ctr">
                      <a:solidFill>
                        <a:srgbClr val="DCE4F5"/>
                      </a:solidFill>
                      <a:prstDash val="solid"/>
                      <a:round/>
                      <a:headEnd type="none" w="med" len="med"/>
                      <a:tailEnd type="none" w="med" len="med"/>
                    </a:lnL>
                    <a:lnR w="12700" cap="flat" cmpd="sng" algn="ctr">
                      <a:solidFill>
                        <a:srgbClr val="DCE4F5"/>
                      </a:solidFill>
                      <a:prstDash val="solid"/>
                      <a:round/>
                      <a:headEnd type="none" w="med" len="med"/>
                      <a:tailEnd type="none" w="med" len="med"/>
                    </a:lnR>
                    <a:lnT w="12700" cap="flat" cmpd="sng" algn="ctr">
                      <a:solidFill>
                        <a:srgbClr val="DCE4F5"/>
                      </a:solidFill>
                      <a:prstDash val="solid"/>
                      <a:round/>
                      <a:headEnd type="none" w="med" len="med"/>
                      <a:tailEnd type="none" w="med" len="med"/>
                    </a:lnT>
                    <a:lnB w="12700" cap="flat" cmpd="sng" algn="ctr">
                      <a:solidFill>
                        <a:srgbClr val="DCE4F5"/>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20624">
                <a:tc>
                  <a:txBody>
                    <a:bodyPr/>
                    <a:lstStyle/>
                    <a:p>
                      <a:pPr marL="0" indent="0" algn="just">
                        <a:buNone/>
                      </a:pPr>
                      <a:r>
                        <a:rPr lang="en-US" sz="1250" b="1" dirty="0">
                          <a:solidFill>
                            <a:srgbClr val="1B2340"/>
                          </a:solidFill>
                          <a:latin typeface="Times New Roman" panose="02020603050405020304" pitchFamily="18" charset="0"/>
                          <a:ea typeface="Calibri" pitchFamily="34" charset="-122"/>
                          <a:cs typeface="Times New Roman" panose="02020603050405020304" pitchFamily="18" charset="0"/>
                        </a:rPr>
                        <a:t>A</a:t>
                      </a:r>
                      <a:endParaRPr lang="en-US" sz="1250" dirty="0">
                        <a:latin typeface="Times New Roman" panose="02020603050405020304" pitchFamily="18" charset="0"/>
                        <a:ea typeface="Calibri" charset="0"/>
                        <a:cs typeface="Times New Roman" panose="02020603050405020304" pitchFamily="18" charset="0"/>
                      </a:endParaRPr>
                    </a:p>
                  </a:txBody>
                  <a:tcPr marL="127000" marR="127000" marT="76200" marB="76200" anchor="ctr">
                    <a:lnL w="12700" cap="flat" cmpd="sng" algn="ctr">
                      <a:solidFill>
                        <a:srgbClr val="DCE4F5"/>
                      </a:solidFill>
                      <a:prstDash val="solid"/>
                      <a:round/>
                      <a:headEnd type="none" w="med" len="med"/>
                      <a:tailEnd type="none" w="med" len="med"/>
                    </a:lnL>
                    <a:lnR w="12700" cap="flat" cmpd="sng" algn="ctr">
                      <a:solidFill>
                        <a:srgbClr val="DCE4F5"/>
                      </a:solidFill>
                      <a:prstDash val="solid"/>
                      <a:round/>
                      <a:headEnd type="none" w="med" len="med"/>
                      <a:tailEnd type="none" w="med" len="med"/>
                    </a:lnR>
                    <a:lnT w="12700" cap="flat" cmpd="sng" algn="ctr">
                      <a:solidFill>
                        <a:srgbClr val="DCE4F5"/>
                      </a:solidFill>
                      <a:prstDash val="solid"/>
                      <a:round/>
                      <a:headEnd type="none" w="med" len="med"/>
                      <a:tailEnd type="none" w="med" len="med"/>
                    </a:lnT>
                    <a:lnB w="12700" cap="flat" cmpd="sng" algn="ctr">
                      <a:solidFill>
                        <a:srgbClr val="DCE4F5"/>
                      </a:solidFill>
                      <a:prstDash val="solid"/>
                      <a:round/>
                      <a:headEnd type="none" w="med" len="med"/>
                      <a:tailEnd type="none" w="med" len="med"/>
                    </a:lnB>
                    <a:solidFill>
                      <a:srgbClr val="EEF3FC"/>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50">
                          <a:solidFill>
                            <a:srgbClr val="1B2340"/>
                          </a:solidFill>
                          <a:latin typeface="Times New Roman" panose="02020603050405020304" pitchFamily="18" charset="0"/>
                          <a:ea typeface="Calibri" pitchFamily="34" charset="-122"/>
                          <a:cs typeface="Times New Roman" panose="02020603050405020304" pitchFamily="18" charset="0"/>
                        </a:rPr>
                        <a:t>Admission,Placement,Examination,CSE</a:t>
                      </a:r>
                      <a:endParaRPr lang="en-US" sz="1250">
                        <a:latin typeface="Times New Roman" panose="02020603050405020304" pitchFamily="18" charset="0"/>
                        <a:ea typeface="Calibri" charset="0"/>
                        <a:cs typeface="Times New Roman" panose="02020603050405020304" pitchFamily="18" charset="0"/>
                      </a:endParaRPr>
                    </a:p>
                    <a:p>
                      <a:pPr marL="0" indent="0" algn="just">
                        <a:buNone/>
                      </a:pPr>
                      <a:endParaRPr lang="en-US" sz="1250" dirty="0">
                        <a:latin typeface="Times New Roman" panose="02020603050405020304" pitchFamily="18" charset="0"/>
                        <a:ea typeface="Calibri" charset="0"/>
                        <a:cs typeface="Times New Roman" panose="02020603050405020304" pitchFamily="18" charset="0"/>
                      </a:endParaRPr>
                    </a:p>
                  </a:txBody>
                  <a:tcPr marL="127000" marR="127000" marT="76200" marB="76200" anchor="ctr">
                    <a:lnL w="12700" cap="flat" cmpd="sng" algn="ctr">
                      <a:solidFill>
                        <a:srgbClr val="DCE4F5"/>
                      </a:solidFill>
                      <a:prstDash val="solid"/>
                      <a:round/>
                      <a:headEnd type="none" w="med" len="med"/>
                      <a:tailEnd type="none" w="med" len="med"/>
                    </a:lnL>
                    <a:lnR w="12700" cap="flat" cmpd="sng" algn="ctr">
                      <a:solidFill>
                        <a:srgbClr val="DCE4F5"/>
                      </a:solidFill>
                      <a:prstDash val="solid"/>
                      <a:round/>
                      <a:headEnd type="none" w="med" len="med"/>
                      <a:tailEnd type="none" w="med" len="med"/>
                    </a:lnR>
                    <a:lnT w="12700" cap="flat" cmpd="sng" algn="ctr">
                      <a:solidFill>
                        <a:srgbClr val="DCE4F5"/>
                      </a:solidFill>
                      <a:prstDash val="solid"/>
                      <a:round/>
                      <a:headEnd type="none" w="med" len="med"/>
                      <a:tailEnd type="none" w="med" len="med"/>
                    </a:lnT>
                    <a:lnB w="12700" cap="flat" cmpd="sng" algn="ctr">
                      <a:solidFill>
                        <a:srgbClr val="DCE4F5"/>
                      </a:solidFill>
                      <a:prstDash val="solid"/>
                      <a:round/>
                      <a:headEnd type="none" w="med" len="med"/>
                      <a:tailEnd type="none" w="med" len="med"/>
                    </a:lnB>
                    <a:solidFill>
                      <a:srgbClr val="EEF3FC"/>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50">
                          <a:solidFill>
                            <a:srgbClr val="1B2340"/>
                          </a:solidFill>
                          <a:latin typeface="Times New Roman" panose="02020603050405020304" pitchFamily="18" charset="0"/>
                          <a:ea typeface="Calibri" pitchFamily="34" charset="-122"/>
                          <a:cs typeface="Times New Roman" panose="02020603050405020304" pitchFamily="18" charset="0"/>
                        </a:rPr>
                        <a:t>Administrative Offices</a:t>
                      </a:r>
                      <a:endParaRPr lang="en-US" sz="1250">
                        <a:latin typeface="Times New Roman" panose="02020603050405020304" pitchFamily="18" charset="0"/>
                        <a:ea typeface="Calibri" charset="0"/>
                        <a:cs typeface="Times New Roman" panose="02020603050405020304" pitchFamily="18" charset="0"/>
                      </a:endParaRPr>
                    </a:p>
                    <a:p>
                      <a:pPr marL="0" indent="0" algn="just">
                        <a:buNone/>
                      </a:pPr>
                      <a:endParaRPr lang="en-US" sz="1250" dirty="0">
                        <a:latin typeface="Times New Roman" panose="02020603050405020304" pitchFamily="18" charset="0"/>
                        <a:ea typeface="Calibri" charset="0"/>
                        <a:cs typeface="Times New Roman" panose="02020603050405020304" pitchFamily="18" charset="0"/>
                      </a:endParaRPr>
                    </a:p>
                  </a:txBody>
                  <a:tcPr marL="127000" marR="127000" marT="76200" marB="76200" anchor="ctr">
                    <a:lnL w="12700" cap="flat" cmpd="sng" algn="ctr">
                      <a:solidFill>
                        <a:srgbClr val="DCE4F5"/>
                      </a:solidFill>
                      <a:prstDash val="solid"/>
                      <a:round/>
                      <a:headEnd type="none" w="med" len="med"/>
                      <a:tailEnd type="none" w="med" len="med"/>
                    </a:lnL>
                    <a:lnR w="12700" cap="flat" cmpd="sng" algn="ctr">
                      <a:solidFill>
                        <a:srgbClr val="DCE4F5"/>
                      </a:solidFill>
                      <a:prstDash val="solid"/>
                      <a:round/>
                      <a:headEnd type="none" w="med" len="med"/>
                      <a:tailEnd type="none" w="med" len="med"/>
                    </a:lnR>
                    <a:lnT w="12700" cap="flat" cmpd="sng" algn="ctr">
                      <a:solidFill>
                        <a:srgbClr val="DCE4F5"/>
                      </a:solidFill>
                      <a:prstDash val="solid"/>
                      <a:round/>
                      <a:headEnd type="none" w="med" len="med"/>
                      <a:tailEnd type="none" w="med" len="med"/>
                    </a:lnT>
                    <a:lnB w="12700" cap="flat" cmpd="sng" algn="ctr">
                      <a:solidFill>
                        <a:srgbClr val="DCE4F5"/>
                      </a:solidFill>
                      <a:prstDash val="solid"/>
                      <a:round/>
                      <a:headEnd type="none" w="med" len="med"/>
                      <a:tailEnd type="none" w="med" len="med"/>
                    </a:lnB>
                    <a:solidFill>
                      <a:srgbClr val="EEF3FC"/>
                    </a:solidFill>
                  </a:tcPr>
                </a:tc>
                <a:extLst>
                  <a:ext uri="{0D108BD9-81ED-4DB2-BD59-A6C34878D82A}">
                    <a16:rowId xmlns:a16="http://schemas.microsoft.com/office/drawing/2014/main" val="10001"/>
                  </a:ext>
                </a:extLst>
              </a:tr>
              <a:tr h="420624">
                <a:tc>
                  <a:txBody>
                    <a:bodyPr/>
                    <a:lstStyle/>
                    <a:p>
                      <a:pPr marL="0" indent="0" algn="just">
                        <a:buNone/>
                      </a:pPr>
                      <a:r>
                        <a:rPr lang="en-US" sz="1250" b="1" dirty="0">
                          <a:solidFill>
                            <a:srgbClr val="1B2340"/>
                          </a:solidFill>
                          <a:latin typeface="Times New Roman" panose="02020603050405020304" pitchFamily="18" charset="0"/>
                          <a:ea typeface="Calibri" pitchFamily="34" charset="-122"/>
                          <a:cs typeface="Times New Roman" panose="02020603050405020304" pitchFamily="18" charset="0"/>
                        </a:rPr>
                        <a:t>B</a:t>
                      </a:r>
                      <a:endParaRPr lang="en-US" sz="1250" dirty="0">
                        <a:latin typeface="Times New Roman" panose="02020603050405020304" pitchFamily="18" charset="0"/>
                        <a:ea typeface="Calibri" charset="0"/>
                        <a:cs typeface="Times New Roman" panose="02020603050405020304" pitchFamily="18" charset="0"/>
                      </a:endParaRPr>
                    </a:p>
                  </a:txBody>
                  <a:tcPr marL="127000" marR="127000" marT="76200" marB="76200" anchor="ctr">
                    <a:lnL w="12700" cap="flat" cmpd="sng" algn="ctr">
                      <a:solidFill>
                        <a:srgbClr val="DCE4F5"/>
                      </a:solidFill>
                      <a:prstDash val="solid"/>
                      <a:round/>
                      <a:headEnd type="none" w="med" len="med"/>
                      <a:tailEnd type="none" w="med" len="med"/>
                    </a:lnL>
                    <a:lnR w="12700" cap="flat" cmpd="sng" algn="ctr">
                      <a:solidFill>
                        <a:srgbClr val="DCE4F5"/>
                      </a:solidFill>
                      <a:prstDash val="solid"/>
                      <a:round/>
                      <a:headEnd type="none" w="med" len="med"/>
                      <a:tailEnd type="none" w="med" len="med"/>
                    </a:lnR>
                    <a:lnT w="12700" cap="flat" cmpd="sng" algn="ctr">
                      <a:solidFill>
                        <a:srgbClr val="DCE4F5"/>
                      </a:solidFill>
                      <a:prstDash val="solid"/>
                      <a:round/>
                      <a:headEnd type="none" w="med" len="med"/>
                      <a:tailEnd type="none" w="med" len="med"/>
                    </a:lnT>
                    <a:lnB w="12700" cap="flat" cmpd="sng" algn="ctr">
                      <a:solidFill>
                        <a:srgbClr val="DCE4F5"/>
                      </a:solidFill>
                      <a:prstDash val="solid"/>
                      <a:round/>
                      <a:headEnd type="none" w="med" len="med"/>
                      <a:tailEnd type="none" w="med" len="med"/>
                    </a:lnB>
                    <a:solidFill>
                      <a:srgbClr val="FFFFFF"/>
                    </a:solidFill>
                  </a:tcPr>
                </a:tc>
                <a:tc>
                  <a:txBody>
                    <a:bodyPr/>
                    <a:lstStyle/>
                    <a:p>
                      <a:pPr marL="0" indent="0" algn="just">
                        <a:buNone/>
                      </a:pPr>
                      <a:r>
                        <a:rPr lang="en-US" sz="1250">
                          <a:solidFill>
                            <a:srgbClr val="1B2340"/>
                          </a:solidFill>
                          <a:latin typeface="Times New Roman" panose="02020603050405020304" pitchFamily="18" charset="0"/>
                          <a:ea typeface="Calibri" pitchFamily="34" charset="-122"/>
                          <a:cs typeface="Times New Roman" panose="02020603050405020304" pitchFamily="18" charset="0"/>
                        </a:rPr>
                        <a:t>EIE,EE</a:t>
                      </a:r>
                      <a:endParaRPr lang="en-US" sz="1250" dirty="0">
                        <a:latin typeface="Times New Roman" panose="02020603050405020304" pitchFamily="18" charset="0"/>
                        <a:ea typeface="Calibri" charset="0"/>
                        <a:cs typeface="Times New Roman" panose="02020603050405020304" pitchFamily="18" charset="0"/>
                      </a:endParaRPr>
                    </a:p>
                  </a:txBody>
                  <a:tcPr marL="127000" marR="127000" marT="76200" marB="76200" anchor="ctr">
                    <a:lnL w="12700" cap="flat" cmpd="sng" algn="ctr">
                      <a:solidFill>
                        <a:srgbClr val="DCE4F5"/>
                      </a:solidFill>
                      <a:prstDash val="solid"/>
                      <a:round/>
                      <a:headEnd type="none" w="med" len="med"/>
                      <a:tailEnd type="none" w="med" len="med"/>
                    </a:lnL>
                    <a:lnR w="12700" cap="flat" cmpd="sng" algn="ctr">
                      <a:solidFill>
                        <a:srgbClr val="DCE4F5"/>
                      </a:solidFill>
                      <a:prstDash val="solid"/>
                      <a:round/>
                      <a:headEnd type="none" w="med" len="med"/>
                      <a:tailEnd type="none" w="med" len="med"/>
                    </a:lnR>
                    <a:lnT w="12700" cap="flat" cmpd="sng" algn="ctr">
                      <a:solidFill>
                        <a:srgbClr val="DCE4F5"/>
                      </a:solidFill>
                      <a:prstDash val="solid"/>
                      <a:round/>
                      <a:headEnd type="none" w="med" len="med"/>
                      <a:tailEnd type="none" w="med" len="med"/>
                    </a:lnT>
                    <a:lnB w="12700" cap="flat" cmpd="sng" algn="ctr">
                      <a:solidFill>
                        <a:srgbClr val="DCE4F5"/>
                      </a:solidFill>
                      <a:prstDash val="solid"/>
                      <a:round/>
                      <a:headEnd type="none" w="med" len="med"/>
                      <a:tailEnd type="none" w="med" len="med"/>
                    </a:lnB>
                    <a:solidFill>
                      <a:srgbClr val="FFFFFF"/>
                    </a:solidFill>
                  </a:tcPr>
                </a:tc>
                <a:tc>
                  <a:txBody>
                    <a:bodyPr/>
                    <a:lstStyle/>
                    <a:p>
                      <a:pPr marL="0" indent="0" algn="just">
                        <a:buNone/>
                      </a:pPr>
                      <a:r>
                        <a:rPr lang="en-US" sz="1250" dirty="0">
                          <a:solidFill>
                            <a:srgbClr val="1B2340"/>
                          </a:solidFill>
                          <a:latin typeface="Times New Roman" panose="02020603050405020304" pitchFamily="18" charset="0"/>
                          <a:ea typeface="Calibri" pitchFamily="34" charset="-122"/>
                          <a:cs typeface="Times New Roman" panose="02020603050405020304" pitchFamily="18" charset="0"/>
                        </a:rPr>
                        <a:t>Offices + Lecture Rooms</a:t>
                      </a:r>
                      <a:endParaRPr lang="en-US" sz="1250" dirty="0">
                        <a:latin typeface="Times New Roman" panose="02020603050405020304" pitchFamily="18" charset="0"/>
                        <a:ea typeface="Calibri" charset="0"/>
                        <a:cs typeface="Times New Roman" panose="02020603050405020304" pitchFamily="18" charset="0"/>
                      </a:endParaRPr>
                    </a:p>
                  </a:txBody>
                  <a:tcPr marL="127000" marR="127000" marT="76200" marB="76200" anchor="ctr">
                    <a:lnL w="12700" cap="flat" cmpd="sng" algn="ctr">
                      <a:solidFill>
                        <a:srgbClr val="DCE4F5"/>
                      </a:solidFill>
                      <a:prstDash val="solid"/>
                      <a:round/>
                      <a:headEnd type="none" w="med" len="med"/>
                      <a:tailEnd type="none" w="med" len="med"/>
                    </a:lnL>
                    <a:lnR w="12700" cap="flat" cmpd="sng" algn="ctr">
                      <a:solidFill>
                        <a:srgbClr val="DCE4F5"/>
                      </a:solidFill>
                      <a:prstDash val="solid"/>
                      <a:round/>
                      <a:headEnd type="none" w="med" len="med"/>
                      <a:tailEnd type="none" w="med" len="med"/>
                    </a:lnR>
                    <a:lnT w="12700" cap="flat" cmpd="sng" algn="ctr">
                      <a:solidFill>
                        <a:srgbClr val="DCE4F5"/>
                      </a:solidFill>
                      <a:prstDash val="solid"/>
                      <a:round/>
                      <a:headEnd type="none" w="med" len="med"/>
                      <a:tailEnd type="none" w="med" len="med"/>
                    </a:lnT>
                    <a:lnB w="12700" cap="flat" cmpd="sng" algn="ctr">
                      <a:solidFill>
                        <a:srgbClr val="DCE4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just">
                        <a:buNone/>
                      </a:pPr>
                      <a:r>
                        <a:rPr lang="en-US" sz="1250" b="1" dirty="0">
                          <a:solidFill>
                            <a:srgbClr val="1B2340"/>
                          </a:solidFill>
                          <a:latin typeface="Times New Roman" panose="02020603050405020304" pitchFamily="18" charset="0"/>
                          <a:ea typeface="Calibri" pitchFamily="34" charset="-122"/>
                          <a:cs typeface="Times New Roman" panose="02020603050405020304" pitchFamily="18" charset="0"/>
                        </a:rPr>
                        <a:t>C</a:t>
                      </a:r>
                      <a:endParaRPr lang="en-US" sz="1250" dirty="0">
                        <a:latin typeface="Times New Roman" panose="02020603050405020304" pitchFamily="18" charset="0"/>
                        <a:ea typeface="Calibri" charset="0"/>
                        <a:cs typeface="Times New Roman" panose="02020603050405020304" pitchFamily="18" charset="0"/>
                      </a:endParaRPr>
                    </a:p>
                  </a:txBody>
                  <a:tcPr marL="127000" marR="127000" marT="76200" marB="76200" anchor="ctr">
                    <a:lnL w="12700" cap="flat" cmpd="sng" algn="ctr">
                      <a:solidFill>
                        <a:srgbClr val="DCE4F5"/>
                      </a:solidFill>
                      <a:prstDash val="solid"/>
                      <a:round/>
                      <a:headEnd type="none" w="med" len="med"/>
                      <a:tailEnd type="none" w="med" len="med"/>
                    </a:lnL>
                    <a:lnR w="12700" cap="flat" cmpd="sng" algn="ctr">
                      <a:solidFill>
                        <a:srgbClr val="DCE4F5"/>
                      </a:solidFill>
                      <a:prstDash val="solid"/>
                      <a:round/>
                      <a:headEnd type="none" w="med" len="med"/>
                      <a:tailEnd type="none" w="med" len="med"/>
                    </a:lnR>
                    <a:lnT w="12700" cap="flat" cmpd="sng" algn="ctr">
                      <a:solidFill>
                        <a:srgbClr val="DCE4F5"/>
                      </a:solidFill>
                      <a:prstDash val="solid"/>
                      <a:round/>
                      <a:headEnd type="none" w="med" len="med"/>
                      <a:tailEnd type="none" w="med" len="med"/>
                    </a:lnT>
                    <a:lnB w="12700" cap="flat" cmpd="sng" algn="ctr">
                      <a:solidFill>
                        <a:srgbClr val="DCE4F5"/>
                      </a:solidFill>
                      <a:prstDash val="solid"/>
                      <a:round/>
                      <a:headEnd type="none" w="med" len="med"/>
                      <a:tailEnd type="none" w="med" len="med"/>
                    </a:lnB>
                    <a:solidFill>
                      <a:srgbClr val="EEF3FC"/>
                    </a:solidFill>
                  </a:tcPr>
                </a:tc>
                <a:tc>
                  <a:txBody>
                    <a:bodyPr/>
                    <a:lstStyle/>
                    <a:p>
                      <a:pPr marL="0" indent="0" algn="just">
                        <a:buNone/>
                      </a:pPr>
                      <a:r>
                        <a:rPr lang="en-US" sz="1250">
                          <a:solidFill>
                            <a:srgbClr val="1B2340"/>
                          </a:solidFill>
                          <a:latin typeface="Times New Roman" panose="02020603050405020304" pitchFamily="18" charset="0"/>
                          <a:ea typeface="Calibri" pitchFamily="34" charset="-122"/>
                          <a:cs typeface="Times New Roman" panose="02020603050405020304" pitchFamily="18" charset="0"/>
                        </a:rPr>
                        <a:t>AIML,IT</a:t>
                      </a:r>
                      <a:endParaRPr lang="en-US" sz="1250" dirty="0">
                        <a:latin typeface="Times New Roman" panose="02020603050405020304" pitchFamily="18" charset="0"/>
                        <a:ea typeface="Calibri" charset="0"/>
                        <a:cs typeface="Times New Roman" panose="02020603050405020304" pitchFamily="18" charset="0"/>
                      </a:endParaRPr>
                    </a:p>
                  </a:txBody>
                  <a:tcPr marL="127000" marR="127000" marT="76200" marB="76200" anchor="ctr">
                    <a:lnL w="12700" cap="flat" cmpd="sng" algn="ctr">
                      <a:solidFill>
                        <a:srgbClr val="DCE4F5"/>
                      </a:solidFill>
                      <a:prstDash val="solid"/>
                      <a:round/>
                      <a:headEnd type="none" w="med" len="med"/>
                      <a:tailEnd type="none" w="med" len="med"/>
                    </a:lnL>
                    <a:lnR w="12700" cap="flat" cmpd="sng" algn="ctr">
                      <a:solidFill>
                        <a:srgbClr val="DCE4F5"/>
                      </a:solidFill>
                      <a:prstDash val="solid"/>
                      <a:round/>
                      <a:headEnd type="none" w="med" len="med"/>
                      <a:tailEnd type="none" w="med" len="med"/>
                    </a:lnR>
                    <a:lnT w="12700" cap="flat" cmpd="sng" algn="ctr">
                      <a:solidFill>
                        <a:srgbClr val="DCE4F5"/>
                      </a:solidFill>
                      <a:prstDash val="solid"/>
                      <a:round/>
                      <a:headEnd type="none" w="med" len="med"/>
                      <a:tailEnd type="none" w="med" len="med"/>
                    </a:lnT>
                    <a:lnB w="12700" cap="flat" cmpd="sng" algn="ctr">
                      <a:solidFill>
                        <a:srgbClr val="DCE4F5"/>
                      </a:solidFill>
                      <a:prstDash val="solid"/>
                      <a:round/>
                      <a:headEnd type="none" w="med" len="med"/>
                      <a:tailEnd type="none" w="med" len="med"/>
                    </a:lnB>
                    <a:solidFill>
                      <a:srgbClr val="EEF3FC"/>
                    </a:solidFill>
                  </a:tcPr>
                </a:tc>
                <a:tc>
                  <a:txBody>
                    <a:bodyPr/>
                    <a:lstStyle/>
                    <a:p>
                      <a:pPr marL="0" indent="0" algn="just">
                        <a:buNone/>
                      </a:pPr>
                      <a:r>
                        <a:rPr lang="en-US" sz="1250">
                          <a:solidFill>
                            <a:srgbClr val="1B2340"/>
                          </a:solidFill>
                          <a:latin typeface="Times New Roman" panose="02020603050405020304" pitchFamily="18" charset="0"/>
                          <a:ea typeface="Calibri" pitchFamily="34" charset="-122"/>
                          <a:cs typeface="Times New Roman" panose="02020603050405020304" pitchFamily="18" charset="0"/>
                        </a:rPr>
                        <a:t>Faculty Offices + Labs</a:t>
                      </a:r>
                      <a:endParaRPr lang="en-US" sz="1250" dirty="0">
                        <a:latin typeface="Times New Roman" panose="02020603050405020304" pitchFamily="18" charset="0"/>
                        <a:ea typeface="Calibri" charset="0"/>
                        <a:cs typeface="Times New Roman" panose="02020603050405020304" pitchFamily="18" charset="0"/>
                      </a:endParaRPr>
                    </a:p>
                  </a:txBody>
                  <a:tcPr marL="127000" marR="127000" marT="76200" marB="76200" anchor="ctr">
                    <a:lnL w="12700" cap="flat" cmpd="sng" algn="ctr">
                      <a:solidFill>
                        <a:srgbClr val="DCE4F5"/>
                      </a:solidFill>
                      <a:prstDash val="solid"/>
                      <a:round/>
                      <a:headEnd type="none" w="med" len="med"/>
                      <a:tailEnd type="none" w="med" len="med"/>
                    </a:lnL>
                    <a:lnR w="12700" cap="flat" cmpd="sng" algn="ctr">
                      <a:solidFill>
                        <a:srgbClr val="DCE4F5"/>
                      </a:solidFill>
                      <a:prstDash val="solid"/>
                      <a:round/>
                      <a:headEnd type="none" w="med" len="med"/>
                      <a:tailEnd type="none" w="med" len="med"/>
                    </a:lnR>
                    <a:lnT w="12700" cap="flat" cmpd="sng" algn="ctr">
                      <a:solidFill>
                        <a:srgbClr val="DCE4F5"/>
                      </a:solidFill>
                      <a:prstDash val="solid"/>
                      <a:round/>
                      <a:headEnd type="none" w="med" len="med"/>
                      <a:tailEnd type="none" w="med" len="med"/>
                    </a:lnT>
                    <a:lnB w="12700" cap="flat" cmpd="sng" algn="ctr">
                      <a:solidFill>
                        <a:srgbClr val="DCE4F5"/>
                      </a:solidFill>
                      <a:prstDash val="solid"/>
                      <a:round/>
                      <a:headEnd type="none" w="med" len="med"/>
                      <a:tailEnd type="none" w="med" len="med"/>
                    </a:lnB>
                    <a:solidFill>
                      <a:srgbClr val="EEF3FC"/>
                    </a:solidFill>
                  </a:tcPr>
                </a:tc>
                <a:extLst>
                  <a:ext uri="{0D108BD9-81ED-4DB2-BD59-A6C34878D82A}">
                    <a16:rowId xmlns:a16="http://schemas.microsoft.com/office/drawing/2014/main" val="10003"/>
                  </a:ext>
                </a:extLst>
              </a:tr>
              <a:tr h="420624">
                <a:tc>
                  <a:txBody>
                    <a:bodyPr/>
                    <a:lstStyle/>
                    <a:p>
                      <a:pPr marL="0" indent="0" algn="just">
                        <a:buNone/>
                      </a:pPr>
                      <a:r>
                        <a:rPr lang="en-US" sz="1250" b="1" dirty="0">
                          <a:solidFill>
                            <a:srgbClr val="1B2340"/>
                          </a:solidFill>
                          <a:latin typeface="Times New Roman" panose="02020603050405020304" pitchFamily="18" charset="0"/>
                          <a:ea typeface="Calibri" pitchFamily="34" charset="-122"/>
                          <a:cs typeface="Times New Roman" panose="02020603050405020304" pitchFamily="18" charset="0"/>
                        </a:rPr>
                        <a:t>D</a:t>
                      </a:r>
                      <a:endParaRPr lang="en-US" sz="1250" dirty="0">
                        <a:latin typeface="Times New Roman" panose="02020603050405020304" pitchFamily="18" charset="0"/>
                        <a:ea typeface="Calibri" charset="0"/>
                        <a:cs typeface="Times New Roman" panose="02020603050405020304" pitchFamily="18" charset="0"/>
                      </a:endParaRPr>
                    </a:p>
                  </a:txBody>
                  <a:tcPr marL="127000" marR="127000" marT="76200" marB="76200" anchor="ctr">
                    <a:lnL w="12700" cap="flat" cmpd="sng" algn="ctr">
                      <a:solidFill>
                        <a:srgbClr val="DCE4F5"/>
                      </a:solidFill>
                      <a:prstDash val="solid"/>
                      <a:round/>
                      <a:headEnd type="none" w="med" len="med"/>
                      <a:tailEnd type="none" w="med" len="med"/>
                    </a:lnL>
                    <a:lnR w="12700" cap="flat" cmpd="sng" algn="ctr">
                      <a:solidFill>
                        <a:srgbClr val="DCE4F5"/>
                      </a:solidFill>
                      <a:prstDash val="solid"/>
                      <a:round/>
                      <a:headEnd type="none" w="med" len="med"/>
                      <a:tailEnd type="none" w="med" len="med"/>
                    </a:lnR>
                    <a:lnT w="12700" cap="flat" cmpd="sng" algn="ctr">
                      <a:solidFill>
                        <a:srgbClr val="DCE4F5"/>
                      </a:solidFill>
                      <a:prstDash val="solid"/>
                      <a:round/>
                      <a:headEnd type="none" w="med" len="med"/>
                      <a:tailEnd type="none" w="med" len="med"/>
                    </a:lnT>
                    <a:lnB w="12700" cap="flat" cmpd="sng" algn="ctr">
                      <a:solidFill>
                        <a:srgbClr val="DCE4F5"/>
                      </a:solidFill>
                      <a:prstDash val="solid"/>
                      <a:round/>
                      <a:headEnd type="none" w="med" len="med"/>
                      <a:tailEnd type="none" w="med" len="med"/>
                    </a:lnB>
                    <a:solidFill>
                      <a:srgbClr val="FFFFFF"/>
                    </a:solidFill>
                  </a:tcPr>
                </a:tc>
                <a:tc>
                  <a:txBody>
                    <a:bodyPr/>
                    <a:lstStyle/>
                    <a:p>
                      <a:pPr marL="0" indent="0" algn="just">
                        <a:buNone/>
                      </a:pPr>
                      <a:r>
                        <a:rPr lang="en-US" sz="1250">
                          <a:solidFill>
                            <a:srgbClr val="1B2340"/>
                          </a:solidFill>
                          <a:latin typeface="Times New Roman" panose="02020603050405020304" pitchFamily="18" charset="0"/>
                          <a:ea typeface="Calibri" pitchFamily="34" charset="-122"/>
                          <a:cs typeface="Times New Roman" panose="02020603050405020304" pitchFamily="18" charset="0"/>
                        </a:rPr>
                        <a:t>ECE</a:t>
                      </a:r>
                      <a:endParaRPr lang="en-US" sz="1250" dirty="0">
                        <a:latin typeface="Times New Roman" panose="02020603050405020304" pitchFamily="18" charset="0"/>
                        <a:ea typeface="Calibri" charset="0"/>
                        <a:cs typeface="Times New Roman" panose="02020603050405020304" pitchFamily="18" charset="0"/>
                      </a:endParaRPr>
                    </a:p>
                  </a:txBody>
                  <a:tcPr marL="127000" marR="127000" marT="76200" marB="76200" anchor="ctr">
                    <a:lnL w="12700" cap="flat" cmpd="sng" algn="ctr">
                      <a:solidFill>
                        <a:srgbClr val="DCE4F5"/>
                      </a:solidFill>
                      <a:prstDash val="solid"/>
                      <a:round/>
                      <a:headEnd type="none" w="med" len="med"/>
                      <a:tailEnd type="none" w="med" len="med"/>
                    </a:lnL>
                    <a:lnR w="12700" cap="flat" cmpd="sng" algn="ctr">
                      <a:solidFill>
                        <a:srgbClr val="DCE4F5"/>
                      </a:solidFill>
                      <a:prstDash val="solid"/>
                      <a:round/>
                      <a:headEnd type="none" w="med" len="med"/>
                      <a:tailEnd type="none" w="med" len="med"/>
                    </a:lnR>
                    <a:lnT w="12700" cap="flat" cmpd="sng" algn="ctr">
                      <a:solidFill>
                        <a:srgbClr val="DCE4F5"/>
                      </a:solidFill>
                      <a:prstDash val="solid"/>
                      <a:round/>
                      <a:headEnd type="none" w="med" len="med"/>
                      <a:tailEnd type="none" w="med" len="med"/>
                    </a:lnT>
                    <a:lnB w="12700" cap="flat" cmpd="sng" algn="ctr">
                      <a:solidFill>
                        <a:srgbClr val="DCE4F5"/>
                      </a:solidFill>
                      <a:prstDash val="solid"/>
                      <a:round/>
                      <a:headEnd type="none" w="med" len="med"/>
                      <a:tailEnd type="none" w="med" len="med"/>
                    </a:lnB>
                    <a:solidFill>
                      <a:srgbClr val="FFFFFF"/>
                    </a:solidFill>
                  </a:tcPr>
                </a:tc>
                <a:tc>
                  <a:txBody>
                    <a:bodyPr/>
                    <a:lstStyle/>
                    <a:p>
                      <a:pPr marL="0" indent="0" algn="just">
                        <a:buNone/>
                      </a:pPr>
                      <a:r>
                        <a:rPr lang="en-US" sz="1250" dirty="0">
                          <a:solidFill>
                            <a:srgbClr val="1B2340"/>
                          </a:solidFill>
                          <a:latin typeface="Times New Roman" panose="02020603050405020304" pitchFamily="18" charset="0"/>
                          <a:ea typeface="Calibri" pitchFamily="34" charset="-122"/>
                          <a:cs typeface="Times New Roman" panose="02020603050405020304" pitchFamily="18" charset="0"/>
                        </a:rPr>
                        <a:t>Faculty Offices + Labs</a:t>
                      </a:r>
                      <a:endParaRPr lang="en-US" sz="1250" dirty="0">
                        <a:latin typeface="Times New Roman" panose="02020603050405020304" pitchFamily="18" charset="0"/>
                        <a:ea typeface="Calibri" charset="0"/>
                        <a:cs typeface="Times New Roman" panose="02020603050405020304" pitchFamily="18" charset="0"/>
                      </a:endParaRPr>
                    </a:p>
                  </a:txBody>
                  <a:tcPr marL="127000" marR="127000" marT="76200" marB="76200" anchor="ctr">
                    <a:lnL w="12700" cap="flat" cmpd="sng" algn="ctr">
                      <a:solidFill>
                        <a:srgbClr val="DCE4F5"/>
                      </a:solidFill>
                      <a:prstDash val="solid"/>
                      <a:round/>
                      <a:headEnd type="none" w="med" len="med"/>
                      <a:tailEnd type="none" w="med" len="med"/>
                    </a:lnL>
                    <a:lnR w="12700" cap="flat" cmpd="sng" algn="ctr">
                      <a:solidFill>
                        <a:srgbClr val="DCE4F5"/>
                      </a:solidFill>
                      <a:prstDash val="solid"/>
                      <a:round/>
                      <a:headEnd type="none" w="med" len="med"/>
                      <a:tailEnd type="none" w="med" len="med"/>
                    </a:lnR>
                    <a:lnT w="12700" cap="flat" cmpd="sng" algn="ctr">
                      <a:solidFill>
                        <a:srgbClr val="DCE4F5"/>
                      </a:solidFill>
                      <a:prstDash val="solid"/>
                      <a:round/>
                      <a:headEnd type="none" w="med" len="med"/>
                      <a:tailEnd type="none" w="med" len="med"/>
                    </a:lnT>
                    <a:lnB w="12700" cap="flat" cmpd="sng" algn="ctr">
                      <a:solidFill>
                        <a:srgbClr val="DCE4F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1" name="Text 8"/>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Times New Roman" panose="02020603050405020304" pitchFamily="18" charset="0"/>
                <a:ea typeface="Calibri" pitchFamily="34" charset="-122"/>
                <a:cs typeface="Times New Roman" panose="02020603050405020304" pitchFamily="18" charset="0"/>
              </a:rPr>
              <a:t>OUTR CAMPUS NETWORK  |  CISCO PACKET TRACER</a:t>
            </a:r>
            <a:endParaRPr lang="en-US" sz="800" dirty="0">
              <a:latin typeface="Times New Roman" panose="02020603050405020304" pitchFamily="18" charset="0"/>
              <a:cs typeface="Times New Roman" panose="02020603050405020304" pitchFamily="18" charset="0"/>
            </a:endParaRPr>
          </a:p>
        </p:txBody>
      </p:sp>
      <p:sp>
        <p:nvSpPr>
          <p:cNvPr id="12" name="Text 9"/>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6B7694"/>
                </a:solidFill>
                <a:latin typeface="Times New Roman" panose="02020603050405020304" pitchFamily="18" charset="0"/>
                <a:ea typeface="Calibri" pitchFamily="34" charset="-122"/>
                <a:cs typeface="Times New Roman" panose="02020603050405020304" pitchFamily="18" charset="0"/>
              </a:rPr>
              <a:t>13</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Methodology / Approach</a:t>
            </a:r>
            <a:endParaRPr lang="en-US" sz="2800" dirty="0"/>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Calibri" pitchFamily="34" charset="0"/>
                <a:ea typeface="Calibri" pitchFamily="34" charset="-122"/>
                <a:cs typeface="Calibri" pitchFamily="34" charset="-120"/>
              </a:rPr>
              <a:t>BLOCK DIAGRAM</a:t>
            </a:r>
            <a:endParaRPr lang="en-US" sz="1100" dirty="0"/>
          </a:p>
        </p:txBody>
      </p:sp>
      <p:sp>
        <p:nvSpPr>
          <p:cNvPr id="6" name="Shape 4"/>
          <p:cNvSpPr/>
          <p:nvPr/>
        </p:nvSpPr>
        <p:spPr>
          <a:xfrm>
            <a:off x="1622612" y="1280160"/>
            <a:ext cx="8794376" cy="3798846"/>
          </a:xfrm>
          <a:prstGeom prst="roundRect">
            <a:avLst>
              <a:gd name="adj" fmla="val 1444"/>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sp>
      <p:sp>
        <p:nvSpPr>
          <p:cNvPr id="8" name="Text 5"/>
          <p:cNvSpPr txBox="1"/>
          <p:nvPr/>
        </p:nvSpPr>
        <p:spPr>
          <a:xfrm>
            <a:off x="340658" y="5833872"/>
            <a:ext cx="11277295" cy="365760"/>
          </a:xfrm>
          <a:prstGeom prst="rect">
            <a:avLst/>
          </a:prstGeom>
          <a:noFill/>
          <a:ln/>
        </p:spPr>
        <p:txBody>
          <a:bodyPr wrap="square" lIns="0" tIns="0" rIns="0" bIns="0" rtlCol="0" anchor="ctr"/>
          <a:lstStyle/>
          <a:p>
            <a:pPr marL="0" indent="0" algn="ctr">
              <a:buNone/>
            </a:pPr>
            <a:r>
              <a:rPr lang="en-US" sz="1200" b="1" dirty="0">
                <a:solidFill>
                  <a:srgbClr val="6B7694"/>
                </a:solidFill>
                <a:latin typeface="Times New Roman" panose="02020603050405020304" pitchFamily="18" charset="0"/>
                <a:ea typeface="Calibri" pitchFamily="34" charset="-122"/>
                <a:cs typeface="Times New Roman" panose="02020603050405020304" pitchFamily="18" charset="0"/>
              </a:rPr>
              <a:t>Figure: Block Diagram of University / Campus Network</a:t>
            </a:r>
            <a:endParaRPr lang="en-US" sz="1200" b="1" dirty="0">
              <a:latin typeface="Times New Roman" panose="02020603050405020304" pitchFamily="18" charset="0"/>
              <a:cs typeface="Times New Roman" panose="02020603050405020304" pitchFamily="18" charset="0"/>
            </a:endParaRPr>
          </a:p>
        </p:txBody>
      </p:sp>
      <p:sp>
        <p:nvSpPr>
          <p:cNvPr id="9" name="Text 6"/>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Calibri" pitchFamily="34" charset="0"/>
                <a:ea typeface="Calibri" pitchFamily="34" charset="-122"/>
                <a:cs typeface="Calibri" pitchFamily="34" charset="-120"/>
              </a:rPr>
              <a:t>OUTR CAMPUS NETWORK  |  CISCO PACKET TRACER</a:t>
            </a:r>
            <a:endParaRPr lang="en-US" sz="800" dirty="0"/>
          </a:p>
        </p:txBody>
      </p:sp>
      <p:sp>
        <p:nvSpPr>
          <p:cNvPr id="10" name="Text 7"/>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6B7694"/>
                </a:solidFill>
                <a:latin typeface="Calibri" pitchFamily="34" charset="0"/>
                <a:ea typeface="Calibri" pitchFamily="34" charset="-122"/>
                <a:cs typeface="Calibri" pitchFamily="34" charset="-120"/>
              </a:rPr>
              <a:t>14</a:t>
            </a:r>
            <a:endParaRPr lang="en-US" sz="900" dirty="0"/>
          </a:p>
        </p:txBody>
      </p:sp>
      <p:pic>
        <p:nvPicPr>
          <p:cNvPr id="14" name="Picture 13">
            <a:extLst>
              <a:ext uri="{FF2B5EF4-FFF2-40B4-BE49-F238E27FC236}">
                <a16:creationId xmlns:a16="http://schemas.microsoft.com/office/drawing/2014/main" id="{97DCBF36-2C8B-4CAB-83E4-75C99FE06871}"/>
              </a:ext>
            </a:extLst>
          </p:cNvPr>
          <p:cNvPicPr>
            <a:picLocks noChangeAspect="1"/>
          </p:cNvPicPr>
          <p:nvPr/>
        </p:nvPicPr>
        <p:blipFill>
          <a:blip r:embed="rId3"/>
          <a:stretch>
            <a:fillRect/>
          </a:stretch>
        </p:blipFill>
        <p:spPr>
          <a:xfrm>
            <a:off x="1477688" y="980878"/>
            <a:ext cx="9701300" cy="48962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Methodology / Approach</a:t>
            </a:r>
            <a:endParaRPr lang="en-US" sz="2800" dirty="0"/>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Calibri" pitchFamily="34" charset="0"/>
                <a:ea typeface="Calibri" pitchFamily="34" charset="-122"/>
                <a:cs typeface="Calibri" pitchFamily="34" charset="-120"/>
              </a:rPr>
              <a:t>NETWORK ARCHITECTURE</a:t>
            </a:r>
            <a:endParaRPr lang="en-US" sz="1100" dirty="0"/>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Shape 4"/>
          <p:cNvSpPr/>
          <p:nvPr/>
        </p:nvSpPr>
        <p:spPr>
          <a:xfrm>
            <a:off x="295836" y="1110996"/>
            <a:ext cx="4480560" cy="4160520"/>
          </a:xfrm>
          <a:prstGeom prst="roundRect">
            <a:avLst>
              <a:gd name="adj" fmla="val 1758"/>
            </a:avLst>
          </a:prstGeom>
          <a:solidFill>
            <a:srgbClr val="EEF3FC"/>
          </a:solidFill>
          <a:ln/>
          <a:effectLst>
            <a:outerShdw blurRad="76200" dist="25400" dir="5400000" algn="bl" rotWithShape="0">
              <a:srgbClr val="6B7694">
                <a:alpha val="18000"/>
              </a:srgbClr>
            </a:outerShdw>
          </a:effectLst>
        </p:spPr>
      </p:sp>
      <p:sp>
        <p:nvSpPr>
          <p:cNvPr id="7" name="Text 5"/>
          <p:cNvSpPr txBox="1"/>
          <p:nvPr/>
        </p:nvSpPr>
        <p:spPr>
          <a:xfrm>
            <a:off x="685800" y="1435608"/>
            <a:ext cx="402336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Additional Infrastructure</a:t>
            </a:r>
            <a:endParaRPr lang="en-US" sz="1500" dirty="0"/>
          </a:p>
        </p:txBody>
      </p:sp>
      <p:sp>
        <p:nvSpPr>
          <p:cNvPr id="8" name="Text 6"/>
          <p:cNvSpPr txBox="1"/>
          <p:nvPr/>
        </p:nvSpPr>
        <p:spPr>
          <a:xfrm>
            <a:off x="731520" y="1938528"/>
            <a:ext cx="3931920" cy="1965960"/>
          </a:xfrm>
          <a:prstGeom prst="rect">
            <a:avLst/>
          </a:prstGeom>
          <a:noFill/>
          <a:ln/>
        </p:spPr>
        <p:txBody>
          <a:bodyPr wrap="square" lIns="0" tIns="0" rIns="0" bIns="0" rtlCol="0" anchor="t"/>
          <a:lstStyle/>
          <a:p>
            <a:pPr marL="177800" indent="-177800">
              <a:lnSpc>
                <a:spcPct val="110000"/>
              </a:lnSpc>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External Cloud Email Server</a:t>
            </a:r>
            <a:endParaRPr lang="en-US" sz="1300" dirty="0"/>
          </a:p>
          <a:p>
            <a:pPr marL="177800" indent="-177800">
              <a:lnSpc>
                <a:spcPct val="110000"/>
              </a:lnSpc>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Internal Web Server</a:t>
            </a:r>
            <a:endParaRPr lang="en-US" sz="1300" dirty="0"/>
          </a:p>
          <a:p>
            <a:pPr marL="177800" indent="-177800">
              <a:lnSpc>
                <a:spcPct val="110000"/>
              </a:lnSpc>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Routers and Layer-3 switches</a:t>
            </a:r>
            <a:endParaRPr lang="en-US" sz="1300" dirty="0"/>
          </a:p>
          <a:p>
            <a:pPr marL="177800" indent="-177800">
              <a:lnSpc>
                <a:spcPct val="110000"/>
              </a:lnSpc>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Departmental access switches</a:t>
            </a:r>
            <a:endParaRPr lang="en-US" sz="1300" dirty="0"/>
          </a:p>
          <a:p>
            <a:pPr marL="177800" indent="-177800">
              <a:lnSpc>
                <a:spcPct val="110000"/>
              </a:lnSpc>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PCs and printers</a:t>
            </a:r>
            <a:endParaRPr lang="en-US" sz="1300" dirty="0"/>
          </a:p>
        </p:txBody>
      </p:sp>
      <p:sp>
        <p:nvSpPr>
          <p:cNvPr id="9" name="Shape 7"/>
          <p:cNvSpPr/>
          <p:nvPr/>
        </p:nvSpPr>
        <p:spPr>
          <a:xfrm>
            <a:off x="731520" y="3995928"/>
            <a:ext cx="3931920" cy="0"/>
          </a:xfrm>
          <a:prstGeom prst="line">
            <a:avLst/>
          </a:prstGeom>
          <a:noFill/>
          <a:ln w="12700">
            <a:solidFill>
              <a:srgbClr val="D7E0F3"/>
            </a:solidFill>
            <a:prstDash val="solid"/>
          </a:ln>
        </p:spPr>
      </p:sp>
      <p:sp>
        <p:nvSpPr>
          <p:cNvPr id="10" name="Text 8"/>
          <p:cNvSpPr txBox="1"/>
          <p:nvPr/>
        </p:nvSpPr>
        <p:spPr>
          <a:xfrm>
            <a:off x="685800" y="4133088"/>
            <a:ext cx="4023360" cy="292608"/>
          </a:xfrm>
          <a:prstGeom prst="rect">
            <a:avLst/>
          </a:prstGeom>
          <a:noFill/>
          <a:ln/>
        </p:spPr>
        <p:txBody>
          <a:bodyPr wrap="square" lIns="0" tIns="0" rIns="0" bIns="0" rtlCol="0" anchor="ctr"/>
          <a:lstStyle/>
          <a:p>
            <a:pPr marL="0" indent="0">
              <a:buNone/>
            </a:pPr>
            <a:r>
              <a:rPr lang="en-US" sz="1300" b="1" i="1" dirty="0">
                <a:solidFill>
                  <a:srgbClr val="0091AD"/>
                </a:solidFill>
                <a:latin typeface="Cambria" pitchFamily="34" charset="0"/>
                <a:ea typeface="Cambria" pitchFamily="34" charset="-122"/>
                <a:cs typeface="Cambria" pitchFamily="34" charset="-120"/>
              </a:rPr>
              <a:t>Network Architecture</a:t>
            </a:r>
            <a:endParaRPr lang="en-US" sz="1300" dirty="0"/>
          </a:p>
        </p:txBody>
      </p:sp>
      <p:sp>
        <p:nvSpPr>
          <p:cNvPr id="11" name="Text 9"/>
          <p:cNvSpPr txBox="1"/>
          <p:nvPr/>
        </p:nvSpPr>
        <p:spPr>
          <a:xfrm>
            <a:off x="731520" y="4480560"/>
            <a:ext cx="3931920" cy="822960"/>
          </a:xfrm>
          <a:prstGeom prst="rect">
            <a:avLst/>
          </a:prstGeom>
          <a:noFill/>
          <a:ln/>
        </p:spPr>
        <p:txBody>
          <a:bodyPr wrap="square" lIns="0" tIns="0" rIns="0" bIns="0" rtlCol="0" anchor="t"/>
          <a:lstStyle/>
          <a:p>
            <a:pPr marL="0" indent="0">
              <a:lnSpc>
                <a:spcPct val="115000"/>
              </a:lnSpc>
              <a:buNone/>
            </a:pPr>
            <a:r>
              <a:rPr lang="en-US" sz="1150" i="1" dirty="0">
                <a:solidFill>
                  <a:srgbClr val="6B7694"/>
                </a:solidFill>
                <a:latin typeface="Calibri" pitchFamily="34" charset="0"/>
                <a:ea typeface="Calibri" pitchFamily="34" charset="-122"/>
                <a:cs typeface="Calibri" pitchFamily="34" charset="-120"/>
              </a:rPr>
              <a:t>The campus network combines routing, switching, and IP addressing layers described below to connect all departments and buildings into one managed system.</a:t>
            </a:r>
            <a:endParaRPr lang="en-US" sz="1150" dirty="0"/>
          </a:p>
        </p:txBody>
      </p:sp>
      <p:sp>
        <p:nvSpPr>
          <p:cNvPr id="12" name="Text 10"/>
          <p:cNvSpPr txBox="1"/>
          <p:nvPr/>
        </p:nvSpPr>
        <p:spPr>
          <a:xfrm>
            <a:off x="5166360" y="1207008"/>
            <a:ext cx="6565392"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Core Technologies Used</a:t>
            </a:r>
            <a:endParaRPr lang="en-US" sz="1500" dirty="0"/>
          </a:p>
        </p:txBody>
      </p:sp>
      <p:sp>
        <p:nvSpPr>
          <p:cNvPr id="13" name="Shape 11"/>
          <p:cNvSpPr/>
          <p:nvPr/>
        </p:nvSpPr>
        <p:spPr>
          <a:xfrm>
            <a:off x="5166360" y="1709928"/>
            <a:ext cx="6565392" cy="1170432"/>
          </a:xfrm>
          <a:prstGeom prst="roundRect">
            <a:avLst>
              <a:gd name="adj" fmla="val 6250"/>
            </a:avLst>
          </a:prstGeom>
          <a:solidFill>
            <a:srgbClr val="FFFFFF"/>
          </a:solidFill>
          <a:ln/>
          <a:effectLst>
            <a:outerShdw blurRad="76200" dist="25400" dir="5400000" algn="bl" rotWithShape="0">
              <a:srgbClr val="6B7694">
                <a:alpha val="18000"/>
              </a:srgbClr>
            </a:outerShdw>
          </a:effectLst>
        </p:spPr>
      </p:sp>
      <p:sp>
        <p:nvSpPr>
          <p:cNvPr id="14" name="Shape 12"/>
          <p:cNvSpPr/>
          <p:nvPr/>
        </p:nvSpPr>
        <p:spPr>
          <a:xfrm>
            <a:off x="5367528" y="1892808"/>
            <a:ext cx="329184" cy="329184"/>
          </a:xfrm>
          <a:prstGeom prst="ellipse">
            <a:avLst/>
          </a:prstGeom>
          <a:solidFill>
            <a:srgbClr val="00B4D8"/>
          </a:solidFill>
          <a:ln/>
        </p:spPr>
      </p:sp>
      <p:sp>
        <p:nvSpPr>
          <p:cNvPr id="15" name="Text 13"/>
          <p:cNvSpPr txBox="1"/>
          <p:nvPr/>
        </p:nvSpPr>
        <p:spPr>
          <a:xfrm>
            <a:off x="5367528" y="1892808"/>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6" name="Text 14"/>
          <p:cNvSpPr txBox="1"/>
          <p:nvPr/>
        </p:nvSpPr>
        <p:spPr>
          <a:xfrm>
            <a:off x="5806440" y="1856232"/>
            <a:ext cx="5650992" cy="384048"/>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1) Routing</a:t>
            </a:r>
            <a:endParaRPr lang="en-US" sz="1350" dirty="0"/>
          </a:p>
        </p:txBody>
      </p:sp>
      <p:sp>
        <p:nvSpPr>
          <p:cNvPr id="17" name="Text 15"/>
          <p:cNvSpPr txBox="1"/>
          <p:nvPr/>
        </p:nvSpPr>
        <p:spPr>
          <a:xfrm>
            <a:off x="5806440" y="2240280"/>
            <a:ext cx="5650992" cy="576072"/>
          </a:xfrm>
          <a:prstGeom prst="rect">
            <a:avLst/>
          </a:prstGeom>
          <a:noFill/>
          <a:ln/>
        </p:spPr>
        <p:txBody>
          <a:bodyPr wrap="square" lIns="0" tIns="0" rIns="0" bIns="0" rtlCol="0" anchor="t"/>
          <a:lstStyle/>
          <a:p>
            <a:pPr marL="0" indent="0">
              <a:lnSpc>
                <a:spcPct val="105000"/>
              </a:lnSpc>
              <a:buNone/>
            </a:pPr>
            <a:r>
              <a:rPr lang="en-US" sz="1200" b="1" dirty="0">
                <a:solidFill>
                  <a:srgbClr val="1E2761"/>
                </a:solidFill>
                <a:latin typeface="Calibri" pitchFamily="34" charset="0"/>
                <a:ea typeface="Calibri" pitchFamily="34" charset="-122"/>
                <a:cs typeface="Calibri" pitchFamily="34" charset="-120"/>
              </a:rPr>
              <a:t>RIPv2</a:t>
            </a:r>
            <a:r>
              <a:rPr lang="en-US" sz="1200" dirty="0">
                <a:solidFill>
                  <a:srgbClr val="1B2340"/>
                </a:solidFill>
                <a:latin typeface="Calibri" pitchFamily="34" charset="0"/>
                <a:ea typeface="Calibri" pitchFamily="34" charset="-122"/>
                <a:cs typeface="Calibri" pitchFamily="34" charset="-120"/>
              </a:rPr>
              <a:t> → Dynamic routing between internal routers</a:t>
            </a:r>
            <a:endParaRPr lang="en-US" sz="1200" dirty="0"/>
          </a:p>
          <a:p>
            <a:pPr marL="0" indent="0">
              <a:lnSpc>
                <a:spcPct val="105000"/>
              </a:lnSpc>
              <a:buNone/>
            </a:pPr>
            <a:r>
              <a:rPr lang="en-US" sz="1200" b="1" dirty="0">
                <a:solidFill>
                  <a:srgbClr val="1E2761"/>
                </a:solidFill>
                <a:latin typeface="Calibri" pitchFamily="34" charset="0"/>
                <a:ea typeface="Calibri" pitchFamily="34" charset="-122"/>
                <a:cs typeface="Calibri" pitchFamily="34" charset="-120"/>
              </a:rPr>
              <a:t>Static Routing</a:t>
            </a:r>
            <a:r>
              <a:rPr lang="en-US" sz="1200" dirty="0">
                <a:solidFill>
                  <a:srgbClr val="1B2340"/>
                </a:solidFill>
                <a:latin typeface="Calibri" pitchFamily="34" charset="0"/>
                <a:ea typeface="Calibri" pitchFamily="34" charset="-122"/>
                <a:cs typeface="Calibri" pitchFamily="34" charset="-120"/>
              </a:rPr>
              <a:t> → Connectivity with external cloud network</a:t>
            </a:r>
            <a:endParaRPr lang="en-US" sz="1200" dirty="0"/>
          </a:p>
        </p:txBody>
      </p:sp>
      <p:sp>
        <p:nvSpPr>
          <p:cNvPr id="18" name="Shape 16"/>
          <p:cNvSpPr/>
          <p:nvPr/>
        </p:nvSpPr>
        <p:spPr>
          <a:xfrm>
            <a:off x="5166360" y="3044952"/>
            <a:ext cx="6565392" cy="1481328"/>
          </a:xfrm>
          <a:prstGeom prst="roundRect">
            <a:avLst>
              <a:gd name="adj" fmla="val 4938"/>
            </a:avLst>
          </a:prstGeom>
          <a:solidFill>
            <a:srgbClr val="FFFFFF"/>
          </a:solidFill>
          <a:ln/>
          <a:effectLst>
            <a:outerShdw blurRad="76200" dist="25400" dir="5400000" algn="bl" rotWithShape="0">
              <a:srgbClr val="6B7694">
                <a:alpha val="18000"/>
              </a:srgbClr>
            </a:outerShdw>
          </a:effectLst>
        </p:spPr>
      </p:sp>
      <p:sp>
        <p:nvSpPr>
          <p:cNvPr id="19" name="Shape 17"/>
          <p:cNvSpPr/>
          <p:nvPr/>
        </p:nvSpPr>
        <p:spPr>
          <a:xfrm>
            <a:off x="5367528" y="3227832"/>
            <a:ext cx="329184" cy="329184"/>
          </a:xfrm>
          <a:prstGeom prst="ellipse">
            <a:avLst/>
          </a:prstGeom>
          <a:solidFill>
            <a:srgbClr val="00B4D8"/>
          </a:solidFill>
          <a:ln/>
        </p:spPr>
      </p:sp>
      <p:sp>
        <p:nvSpPr>
          <p:cNvPr id="20" name="Text 18"/>
          <p:cNvSpPr txBox="1"/>
          <p:nvPr/>
        </p:nvSpPr>
        <p:spPr>
          <a:xfrm>
            <a:off x="5367528" y="3227832"/>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1" name="Text 19"/>
          <p:cNvSpPr txBox="1"/>
          <p:nvPr/>
        </p:nvSpPr>
        <p:spPr>
          <a:xfrm>
            <a:off x="5806440" y="3191256"/>
            <a:ext cx="5650992" cy="384048"/>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Switching</a:t>
            </a:r>
            <a:endParaRPr lang="en-US" sz="1350" dirty="0"/>
          </a:p>
        </p:txBody>
      </p:sp>
      <p:sp>
        <p:nvSpPr>
          <p:cNvPr id="22" name="Text 20"/>
          <p:cNvSpPr txBox="1"/>
          <p:nvPr/>
        </p:nvSpPr>
        <p:spPr>
          <a:xfrm>
            <a:off x="5806440" y="3575304"/>
            <a:ext cx="5650992" cy="886968"/>
          </a:xfrm>
          <a:prstGeom prst="rect">
            <a:avLst/>
          </a:prstGeom>
          <a:noFill/>
          <a:ln/>
        </p:spPr>
        <p:txBody>
          <a:bodyPr wrap="square" lIns="0" tIns="0" rIns="0" bIns="0" rtlCol="0" anchor="t"/>
          <a:lstStyle/>
          <a:p>
            <a:pPr marL="0" indent="0">
              <a:lnSpc>
                <a:spcPct val="105000"/>
              </a:lnSpc>
              <a:buNone/>
            </a:pPr>
            <a:r>
              <a:rPr lang="en-US" sz="1200" b="1" dirty="0">
                <a:solidFill>
                  <a:srgbClr val="1E2761"/>
                </a:solidFill>
                <a:latin typeface="Calibri" pitchFamily="34" charset="0"/>
                <a:ea typeface="Calibri" pitchFamily="34" charset="-122"/>
                <a:cs typeface="Calibri" pitchFamily="34" charset="-120"/>
              </a:rPr>
              <a:t>VLANs</a:t>
            </a:r>
            <a:r>
              <a:rPr lang="en-US" sz="1200" dirty="0">
                <a:solidFill>
                  <a:srgbClr val="1B2340"/>
                </a:solidFill>
                <a:latin typeface="Calibri" pitchFamily="34" charset="0"/>
                <a:ea typeface="Calibri" pitchFamily="34" charset="-122"/>
                <a:cs typeface="Calibri" pitchFamily="34" charset="-120"/>
              </a:rPr>
              <a:t> → Department-wise network segmentation</a:t>
            </a:r>
            <a:endParaRPr lang="en-US" sz="1200" dirty="0"/>
          </a:p>
          <a:p>
            <a:pPr marL="0" indent="0">
              <a:lnSpc>
                <a:spcPct val="105000"/>
              </a:lnSpc>
              <a:buNone/>
            </a:pPr>
            <a:r>
              <a:rPr lang="en-US" sz="1200" b="1" dirty="0">
                <a:solidFill>
                  <a:srgbClr val="1E2761"/>
                </a:solidFill>
                <a:latin typeface="Calibri" pitchFamily="34" charset="0"/>
                <a:ea typeface="Calibri" pitchFamily="34" charset="-122"/>
                <a:cs typeface="Calibri" pitchFamily="34" charset="-120"/>
              </a:rPr>
              <a:t>Layer-3 Switching</a:t>
            </a:r>
            <a:r>
              <a:rPr lang="en-US" sz="1200" dirty="0">
                <a:solidFill>
                  <a:srgbClr val="1B2340"/>
                </a:solidFill>
                <a:latin typeface="Calibri" pitchFamily="34" charset="0"/>
                <a:ea typeface="Calibri" pitchFamily="34" charset="-122"/>
                <a:cs typeface="Calibri" pitchFamily="34" charset="-120"/>
              </a:rPr>
              <a:t> → Inter-VLAN communication</a:t>
            </a:r>
            <a:endParaRPr lang="en-US" sz="1200" dirty="0"/>
          </a:p>
          <a:p>
            <a:pPr marL="0" indent="0">
              <a:lnSpc>
                <a:spcPct val="105000"/>
              </a:lnSpc>
              <a:buNone/>
            </a:pPr>
            <a:r>
              <a:rPr lang="en-US" sz="1200" b="1" dirty="0">
                <a:solidFill>
                  <a:srgbClr val="1E2761"/>
                </a:solidFill>
                <a:latin typeface="Calibri" pitchFamily="34" charset="0"/>
                <a:ea typeface="Calibri" pitchFamily="34" charset="-122"/>
                <a:cs typeface="Calibri" pitchFamily="34" charset="-120"/>
              </a:rPr>
              <a:t>Switch Security</a:t>
            </a:r>
            <a:r>
              <a:rPr lang="en-US" sz="1200" dirty="0">
                <a:solidFill>
                  <a:srgbClr val="1B2340"/>
                </a:solidFill>
                <a:latin typeface="Calibri" pitchFamily="34" charset="0"/>
                <a:ea typeface="Calibri" pitchFamily="34" charset="-122"/>
                <a:cs typeface="Calibri" pitchFamily="34" charset="-120"/>
              </a:rPr>
              <a:t> → Controlled and secure network access</a:t>
            </a:r>
            <a:endParaRPr lang="en-US" sz="1200" dirty="0"/>
          </a:p>
        </p:txBody>
      </p:sp>
      <p:sp>
        <p:nvSpPr>
          <p:cNvPr id="23" name="Shape 21"/>
          <p:cNvSpPr/>
          <p:nvPr/>
        </p:nvSpPr>
        <p:spPr>
          <a:xfrm>
            <a:off x="5166360" y="4690872"/>
            <a:ext cx="6565392" cy="1170432"/>
          </a:xfrm>
          <a:prstGeom prst="roundRect">
            <a:avLst>
              <a:gd name="adj" fmla="val 6250"/>
            </a:avLst>
          </a:prstGeom>
          <a:solidFill>
            <a:srgbClr val="FFFFFF"/>
          </a:solidFill>
          <a:ln/>
          <a:effectLst>
            <a:outerShdw blurRad="76200" dist="25400" dir="5400000" algn="bl" rotWithShape="0">
              <a:srgbClr val="6B7694">
                <a:alpha val="18000"/>
              </a:srgbClr>
            </a:outerShdw>
          </a:effectLst>
        </p:spPr>
      </p:sp>
      <p:sp>
        <p:nvSpPr>
          <p:cNvPr id="24" name="Shape 22"/>
          <p:cNvSpPr/>
          <p:nvPr/>
        </p:nvSpPr>
        <p:spPr>
          <a:xfrm>
            <a:off x="5367528" y="4873752"/>
            <a:ext cx="329184" cy="329184"/>
          </a:xfrm>
          <a:prstGeom prst="ellipse">
            <a:avLst/>
          </a:prstGeom>
          <a:solidFill>
            <a:srgbClr val="00B4D8"/>
          </a:solidFill>
          <a:ln/>
        </p:spPr>
      </p:sp>
      <p:sp>
        <p:nvSpPr>
          <p:cNvPr id="25" name="Text 23"/>
          <p:cNvSpPr txBox="1"/>
          <p:nvPr/>
        </p:nvSpPr>
        <p:spPr>
          <a:xfrm>
            <a:off x="5367528" y="4873752"/>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6" name="Text 24"/>
          <p:cNvSpPr txBox="1"/>
          <p:nvPr/>
        </p:nvSpPr>
        <p:spPr>
          <a:xfrm>
            <a:off x="5806440" y="4837176"/>
            <a:ext cx="5650992" cy="384048"/>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2) IP Addressing</a:t>
            </a:r>
            <a:endParaRPr lang="en-US" sz="1350" dirty="0"/>
          </a:p>
        </p:txBody>
      </p:sp>
      <p:sp>
        <p:nvSpPr>
          <p:cNvPr id="27" name="Text 25"/>
          <p:cNvSpPr txBox="1"/>
          <p:nvPr/>
        </p:nvSpPr>
        <p:spPr>
          <a:xfrm>
            <a:off x="5806440" y="5221224"/>
            <a:ext cx="5650992" cy="576072"/>
          </a:xfrm>
          <a:prstGeom prst="rect">
            <a:avLst/>
          </a:prstGeom>
          <a:noFill/>
          <a:ln/>
        </p:spPr>
        <p:txBody>
          <a:bodyPr wrap="square" lIns="0" tIns="0" rIns="0" bIns="0" rtlCol="0" anchor="t"/>
          <a:lstStyle/>
          <a:p>
            <a:pPr marL="0" indent="0">
              <a:lnSpc>
                <a:spcPct val="105000"/>
              </a:lnSpc>
              <a:buNone/>
            </a:pPr>
            <a:r>
              <a:rPr lang="en-US" sz="1200" b="1" dirty="0">
                <a:solidFill>
                  <a:srgbClr val="1E2761"/>
                </a:solidFill>
                <a:latin typeface="Calibri" pitchFamily="34" charset="0"/>
                <a:ea typeface="Calibri" pitchFamily="34" charset="-122"/>
                <a:cs typeface="Calibri" pitchFamily="34" charset="-120"/>
              </a:rPr>
              <a:t>Each department</a:t>
            </a:r>
            <a:r>
              <a:rPr lang="en-US" sz="1200" dirty="0">
                <a:solidFill>
                  <a:srgbClr val="1B2340"/>
                </a:solidFill>
                <a:latin typeface="Calibri" pitchFamily="34" charset="0"/>
                <a:ea typeface="Calibri" pitchFamily="34" charset="-122"/>
                <a:cs typeface="Calibri" pitchFamily="34" charset="-120"/>
              </a:rPr>
              <a:t> assigned a separate IP network</a:t>
            </a:r>
            <a:endParaRPr lang="en-US" sz="1200" dirty="0"/>
          </a:p>
          <a:p>
            <a:pPr marL="0" indent="0">
              <a:lnSpc>
                <a:spcPct val="105000"/>
              </a:lnSpc>
              <a:buNone/>
            </a:pPr>
            <a:r>
              <a:rPr lang="en-US" sz="1200" b="1" dirty="0">
                <a:solidFill>
                  <a:srgbClr val="1E2761"/>
                </a:solidFill>
                <a:latin typeface="Calibri" pitchFamily="34" charset="0"/>
                <a:ea typeface="Calibri" pitchFamily="34" charset="-122"/>
                <a:cs typeface="Calibri" pitchFamily="34" charset="-120"/>
              </a:rPr>
              <a:t>DHCP</a:t>
            </a:r>
            <a:r>
              <a:rPr lang="en-US" sz="1200" dirty="0">
                <a:solidFill>
                  <a:srgbClr val="1B2340"/>
                </a:solidFill>
                <a:latin typeface="Calibri" pitchFamily="34" charset="0"/>
                <a:ea typeface="Calibri" pitchFamily="34" charset="-122"/>
                <a:cs typeface="Calibri" pitchFamily="34" charset="-120"/>
              </a:rPr>
              <a:t> provides automatic IP addresses </a:t>
            </a:r>
            <a:r>
              <a:rPr lang="en-US" sz="1200">
                <a:solidFill>
                  <a:srgbClr val="1B2340"/>
                </a:solidFill>
                <a:latin typeface="Calibri" pitchFamily="34" charset="0"/>
                <a:ea typeface="Calibri" pitchFamily="34" charset="-122"/>
                <a:cs typeface="Calibri" pitchFamily="34" charset="-120"/>
              </a:rPr>
              <a:t>to all </a:t>
            </a:r>
            <a:r>
              <a:rPr lang="en-US" sz="1200" dirty="0">
                <a:solidFill>
                  <a:srgbClr val="1B2340"/>
                </a:solidFill>
                <a:latin typeface="Calibri" pitchFamily="34" charset="0"/>
                <a:ea typeface="Calibri" pitchFamily="34" charset="-122"/>
                <a:cs typeface="Calibri" pitchFamily="34" charset="-120"/>
              </a:rPr>
              <a:t>devices</a:t>
            </a:r>
            <a:endParaRPr lang="en-US" sz="1200" dirty="0"/>
          </a:p>
        </p:txBody>
      </p:sp>
      <p:sp>
        <p:nvSpPr>
          <p:cNvPr id="28" name="Text 26"/>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Calibri" pitchFamily="34" charset="0"/>
                <a:ea typeface="Calibri" pitchFamily="34" charset="-122"/>
                <a:cs typeface="Calibri" pitchFamily="34" charset="-120"/>
              </a:rPr>
              <a:t>OUTR CAMPUS NETWORK  |  CISCO PACKET TRACER</a:t>
            </a:r>
            <a:endParaRPr lang="en-US" sz="800" dirty="0"/>
          </a:p>
        </p:txBody>
      </p:sp>
      <p:sp>
        <p:nvSpPr>
          <p:cNvPr id="29" name="Text 27"/>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6B769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Methodology / Approach</a:t>
            </a:r>
            <a:endParaRPr lang="en-US" sz="2800" dirty="0"/>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Calibri" pitchFamily="34" charset="0"/>
                <a:ea typeface="Calibri" pitchFamily="34" charset="-122"/>
                <a:cs typeface="Calibri" pitchFamily="34" charset="-120"/>
              </a:rPr>
              <a:t>SYSTEM MODEL</a:t>
            </a:r>
            <a:endParaRPr lang="en-US" sz="1100" dirty="0"/>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Text 4"/>
          <p:cNvSpPr txBox="1"/>
          <p:nvPr/>
        </p:nvSpPr>
        <p:spPr>
          <a:xfrm>
            <a:off x="457200" y="1170432"/>
            <a:ext cx="6583680" cy="41148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University Campus Network Model</a:t>
            </a:r>
            <a:endParaRPr lang="en-US" sz="1600" dirty="0"/>
          </a:p>
        </p:txBody>
      </p:sp>
      <p:sp>
        <p:nvSpPr>
          <p:cNvPr id="7" name="Text 5"/>
          <p:cNvSpPr txBox="1"/>
          <p:nvPr/>
        </p:nvSpPr>
        <p:spPr>
          <a:xfrm>
            <a:off x="457200" y="1664208"/>
            <a:ext cx="6583680" cy="4480560"/>
          </a:xfrm>
          <a:prstGeom prst="rect">
            <a:avLst/>
          </a:prstGeom>
          <a:noFill/>
          <a:ln/>
        </p:spPr>
        <p:txBody>
          <a:bodyPr wrap="square" lIns="0" tIns="0" rIns="0" bIns="0" rtlCol="0" anchor="t"/>
          <a:lstStyle/>
          <a:p>
            <a:pPr marL="177800" indent="-177800">
              <a:lnSpc>
                <a:spcPct val="115000"/>
              </a:lnSpc>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The four buildings operate as a connected campus network. Each department uses a separate IP network for better organization and security.</a:t>
            </a:r>
            <a:endParaRPr lang="en-US" sz="1300" dirty="0"/>
          </a:p>
          <a:p>
            <a:pPr marL="177800" indent="-177800">
              <a:lnSpc>
                <a:spcPct val="115000"/>
              </a:lnSpc>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VLANs provide logical segmentation within shared switching infrastructure.</a:t>
            </a:r>
            <a:endParaRPr lang="en-US" sz="1300" dirty="0"/>
          </a:p>
          <a:p>
            <a:pPr marL="177800" indent="-177800">
              <a:lnSpc>
                <a:spcPct val="115000"/>
              </a:lnSpc>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Routers and Layer-3 switches enable communication between different networks.</a:t>
            </a:r>
            <a:endParaRPr lang="en-US" sz="1300" dirty="0"/>
          </a:p>
          <a:p>
            <a:pPr marL="177800" indent="-177800">
              <a:lnSpc>
                <a:spcPct val="115000"/>
              </a:lnSpc>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RIPv2 automatically determines suitable routes within the internal network.</a:t>
            </a:r>
            <a:endParaRPr lang="en-US" sz="1300" dirty="0"/>
          </a:p>
          <a:p>
            <a:pPr marL="177800" indent="-177800">
              <a:lnSpc>
                <a:spcPct val="115000"/>
              </a:lnSpc>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Static routing provides connectivity to the external cloud-based email server.</a:t>
            </a:r>
            <a:endParaRPr lang="en-US" sz="1300" dirty="0"/>
          </a:p>
          <a:p>
            <a:pPr marL="177800" indent="-177800">
              <a:lnSpc>
                <a:spcPct val="115000"/>
              </a:lnSpc>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The architecture can be expanded to support additional buildings, users, and services.</a:t>
            </a:r>
            <a:endParaRPr lang="en-US" sz="1300" dirty="0"/>
          </a:p>
        </p:txBody>
      </p:sp>
      <p:sp>
        <p:nvSpPr>
          <p:cNvPr id="8" name="Shape 6"/>
          <p:cNvSpPr/>
          <p:nvPr/>
        </p:nvSpPr>
        <p:spPr>
          <a:xfrm>
            <a:off x="7223760" y="1691640"/>
            <a:ext cx="4645152" cy="3465452"/>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sp>
      <p:pic>
        <p:nvPicPr>
          <p:cNvPr id="9" name="Image 0" descr="media/system_model.png"/>
          <p:cNvPicPr>
            <a:picLocks noChangeAspect="1"/>
          </p:cNvPicPr>
          <p:nvPr/>
        </p:nvPicPr>
        <p:blipFill>
          <a:blip r:embed="rId3"/>
          <a:stretch>
            <a:fillRect/>
          </a:stretch>
        </p:blipFill>
        <p:spPr>
          <a:xfrm>
            <a:off x="7360920" y="1828800"/>
            <a:ext cx="4370832" cy="3191132"/>
          </a:xfrm>
          <a:prstGeom prst="rect">
            <a:avLst/>
          </a:prstGeom>
        </p:spPr>
      </p:pic>
      <p:sp>
        <p:nvSpPr>
          <p:cNvPr id="10" name="Text 7"/>
          <p:cNvSpPr txBox="1"/>
          <p:nvPr/>
        </p:nvSpPr>
        <p:spPr>
          <a:xfrm>
            <a:off x="7223760" y="5248532"/>
            <a:ext cx="4645152" cy="365760"/>
          </a:xfrm>
          <a:prstGeom prst="rect">
            <a:avLst/>
          </a:prstGeom>
          <a:noFill/>
          <a:ln/>
        </p:spPr>
        <p:txBody>
          <a:bodyPr wrap="square" lIns="0" tIns="0" rIns="0" bIns="0" rtlCol="0" anchor="ctr"/>
          <a:lstStyle/>
          <a:p>
            <a:pPr marL="0" indent="0" algn="ctr">
              <a:buNone/>
            </a:pPr>
            <a:r>
              <a:rPr lang="en-US" sz="1150" b="1" dirty="0">
                <a:solidFill>
                  <a:srgbClr val="6B7694"/>
                </a:solidFill>
                <a:latin typeface="Times New Roman" panose="02020603050405020304" pitchFamily="18" charset="0"/>
                <a:ea typeface="Calibri" pitchFamily="34" charset="-122"/>
                <a:cs typeface="Times New Roman" panose="02020603050405020304" pitchFamily="18" charset="0"/>
              </a:rPr>
              <a:t>Figure: System Model of University Network</a:t>
            </a:r>
            <a:endParaRPr lang="en-US" sz="1150" b="1" dirty="0">
              <a:latin typeface="Times New Roman" panose="02020603050405020304" pitchFamily="18" charset="0"/>
              <a:cs typeface="Times New Roman" panose="02020603050405020304" pitchFamily="18" charset="0"/>
            </a:endParaRPr>
          </a:p>
        </p:txBody>
      </p:sp>
      <p:sp>
        <p:nvSpPr>
          <p:cNvPr id="11" name="Text 8"/>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Calibri" pitchFamily="34" charset="0"/>
                <a:ea typeface="Calibri" pitchFamily="34" charset="-122"/>
                <a:cs typeface="Calibri" pitchFamily="34" charset="-120"/>
              </a:rPr>
              <a:t>OUTR CAMPUS NETWORK  |  CISCO PACKET TRACER</a:t>
            </a:r>
            <a:endParaRPr lang="en-US" sz="800" dirty="0"/>
          </a:p>
        </p:txBody>
      </p:sp>
      <p:sp>
        <p:nvSpPr>
          <p:cNvPr id="12" name="Text 9"/>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6B7694"/>
                </a:solidFill>
                <a:latin typeface="Calibri" pitchFamily="34" charset="0"/>
                <a:ea typeface="Calibri" pitchFamily="34" charset="-122"/>
                <a:cs typeface="Calibri" pitchFamily="34" charset="-120"/>
              </a:rPr>
              <a:t>16</a:t>
            </a:r>
            <a:endParaRPr lang="en-US" sz="900" dirty="0"/>
          </a:p>
        </p:txBody>
      </p:sp>
    </p:spTree>
    <p:extLst>
      <p:ext uri="{BB962C8B-B14F-4D97-AF65-F5344CB8AC3E}">
        <p14:creationId xmlns:p14="http://schemas.microsoft.com/office/powerpoint/2010/main" val="1007574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Methodology / Approach</a:t>
            </a:r>
            <a:endParaRPr lang="en-US" sz="2800" dirty="0"/>
          </a:p>
        </p:txBody>
      </p:sp>
      <p:sp>
        <p:nvSpPr>
          <p:cNvPr id="4" name="Text 2"/>
          <p:cNvSpPr txBox="1"/>
          <p:nvPr/>
        </p:nvSpPr>
        <p:spPr>
          <a:xfrm>
            <a:off x="7411212" y="429645"/>
            <a:ext cx="4233672" cy="365760"/>
          </a:xfrm>
          <a:prstGeom prst="rect">
            <a:avLst/>
          </a:prstGeom>
          <a:noFill/>
          <a:ln/>
        </p:spPr>
        <p:txBody>
          <a:bodyPr wrap="square" lIns="0" tIns="0" rIns="0" bIns="0" rtlCol="0" anchor="ctr"/>
          <a:lstStyle/>
          <a:p>
            <a:pPr marL="0" indent="0" algn="r">
              <a:buNone/>
            </a:pPr>
            <a:r>
              <a:rPr lang="en-US" sz="1100" kern="0" spc="150">
                <a:solidFill>
                  <a:srgbClr val="6B7694"/>
                </a:solidFill>
                <a:latin typeface="Calibri" pitchFamily="34" charset="0"/>
                <a:ea typeface="Calibri" pitchFamily="34" charset="-122"/>
                <a:cs typeface="Calibri" pitchFamily="34" charset="-120"/>
              </a:rPr>
              <a:t>STEPS</a:t>
            </a:r>
            <a:endParaRPr lang="en-US" sz="1100" dirty="0"/>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Text 4"/>
          <p:cNvSpPr txBox="1"/>
          <p:nvPr/>
        </p:nvSpPr>
        <p:spPr>
          <a:xfrm>
            <a:off x="457199" y="1042914"/>
            <a:ext cx="2886635" cy="411480"/>
          </a:xfrm>
          <a:prstGeom prst="rect">
            <a:avLst/>
          </a:prstGeom>
          <a:noFill/>
          <a:ln/>
        </p:spPr>
        <p:txBody>
          <a:bodyPr wrap="square" lIns="0" tIns="0" rIns="0" bIns="0" rtlCol="0" anchor="ctr"/>
          <a:lstStyle/>
          <a:p>
            <a:pPr marL="0" indent="0">
              <a:buNone/>
            </a:pPr>
            <a:r>
              <a:rPr lang="en-US" sz="1600" b="1">
                <a:solidFill>
                  <a:srgbClr val="1E2761"/>
                </a:solidFill>
                <a:latin typeface="Cambria" pitchFamily="34" charset="0"/>
                <a:ea typeface="Cambria" pitchFamily="34" charset="-122"/>
              </a:rPr>
              <a:t>1) OUTR Main Campus Router</a:t>
            </a:r>
            <a:endParaRPr lang="en-US" sz="1600" dirty="0"/>
          </a:p>
        </p:txBody>
      </p:sp>
      <p:sp>
        <p:nvSpPr>
          <p:cNvPr id="8" name="Shape 6"/>
          <p:cNvSpPr/>
          <p:nvPr/>
        </p:nvSpPr>
        <p:spPr>
          <a:xfrm>
            <a:off x="457199" y="1372099"/>
            <a:ext cx="1669229" cy="1406287"/>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r>
              <a:rPr lang="en-IN" sz="1200"/>
              <a:t>int gig0/0</a:t>
            </a:r>
          </a:p>
          <a:p>
            <a:r>
              <a:rPr lang="en-IN" sz="1200"/>
              <a:t>no sh</a:t>
            </a:r>
          </a:p>
          <a:p>
            <a:r>
              <a:rPr lang="en-IN" sz="1200"/>
              <a:t>int se0/1/0</a:t>
            </a:r>
          </a:p>
          <a:p>
            <a:r>
              <a:rPr lang="en-IN" sz="1200"/>
              <a:t>no sh</a:t>
            </a:r>
          </a:p>
          <a:p>
            <a:r>
              <a:rPr lang="en-IN" sz="1200"/>
              <a:t>int se0/1/1</a:t>
            </a:r>
          </a:p>
          <a:p>
            <a:r>
              <a:rPr lang="en-IN" sz="1200"/>
              <a:t>no sh </a:t>
            </a:r>
          </a:p>
          <a:p>
            <a:r>
              <a:rPr lang="en-IN" sz="1200"/>
              <a:t>exit</a:t>
            </a:r>
          </a:p>
        </p:txBody>
      </p:sp>
      <p:sp>
        <p:nvSpPr>
          <p:cNvPr id="11" name="Text 8"/>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Calibri" pitchFamily="34" charset="0"/>
                <a:ea typeface="Calibri" pitchFamily="34" charset="-122"/>
                <a:cs typeface="Calibri" pitchFamily="34" charset="-120"/>
              </a:rPr>
              <a:t>OUTR CAMPUS NETWORK  |  CISCO PACKET TRACER</a:t>
            </a:r>
            <a:endParaRPr lang="en-US" sz="800" dirty="0"/>
          </a:p>
        </p:txBody>
      </p:sp>
      <p:sp>
        <p:nvSpPr>
          <p:cNvPr id="12" name="Text 9"/>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a:solidFill>
                  <a:srgbClr val="6B7694"/>
                </a:solidFill>
                <a:latin typeface="Calibri" pitchFamily="34" charset="0"/>
                <a:ea typeface="Calibri" pitchFamily="34" charset="-122"/>
                <a:cs typeface="Calibri" pitchFamily="34" charset="-120"/>
              </a:rPr>
              <a:t>17</a:t>
            </a:r>
            <a:endParaRPr lang="en-US" sz="900" dirty="0"/>
          </a:p>
        </p:txBody>
      </p:sp>
      <p:sp>
        <p:nvSpPr>
          <p:cNvPr id="13" name="Text 4">
            <a:extLst>
              <a:ext uri="{FF2B5EF4-FFF2-40B4-BE49-F238E27FC236}">
                <a16:creationId xmlns:a16="http://schemas.microsoft.com/office/drawing/2014/main" id="{1DEC36DF-821B-4012-B328-293C241306EF}"/>
              </a:ext>
            </a:extLst>
          </p:cNvPr>
          <p:cNvSpPr txBox="1"/>
          <p:nvPr/>
        </p:nvSpPr>
        <p:spPr>
          <a:xfrm>
            <a:off x="3580683" y="1028130"/>
            <a:ext cx="1600917" cy="411480"/>
          </a:xfrm>
          <a:prstGeom prst="rect">
            <a:avLst/>
          </a:prstGeom>
          <a:noFill/>
          <a:ln/>
        </p:spPr>
        <p:txBody>
          <a:bodyPr wrap="square" lIns="0" tIns="0" rIns="0" bIns="0" rtlCol="0" anchor="ctr"/>
          <a:lstStyle/>
          <a:p>
            <a:pPr marL="0" indent="0">
              <a:buNone/>
            </a:pPr>
            <a:r>
              <a:rPr lang="en-US" sz="1600" b="1">
                <a:solidFill>
                  <a:srgbClr val="1E2761"/>
                </a:solidFill>
                <a:latin typeface="Cambria" pitchFamily="34" charset="0"/>
                <a:ea typeface="Cambria" pitchFamily="34" charset="-122"/>
              </a:rPr>
              <a:t>2) Cloud Router</a:t>
            </a:r>
            <a:endParaRPr lang="en-US" sz="1600" dirty="0"/>
          </a:p>
        </p:txBody>
      </p:sp>
      <p:sp>
        <p:nvSpPr>
          <p:cNvPr id="14" name="Shape 6">
            <a:extLst>
              <a:ext uri="{FF2B5EF4-FFF2-40B4-BE49-F238E27FC236}">
                <a16:creationId xmlns:a16="http://schemas.microsoft.com/office/drawing/2014/main" id="{C400DDE4-FEBF-4A79-9510-2DCD2B13B7C1}"/>
              </a:ext>
            </a:extLst>
          </p:cNvPr>
          <p:cNvSpPr/>
          <p:nvPr/>
        </p:nvSpPr>
        <p:spPr>
          <a:xfrm>
            <a:off x="3590409" y="1409180"/>
            <a:ext cx="1512167" cy="1461693"/>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r>
              <a:rPr lang="en-IN" sz="1200"/>
              <a:t> int gig0/0</a:t>
            </a:r>
          </a:p>
          <a:p>
            <a:r>
              <a:rPr lang="en-IN" sz="1200"/>
              <a:t> no sh</a:t>
            </a:r>
          </a:p>
          <a:p>
            <a:r>
              <a:rPr lang="en-IN" sz="1200"/>
              <a:t> int se0/1/0</a:t>
            </a:r>
          </a:p>
          <a:p>
            <a:r>
              <a:rPr lang="en-IN" sz="1200"/>
              <a:t> no sh</a:t>
            </a:r>
          </a:p>
          <a:p>
            <a:r>
              <a:rPr lang="en-IN" sz="1200"/>
              <a:t> do wr </a:t>
            </a:r>
          </a:p>
        </p:txBody>
      </p:sp>
      <p:sp>
        <p:nvSpPr>
          <p:cNvPr id="15" name="Text 4">
            <a:extLst>
              <a:ext uri="{FF2B5EF4-FFF2-40B4-BE49-F238E27FC236}">
                <a16:creationId xmlns:a16="http://schemas.microsoft.com/office/drawing/2014/main" id="{F76BCA9F-1B96-418C-A4AB-489C3E3B0CDC}"/>
              </a:ext>
            </a:extLst>
          </p:cNvPr>
          <p:cNvSpPr txBox="1"/>
          <p:nvPr/>
        </p:nvSpPr>
        <p:spPr>
          <a:xfrm>
            <a:off x="5360535" y="1028130"/>
            <a:ext cx="2658752" cy="411480"/>
          </a:xfrm>
          <a:prstGeom prst="rect">
            <a:avLst/>
          </a:prstGeom>
          <a:noFill/>
          <a:ln/>
        </p:spPr>
        <p:txBody>
          <a:bodyPr wrap="square" lIns="0" tIns="0" rIns="0" bIns="0" rtlCol="0" anchor="ctr"/>
          <a:lstStyle/>
          <a:p>
            <a:pPr marL="0" indent="0">
              <a:buNone/>
            </a:pPr>
            <a:r>
              <a:rPr lang="en-US" sz="1600" b="1">
                <a:solidFill>
                  <a:srgbClr val="1E2761"/>
                </a:solidFill>
                <a:latin typeface="Cambria" pitchFamily="34" charset="0"/>
                <a:ea typeface="Cambria" pitchFamily="34" charset="-122"/>
              </a:rPr>
              <a:t>3) ECE Main Branch Router</a:t>
            </a:r>
            <a:endParaRPr lang="en-US" sz="1600" dirty="0"/>
          </a:p>
        </p:txBody>
      </p:sp>
      <p:sp>
        <p:nvSpPr>
          <p:cNvPr id="16" name="Shape 6">
            <a:extLst>
              <a:ext uri="{FF2B5EF4-FFF2-40B4-BE49-F238E27FC236}">
                <a16:creationId xmlns:a16="http://schemas.microsoft.com/office/drawing/2014/main" id="{B221C511-C61E-46BA-96A4-8D8E4E65D33C}"/>
              </a:ext>
            </a:extLst>
          </p:cNvPr>
          <p:cNvSpPr/>
          <p:nvPr/>
        </p:nvSpPr>
        <p:spPr>
          <a:xfrm>
            <a:off x="5498235" y="1388126"/>
            <a:ext cx="1512167" cy="1466534"/>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r>
              <a:rPr lang="en-IN" sz="1200"/>
              <a:t> int gig0/0</a:t>
            </a:r>
          </a:p>
          <a:p>
            <a:r>
              <a:rPr lang="en-IN" sz="1200"/>
              <a:t> no sh</a:t>
            </a:r>
          </a:p>
          <a:p>
            <a:r>
              <a:rPr lang="en-IN" sz="1200"/>
              <a:t> int se0/2/0</a:t>
            </a:r>
          </a:p>
          <a:p>
            <a:r>
              <a:rPr lang="en-IN" sz="1200"/>
              <a:t> no sh</a:t>
            </a:r>
          </a:p>
          <a:p>
            <a:r>
              <a:rPr lang="en-IN" sz="1200"/>
              <a:t> do wr</a:t>
            </a:r>
          </a:p>
        </p:txBody>
      </p:sp>
      <p:sp>
        <p:nvSpPr>
          <p:cNvPr id="17" name="Shape 6">
            <a:extLst>
              <a:ext uri="{FF2B5EF4-FFF2-40B4-BE49-F238E27FC236}">
                <a16:creationId xmlns:a16="http://schemas.microsoft.com/office/drawing/2014/main" id="{3EB4D1DC-ACD5-4B2E-A897-C196153439B2}"/>
              </a:ext>
            </a:extLst>
          </p:cNvPr>
          <p:cNvSpPr/>
          <p:nvPr/>
        </p:nvSpPr>
        <p:spPr>
          <a:xfrm>
            <a:off x="8156987" y="1388126"/>
            <a:ext cx="1512167" cy="1251293"/>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r>
              <a:rPr lang="en-IN" sz="1200"/>
              <a:t> int se0/1/1</a:t>
            </a:r>
          </a:p>
          <a:p>
            <a:r>
              <a:rPr lang="en-IN" sz="1200"/>
              <a:t> clock rate 6400</a:t>
            </a:r>
          </a:p>
          <a:p>
            <a:r>
              <a:rPr lang="en-IN" sz="1200"/>
              <a:t> int se0/1/0</a:t>
            </a:r>
          </a:p>
          <a:p>
            <a:r>
              <a:rPr lang="en-IN" sz="1200"/>
              <a:t> clock rate 6400</a:t>
            </a:r>
          </a:p>
          <a:p>
            <a:r>
              <a:rPr lang="en-IN" sz="1200"/>
              <a:t> do wr</a:t>
            </a:r>
          </a:p>
          <a:p>
            <a:r>
              <a:rPr lang="en-IN" sz="1200"/>
              <a:t> exit</a:t>
            </a:r>
          </a:p>
        </p:txBody>
      </p:sp>
      <p:sp>
        <p:nvSpPr>
          <p:cNvPr id="18" name="Text 4">
            <a:extLst>
              <a:ext uri="{FF2B5EF4-FFF2-40B4-BE49-F238E27FC236}">
                <a16:creationId xmlns:a16="http://schemas.microsoft.com/office/drawing/2014/main" id="{E8B0286C-5170-427C-931E-CBA01434B78F}"/>
              </a:ext>
            </a:extLst>
          </p:cNvPr>
          <p:cNvSpPr txBox="1"/>
          <p:nvPr/>
        </p:nvSpPr>
        <p:spPr>
          <a:xfrm>
            <a:off x="8078006" y="1024128"/>
            <a:ext cx="2900083" cy="411480"/>
          </a:xfrm>
          <a:prstGeom prst="rect">
            <a:avLst/>
          </a:prstGeom>
          <a:noFill/>
          <a:ln/>
        </p:spPr>
        <p:txBody>
          <a:bodyPr wrap="square" lIns="0" tIns="0" rIns="0" bIns="0" rtlCol="0" anchor="ctr"/>
          <a:lstStyle/>
          <a:p>
            <a:pPr marL="0" indent="0">
              <a:buNone/>
            </a:pPr>
            <a:r>
              <a:rPr lang="en-US" sz="1600" b="1">
                <a:solidFill>
                  <a:srgbClr val="1E2761"/>
                </a:solidFill>
                <a:latin typeface="Cambria" pitchFamily="34" charset="0"/>
                <a:ea typeface="Cambria" pitchFamily="34" charset="-122"/>
              </a:rPr>
              <a:t>4) OUTR Main Campus Router</a:t>
            </a:r>
            <a:endParaRPr lang="en-US" sz="1600" dirty="0"/>
          </a:p>
        </p:txBody>
      </p:sp>
      <p:sp>
        <p:nvSpPr>
          <p:cNvPr id="19" name="Text 4">
            <a:extLst>
              <a:ext uri="{FF2B5EF4-FFF2-40B4-BE49-F238E27FC236}">
                <a16:creationId xmlns:a16="http://schemas.microsoft.com/office/drawing/2014/main" id="{D673685D-1410-46C2-9A9D-FEA95B61A9B4}"/>
              </a:ext>
            </a:extLst>
          </p:cNvPr>
          <p:cNvSpPr txBox="1"/>
          <p:nvPr/>
        </p:nvSpPr>
        <p:spPr>
          <a:xfrm>
            <a:off x="469573" y="2725626"/>
            <a:ext cx="1801906" cy="411480"/>
          </a:xfrm>
          <a:prstGeom prst="rect">
            <a:avLst/>
          </a:prstGeom>
          <a:noFill/>
          <a:ln/>
        </p:spPr>
        <p:txBody>
          <a:bodyPr wrap="square" lIns="0" tIns="0" rIns="0" bIns="0" rtlCol="0" anchor="ctr"/>
          <a:lstStyle/>
          <a:p>
            <a:pPr marL="0" indent="0">
              <a:buNone/>
            </a:pPr>
            <a:r>
              <a:rPr lang="en-US" sz="1600" b="1">
                <a:solidFill>
                  <a:srgbClr val="1E2761"/>
                </a:solidFill>
                <a:latin typeface="Cambria" pitchFamily="34" charset="0"/>
                <a:ea typeface="Cambria" pitchFamily="34" charset="-122"/>
              </a:rPr>
              <a:t>5) Switch</a:t>
            </a:r>
            <a:endParaRPr lang="en-US" sz="1600" dirty="0"/>
          </a:p>
        </p:txBody>
      </p:sp>
      <p:sp>
        <p:nvSpPr>
          <p:cNvPr id="20" name="Text 4">
            <a:extLst>
              <a:ext uri="{FF2B5EF4-FFF2-40B4-BE49-F238E27FC236}">
                <a16:creationId xmlns:a16="http://schemas.microsoft.com/office/drawing/2014/main" id="{CCC00B3E-01BE-456F-9249-02E1B75F01F0}"/>
              </a:ext>
            </a:extLst>
          </p:cNvPr>
          <p:cNvSpPr txBox="1"/>
          <p:nvPr/>
        </p:nvSpPr>
        <p:spPr>
          <a:xfrm>
            <a:off x="5329518" y="2782270"/>
            <a:ext cx="2827469" cy="411480"/>
          </a:xfrm>
          <a:prstGeom prst="rect">
            <a:avLst/>
          </a:prstGeom>
          <a:noFill/>
          <a:ln/>
        </p:spPr>
        <p:txBody>
          <a:bodyPr wrap="square" lIns="0" tIns="0" rIns="0" bIns="0" rtlCol="0" anchor="ctr"/>
          <a:lstStyle/>
          <a:p>
            <a:pPr marL="0" indent="0">
              <a:buNone/>
            </a:pPr>
            <a:r>
              <a:rPr lang="en-US" sz="1600" b="1">
                <a:solidFill>
                  <a:srgbClr val="1E2761"/>
                </a:solidFill>
                <a:latin typeface="Cambria" pitchFamily="34" charset="0"/>
                <a:ea typeface="Cambria" pitchFamily="34" charset="-122"/>
              </a:rPr>
              <a:t>6) OUTR Main Campus Switch</a:t>
            </a:r>
            <a:endParaRPr lang="en-US" sz="1600" dirty="0"/>
          </a:p>
        </p:txBody>
      </p:sp>
      <p:sp>
        <p:nvSpPr>
          <p:cNvPr id="21" name="Shape 6">
            <a:extLst>
              <a:ext uri="{FF2B5EF4-FFF2-40B4-BE49-F238E27FC236}">
                <a16:creationId xmlns:a16="http://schemas.microsoft.com/office/drawing/2014/main" id="{489A1E30-13E0-4085-9FBC-3B15E75DBD90}"/>
              </a:ext>
            </a:extLst>
          </p:cNvPr>
          <p:cNvSpPr/>
          <p:nvPr/>
        </p:nvSpPr>
        <p:spPr>
          <a:xfrm>
            <a:off x="457199" y="3058844"/>
            <a:ext cx="2204246" cy="3707367"/>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pPr algn="just"/>
            <a:r>
              <a:rPr lang="en-IN" sz="1200"/>
              <a:t> </a:t>
            </a:r>
            <a:r>
              <a:rPr lang="en-IN" sz="1200">
                <a:latin typeface="Times New Roman" panose="02020603050405020304" pitchFamily="18" charset="0"/>
                <a:cs typeface="Times New Roman" panose="02020603050405020304" pitchFamily="18" charset="0"/>
              </a:rPr>
              <a:t>int range fa0/1-24</a:t>
            </a:r>
          </a:p>
          <a:p>
            <a:pPr algn="just"/>
            <a:r>
              <a:rPr lang="en-IN" sz="1200">
                <a:latin typeface="Times New Roman" panose="02020603050405020304" pitchFamily="18" charset="0"/>
                <a:cs typeface="Times New Roman" panose="02020603050405020304" pitchFamily="18" charset="0"/>
              </a:rPr>
              <a:t> switchport mode access</a:t>
            </a:r>
          </a:p>
          <a:p>
            <a:pPr algn="just"/>
            <a:r>
              <a:rPr lang="en-IN" sz="1200">
                <a:latin typeface="Times New Roman" panose="02020603050405020304" pitchFamily="18" charset="0"/>
                <a:cs typeface="Times New Roman" panose="02020603050405020304" pitchFamily="18" charset="0"/>
              </a:rPr>
              <a:t> switchport access vlan 10</a:t>
            </a:r>
          </a:p>
          <a:p>
            <a:pPr algn="just"/>
            <a:r>
              <a:rPr lang="en-IN" sz="1200">
                <a:latin typeface="Times New Roman" panose="02020603050405020304" pitchFamily="18" charset="0"/>
                <a:cs typeface="Times New Roman" panose="02020603050405020304" pitchFamily="18" charset="0"/>
              </a:rPr>
              <a:t> do wr </a:t>
            </a:r>
          </a:p>
          <a:p>
            <a:pPr algn="just"/>
            <a:r>
              <a:rPr lang="en-IN" sz="1200">
                <a:latin typeface="Times New Roman" panose="02020603050405020304" pitchFamily="18" charset="0"/>
                <a:cs typeface="Times New Roman" panose="02020603050405020304" pitchFamily="18" charset="0"/>
              </a:rPr>
              <a:t> exit</a:t>
            </a:r>
          </a:p>
          <a:p>
            <a:pPr algn="just"/>
            <a:r>
              <a:rPr lang="en-IN" sz="1200">
                <a:solidFill>
                  <a:srgbClr val="00B0F0"/>
                </a:solidFill>
                <a:latin typeface="Times New Roman" panose="02020603050405020304" pitchFamily="18" charset="0"/>
                <a:cs typeface="Times New Roman" panose="02020603050405020304" pitchFamily="18" charset="0"/>
              </a:rPr>
              <a:t>.</a:t>
            </a:r>
            <a:r>
              <a:rPr lang="en-IN" sz="1200"/>
              <a:t> </a:t>
            </a:r>
            <a:r>
              <a:rPr lang="en-IN" sz="1200">
                <a:latin typeface="Times New Roman" panose="02020603050405020304" pitchFamily="18" charset="0"/>
                <a:cs typeface="Times New Roman" panose="02020603050405020304" pitchFamily="18" charset="0"/>
              </a:rPr>
              <a:t>int range fa0/1-24</a:t>
            </a:r>
          </a:p>
          <a:p>
            <a:pPr algn="just"/>
            <a:r>
              <a:rPr lang="en-IN" sz="1200">
                <a:latin typeface="Times New Roman" panose="02020603050405020304" pitchFamily="18" charset="0"/>
                <a:cs typeface="Times New Roman" panose="02020603050405020304" pitchFamily="18" charset="0"/>
              </a:rPr>
              <a:t> switchport mode access</a:t>
            </a:r>
          </a:p>
          <a:p>
            <a:pPr algn="just"/>
            <a:r>
              <a:rPr lang="en-IN" sz="1200">
                <a:latin typeface="Times New Roman" panose="02020603050405020304" pitchFamily="18" charset="0"/>
                <a:cs typeface="Times New Roman" panose="02020603050405020304" pitchFamily="18" charset="0"/>
              </a:rPr>
              <a:t> switchport access vlan 20</a:t>
            </a:r>
          </a:p>
          <a:p>
            <a:pPr algn="just"/>
            <a:r>
              <a:rPr lang="en-IN" sz="1200">
                <a:latin typeface="Times New Roman" panose="02020603050405020304" pitchFamily="18" charset="0"/>
                <a:cs typeface="Times New Roman" panose="02020603050405020304" pitchFamily="18" charset="0"/>
              </a:rPr>
              <a:t> do wr </a:t>
            </a:r>
          </a:p>
          <a:p>
            <a:pPr algn="just"/>
            <a:r>
              <a:rPr lang="en-IN" sz="1200">
                <a:latin typeface="Times New Roman" panose="02020603050405020304" pitchFamily="18" charset="0"/>
                <a:cs typeface="Times New Roman" panose="02020603050405020304" pitchFamily="18" charset="0"/>
              </a:rPr>
              <a:t> exit</a:t>
            </a:r>
          </a:p>
          <a:p>
            <a:pPr algn="just"/>
            <a:r>
              <a:rPr lang="en-IN" sz="1200"/>
              <a:t> </a:t>
            </a:r>
            <a:r>
              <a:rPr lang="en-IN" sz="1200">
                <a:latin typeface="Times New Roman" panose="02020603050405020304" pitchFamily="18" charset="0"/>
                <a:cs typeface="Times New Roman" panose="02020603050405020304" pitchFamily="18" charset="0"/>
              </a:rPr>
              <a:t>int range fa0/1-24</a:t>
            </a:r>
          </a:p>
          <a:p>
            <a:pPr algn="just"/>
            <a:r>
              <a:rPr lang="en-IN" sz="1200">
                <a:latin typeface="Times New Roman" panose="02020603050405020304" pitchFamily="18" charset="0"/>
                <a:cs typeface="Times New Roman" panose="02020603050405020304" pitchFamily="18" charset="0"/>
              </a:rPr>
              <a:t> switchport mode access</a:t>
            </a:r>
          </a:p>
          <a:p>
            <a:pPr algn="just"/>
            <a:r>
              <a:rPr lang="en-IN" sz="1200">
                <a:latin typeface="Times New Roman" panose="02020603050405020304" pitchFamily="18" charset="0"/>
                <a:cs typeface="Times New Roman" panose="02020603050405020304" pitchFamily="18" charset="0"/>
              </a:rPr>
              <a:t> switchport access vlan 30</a:t>
            </a:r>
          </a:p>
          <a:p>
            <a:pPr algn="just"/>
            <a:r>
              <a:rPr lang="en-IN" sz="1200">
                <a:latin typeface="Times New Roman" panose="02020603050405020304" pitchFamily="18" charset="0"/>
                <a:cs typeface="Times New Roman" panose="02020603050405020304" pitchFamily="18" charset="0"/>
              </a:rPr>
              <a:t> do wr </a:t>
            </a:r>
          </a:p>
          <a:p>
            <a:pPr algn="just"/>
            <a:r>
              <a:rPr lang="en-IN" sz="1200">
                <a:latin typeface="Times New Roman" panose="02020603050405020304" pitchFamily="18" charset="0"/>
                <a:cs typeface="Times New Roman" panose="02020603050405020304" pitchFamily="18" charset="0"/>
              </a:rPr>
              <a:t> exit</a:t>
            </a:r>
          </a:p>
          <a:p>
            <a:pPr algn="just"/>
            <a:r>
              <a:rPr lang="en-IN" sz="1200"/>
              <a:t> </a:t>
            </a:r>
            <a:r>
              <a:rPr lang="en-IN" sz="1200">
                <a:latin typeface="Times New Roman" panose="02020603050405020304" pitchFamily="18" charset="0"/>
                <a:cs typeface="Times New Roman" panose="02020603050405020304" pitchFamily="18" charset="0"/>
              </a:rPr>
              <a:t>int range fa0/1-24</a:t>
            </a:r>
          </a:p>
          <a:p>
            <a:pPr algn="just"/>
            <a:r>
              <a:rPr lang="en-IN" sz="1200">
                <a:latin typeface="Times New Roman" panose="02020603050405020304" pitchFamily="18" charset="0"/>
                <a:cs typeface="Times New Roman" panose="02020603050405020304" pitchFamily="18" charset="0"/>
              </a:rPr>
              <a:t> switchport mode access</a:t>
            </a:r>
          </a:p>
          <a:p>
            <a:pPr algn="just"/>
            <a:r>
              <a:rPr lang="en-IN" sz="1200">
                <a:latin typeface="Times New Roman" panose="02020603050405020304" pitchFamily="18" charset="0"/>
                <a:cs typeface="Times New Roman" panose="02020603050405020304" pitchFamily="18" charset="0"/>
              </a:rPr>
              <a:t> switchport access vlan 40</a:t>
            </a:r>
          </a:p>
          <a:p>
            <a:pPr algn="just"/>
            <a:r>
              <a:rPr lang="en-IN" sz="1200">
                <a:latin typeface="Times New Roman" panose="02020603050405020304" pitchFamily="18" charset="0"/>
                <a:cs typeface="Times New Roman" panose="02020603050405020304" pitchFamily="18" charset="0"/>
              </a:rPr>
              <a:t> do wr </a:t>
            </a:r>
          </a:p>
          <a:p>
            <a:pPr algn="just"/>
            <a:r>
              <a:rPr lang="en-IN" sz="1200">
                <a:latin typeface="Times New Roman" panose="02020603050405020304" pitchFamily="18" charset="0"/>
                <a:cs typeface="Times New Roman" panose="02020603050405020304" pitchFamily="18" charset="0"/>
              </a:rPr>
              <a:t> exit</a:t>
            </a:r>
          </a:p>
          <a:p>
            <a:pPr algn="just"/>
            <a:endParaRPr lang="en-IN" sz="1200">
              <a:solidFill>
                <a:srgbClr val="00B0F0"/>
              </a:solidFill>
              <a:latin typeface="Times New Roman" panose="02020603050405020304" pitchFamily="18" charset="0"/>
              <a:cs typeface="Times New Roman" panose="02020603050405020304" pitchFamily="18" charset="0"/>
            </a:endParaRPr>
          </a:p>
        </p:txBody>
      </p:sp>
      <p:sp>
        <p:nvSpPr>
          <p:cNvPr id="22" name="Shape 6">
            <a:extLst>
              <a:ext uri="{FF2B5EF4-FFF2-40B4-BE49-F238E27FC236}">
                <a16:creationId xmlns:a16="http://schemas.microsoft.com/office/drawing/2014/main" id="{98FFCB09-6DB7-469C-8837-B9BF84A57599}"/>
              </a:ext>
            </a:extLst>
          </p:cNvPr>
          <p:cNvSpPr/>
          <p:nvPr/>
        </p:nvSpPr>
        <p:spPr>
          <a:xfrm>
            <a:off x="2723029" y="3058843"/>
            <a:ext cx="2062780" cy="3707367"/>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pPr algn="just"/>
            <a:r>
              <a:rPr lang="en-IN" sz="1200"/>
              <a:t> </a:t>
            </a:r>
            <a:r>
              <a:rPr lang="en-IN" sz="1200">
                <a:latin typeface="Times New Roman" panose="02020603050405020304" pitchFamily="18" charset="0"/>
                <a:cs typeface="Times New Roman" panose="02020603050405020304" pitchFamily="18" charset="0"/>
              </a:rPr>
              <a:t>int range fa0/1-24</a:t>
            </a:r>
          </a:p>
          <a:p>
            <a:pPr algn="just"/>
            <a:r>
              <a:rPr lang="en-IN" sz="1200">
                <a:latin typeface="Times New Roman" panose="02020603050405020304" pitchFamily="18" charset="0"/>
                <a:cs typeface="Times New Roman" panose="02020603050405020304" pitchFamily="18" charset="0"/>
              </a:rPr>
              <a:t> switchport mode access</a:t>
            </a:r>
          </a:p>
          <a:p>
            <a:pPr algn="just"/>
            <a:r>
              <a:rPr lang="en-IN" sz="1200">
                <a:latin typeface="Times New Roman" panose="02020603050405020304" pitchFamily="18" charset="0"/>
                <a:cs typeface="Times New Roman" panose="02020603050405020304" pitchFamily="18" charset="0"/>
              </a:rPr>
              <a:t> switchport access vlan 50</a:t>
            </a:r>
          </a:p>
          <a:p>
            <a:pPr algn="just"/>
            <a:r>
              <a:rPr lang="en-IN" sz="1200">
                <a:latin typeface="Times New Roman" panose="02020603050405020304" pitchFamily="18" charset="0"/>
                <a:cs typeface="Times New Roman" panose="02020603050405020304" pitchFamily="18" charset="0"/>
              </a:rPr>
              <a:t> do wr </a:t>
            </a:r>
          </a:p>
          <a:p>
            <a:pPr algn="just"/>
            <a:r>
              <a:rPr lang="en-IN" sz="1200">
                <a:latin typeface="Times New Roman" panose="02020603050405020304" pitchFamily="18" charset="0"/>
                <a:cs typeface="Times New Roman" panose="02020603050405020304" pitchFamily="18" charset="0"/>
              </a:rPr>
              <a:t> exit</a:t>
            </a:r>
          </a:p>
          <a:p>
            <a:pPr algn="just"/>
            <a:r>
              <a:rPr lang="en-IN" sz="1200">
                <a:solidFill>
                  <a:srgbClr val="00B0F0"/>
                </a:solidFill>
                <a:latin typeface="Times New Roman" panose="02020603050405020304" pitchFamily="18" charset="0"/>
                <a:cs typeface="Times New Roman" panose="02020603050405020304" pitchFamily="18" charset="0"/>
              </a:rPr>
              <a:t>.</a:t>
            </a:r>
            <a:r>
              <a:rPr lang="en-IN" sz="1200"/>
              <a:t> </a:t>
            </a:r>
            <a:r>
              <a:rPr lang="en-IN" sz="1200">
                <a:latin typeface="Times New Roman" panose="02020603050405020304" pitchFamily="18" charset="0"/>
                <a:cs typeface="Times New Roman" panose="02020603050405020304" pitchFamily="18" charset="0"/>
              </a:rPr>
              <a:t>int range fa0/1-24</a:t>
            </a:r>
          </a:p>
          <a:p>
            <a:pPr algn="just"/>
            <a:r>
              <a:rPr lang="en-IN" sz="1200">
                <a:latin typeface="Times New Roman" panose="02020603050405020304" pitchFamily="18" charset="0"/>
                <a:cs typeface="Times New Roman" panose="02020603050405020304" pitchFamily="18" charset="0"/>
              </a:rPr>
              <a:t> switchport mode access</a:t>
            </a:r>
          </a:p>
          <a:p>
            <a:pPr algn="just"/>
            <a:r>
              <a:rPr lang="en-IN" sz="1200">
                <a:latin typeface="Times New Roman" panose="02020603050405020304" pitchFamily="18" charset="0"/>
                <a:cs typeface="Times New Roman" panose="02020603050405020304" pitchFamily="18" charset="0"/>
              </a:rPr>
              <a:t> switchport access vlan 60</a:t>
            </a:r>
          </a:p>
          <a:p>
            <a:pPr algn="just"/>
            <a:r>
              <a:rPr lang="en-IN" sz="1200">
                <a:latin typeface="Times New Roman" panose="02020603050405020304" pitchFamily="18" charset="0"/>
                <a:cs typeface="Times New Roman" panose="02020603050405020304" pitchFamily="18" charset="0"/>
              </a:rPr>
              <a:t> do wr </a:t>
            </a:r>
          </a:p>
          <a:p>
            <a:pPr algn="just"/>
            <a:r>
              <a:rPr lang="en-IN" sz="1200">
                <a:latin typeface="Times New Roman" panose="02020603050405020304" pitchFamily="18" charset="0"/>
                <a:cs typeface="Times New Roman" panose="02020603050405020304" pitchFamily="18" charset="0"/>
              </a:rPr>
              <a:t> exit</a:t>
            </a:r>
          </a:p>
          <a:p>
            <a:pPr algn="just"/>
            <a:r>
              <a:rPr lang="en-IN" sz="1200"/>
              <a:t> </a:t>
            </a:r>
            <a:r>
              <a:rPr lang="en-IN" sz="1200">
                <a:latin typeface="Times New Roman" panose="02020603050405020304" pitchFamily="18" charset="0"/>
                <a:cs typeface="Times New Roman" panose="02020603050405020304" pitchFamily="18" charset="0"/>
              </a:rPr>
              <a:t>int range fa0/1-24</a:t>
            </a:r>
          </a:p>
          <a:p>
            <a:pPr algn="just"/>
            <a:r>
              <a:rPr lang="en-IN" sz="1200">
                <a:latin typeface="Times New Roman" panose="02020603050405020304" pitchFamily="18" charset="0"/>
                <a:cs typeface="Times New Roman" panose="02020603050405020304" pitchFamily="18" charset="0"/>
              </a:rPr>
              <a:t> switchport mode access</a:t>
            </a:r>
          </a:p>
          <a:p>
            <a:pPr algn="just"/>
            <a:r>
              <a:rPr lang="en-IN" sz="1200">
                <a:latin typeface="Times New Roman" panose="02020603050405020304" pitchFamily="18" charset="0"/>
                <a:cs typeface="Times New Roman" panose="02020603050405020304" pitchFamily="18" charset="0"/>
              </a:rPr>
              <a:t> switchport access vlan 70</a:t>
            </a:r>
          </a:p>
          <a:p>
            <a:pPr algn="just"/>
            <a:r>
              <a:rPr lang="en-IN" sz="1200">
                <a:latin typeface="Times New Roman" panose="02020603050405020304" pitchFamily="18" charset="0"/>
                <a:cs typeface="Times New Roman" panose="02020603050405020304" pitchFamily="18" charset="0"/>
              </a:rPr>
              <a:t> do wr </a:t>
            </a:r>
          </a:p>
          <a:p>
            <a:pPr algn="just"/>
            <a:r>
              <a:rPr lang="en-IN" sz="1200">
                <a:latin typeface="Times New Roman" panose="02020603050405020304" pitchFamily="18" charset="0"/>
                <a:cs typeface="Times New Roman" panose="02020603050405020304" pitchFamily="18" charset="0"/>
              </a:rPr>
              <a:t> exit</a:t>
            </a:r>
          </a:p>
          <a:p>
            <a:pPr algn="just"/>
            <a:r>
              <a:rPr lang="en-IN" sz="1200"/>
              <a:t> </a:t>
            </a:r>
            <a:r>
              <a:rPr lang="en-IN" sz="1200">
                <a:latin typeface="Times New Roman" panose="02020603050405020304" pitchFamily="18" charset="0"/>
                <a:cs typeface="Times New Roman" panose="02020603050405020304" pitchFamily="18" charset="0"/>
              </a:rPr>
              <a:t>int range fa0/1-24</a:t>
            </a:r>
          </a:p>
          <a:p>
            <a:pPr algn="just"/>
            <a:r>
              <a:rPr lang="en-IN" sz="1200">
                <a:latin typeface="Times New Roman" panose="02020603050405020304" pitchFamily="18" charset="0"/>
                <a:cs typeface="Times New Roman" panose="02020603050405020304" pitchFamily="18" charset="0"/>
              </a:rPr>
              <a:t> switchport mode access</a:t>
            </a:r>
          </a:p>
          <a:p>
            <a:pPr algn="just"/>
            <a:r>
              <a:rPr lang="en-IN" sz="1200">
                <a:latin typeface="Times New Roman" panose="02020603050405020304" pitchFamily="18" charset="0"/>
                <a:cs typeface="Times New Roman" panose="02020603050405020304" pitchFamily="18" charset="0"/>
              </a:rPr>
              <a:t> switchport access vlan 80</a:t>
            </a:r>
          </a:p>
          <a:p>
            <a:pPr algn="just"/>
            <a:r>
              <a:rPr lang="en-IN" sz="1200">
                <a:latin typeface="Times New Roman" panose="02020603050405020304" pitchFamily="18" charset="0"/>
                <a:cs typeface="Times New Roman" panose="02020603050405020304" pitchFamily="18" charset="0"/>
              </a:rPr>
              <a:t> do wr </a:t>
            </a:r>
          </a:p>
          <a:p>
            <a:pPr algn="just"/>
            <a:r>
              <a:rPr lang="en-IN" sz="1200">
                <a:latin typeface="Times New Roman" panose="02020603050405020304" pitchFamily="18" charset="0"/>
                <a:cs typeface="Times New Roman" panose="02020603050405020304" pitchFamily="18" charset="0"/>
              </a:rPr>
              <a:t> exit</a:t>
            </a:r>
          </a:p>
          <a:p>
            <a:pPr algn="just"/>
            <a:endParaRPr lang="en-IN" sz="1200">
              <a:solidFill>
                <a:srgbClr val="00B0F0"/>
              </a:solidFill>
              <a:latin typeface="Times New Roman" panose="02020603050405020304" pitchFamily="18" charset="0"/>
              <a:cs typeface="Times New Roman" panose="02020603050405020304" pitchFamily="18" charset="0"/>
            </a:endParaRPr>
          </a:p>
        </p:txBody>
      </p:sp>
      <p:sp>
        <p:nvSpPr>
          <p:cNvPr id="25" name="Shape 6">
            <a:extLst>
              <a:ext uri="{FF2B5EF4-FFF2-40B4-BE49-F238E27FC236}">
                <a16:creationId xmlns:a16="http://schemas.microsoft.com/office/drawing/2014/main" id="{9DEF582F-B18A-44E0-8034-6DEACFD3B79D}"/>
              </a:ext>
            </a:extLst>
          </p:cNvPr>
          <p:cNvSpPr/>
          <p:nvPr/>
        </p:nvSpPr>
        <p:spPr>
          <a:xfrm>
            <a:off x="5498235" y="3179632"/>
            <a:ext cx="2062781" cy="3237487"/>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r>
              <a:rPr lang="en-IN" sz="1200"/>
              <a:t> int gig1/0/2</a:t>
            </a:r>
          </a:p>
          <a:p>
            <a:r>
              <a:rPr lang="en-IN" sz="1200"/>
              <a:t> switchport  mode access</a:t>
            </a:r>
          </a:p>
          <a:p>
            <a:r>
              <a:rPr lang="en-IN" sz="1200"/>
              <a:t> switchport access vlan 10</a:t>
            </a:r>
          </a:p>
          <a:p>
            <a:r>
              <a:rPr lang="en-IN" sz="1200"/>
              <a:t> exit</a:t>
            </a:r>
          </a:p>
          <a:p>
            <a:r>
              <a:rPr lang="en-IN" sz="1200"/>
              <a:t> int gig1/0/3</a:t>
            </a:r>
          </a:p>
          <a:p>
            <a:r>
              <a:rPr lang="en-IN" sz="1200"/>
              <a:t> switchport  mode access</a:t>
            </a:r>
          </a:p>
          <a:p>
            <a:r>
              <a:rPr lang="en-IN" sz="1200"/>
              <a:t> switchport access vlan 20</a:t>
            </a:r>
          </a:p>
          <a:p>
            <a:r>
              <a:rPr lang="en-IN" sz="1200"/>
              <a:t> exit</a:t>
            </a:r>
          </a:p>
          <a:p>
            <a:r>
              <a:rPr lang="en-IN" sz="1200"/>
              <a:t> int gig1/0/4</a:t>
            </a:r>
          </a:p>
          <a:p>
            <a:r>
              <a:rPr lang="en-IN" sz="1200"/>
              <a:t> switchport  mode access</a:t>
            </a:r>
          </a:p>
          <a:p>
            <a:r>
              <a:rPr lang="en-IN" sz="1200"/>
              <a:t> switchport access vlan 30</a:t>
            </a:r>
          </a:p>
          <a:p>
            <a:r>
              <a:rPr lang="en-IN" sz="1200"/>
              <a:t> exit</a:t>
            </a:r>
          </a:p>
          <a:p>
            <a:r>
              <a:rPr lang="en-IN" sz="1200"/>
              <a:t> int gig1/0/5</a:t>
            </a:r>
          </a:p>
          <a:p>
            <a:r>
              <a:rPr lang="en-IN" sz="1200"/>
              <a:t> switchport  mode access</a:t>
            </a:r>
          </a:p>
          <a:p>
            <a:r>
              <a:rPr lang="en-IN" sz="1200"/>
              <a:t> switchport access vlan 40</a:t>
            </a:r>
          </a:p>
          <a:p>
            <a:r>
              <a:rPr lang="en-IN" sz="1200"/>
              <a:t> exit</a:t>
            </a:r>
          </a:p>
          <a:p>
            <a:endParaRPr lang="en-IN" sz="1200"/>
          </a:p>
          <a:p>
            <a:r>
              <a:rPr lang="en-IN" sz="1200"/>
              <a:t> </a:t>
            </a:r>
          </a:p>
        </p:txBody>
      </p:sp>
      <p:sp>
        <p:nvSpPr>
          <p:cNvPr id="26" name="Shape 6">
            <a:extLst>
              <a:ext uri="{FF2B5EF4-FFF2-40B4-BE49-F238E27FC236}">
                <a16:creationId xmlns:a16="http://schemas.microsoft.com/office/drawing/2014/main" id="{7CBCF939-0E11-4EA5-B18D-E42729C2DFF5}"/>
              </a:ext>
            </a:extLst>
          </p:cNvPr>
          <p:cNvSpPr/>
          <p:nvPr/>
        </p:nvSpPr>
        <p:spPr>
          <a:xfrm>
            <a:off x="7729733" y="3197751"/>
            <a:ext cx="2062780" cy="3219369"/>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r>
              <a:rPr lang="en-IN" sz="1200"/>
              <a:t> int gig1/0/6</a:t>
            </a:r>
          </a:p>
          <a:p>
            <a:r>
              <a:rPr lang="en-IN" sz="1200"/>
              <a:t> switchport  mode access</a:t>
            </a:r>
          </a:p>
          <a:p>
            <a:r>
              <a:rPr lang="en-IN" sz="1200"/>
              <a:t> switchport access vlan 50</a:t>
            </a:r>
          </a:p>
          <a:p>
            <a:r>
              <a:rPr lang="en-IN" sz="1200"/>
              <a:t> exit</a:t>
            </a:r>
          </a:p>
          <a:p>
            <a:r>
              <a:rPr lang="en-IN" sz="1200"/>
              <a:t> int gig1/0/7</a:t>
            </a:r>
          </a:p>
          <a:p>
            <a:r>
              <a:rPr lang="en-IN" sz="1200"/>
              <a:t> switchport  mode access</a:t>
            </a:r>
          </a:p>
          <a:p>
            <a:r>
              <a:rPr lang="en-IN" sz="1200"/>
              <a:t> switchport access vlan 60</a:t>
            </a:r>
          </a:p>
          <a:p>
            <a:r>
              <a:rPr lang="en-IN" sz="1200"/>
              <a:t> exit</a:t>
            </a:r>
          </a:p>
          <a:p>
            <a:r>
              <a:rPr lang="en-IN" sz="1200"/>
              <a:t> int gig1/0/8</a:t>
            </a:r>
          </a:p>
          <a:p>
            <a:r>
              <a:rPr lang="en-IN" sz="1200"/>
              <a:t> switchport  mode access</a:t>
            </a:r>
          </a:p>
          <a:p>
            <a:r>
              <a:rPr lang="en-IN" sz="1200"/>
              <a:t> switchport access vlan 70</a:t>
            </a:r>
          </a:p>
          <a:p>
            <a:r>
              <a:rPr lang="en-IN" sz="1200"/>
              <a:t> exit</a:t>
            </a:r>
          </a:p>
          <a:p>
            <a:r>
              <a:rPr lang="en-IN" sz="1200"/>
              <a:t> int gig1/0/9</a:t>
            </a:r>
          </a:p>
          <a:p>
            <a:r>
              <a:rPr lang="en-IN" sz="1200"/>
              <a:t> switchport  mode access</a:t>
            </a:r>
          </a:p>
          <a:p>
            <a:r>
              <a:rPr lang="en-IN" sz="1200"/>
              <a:t> switchport access vlan 80</a:t>
            </a:r>
          </a:p>
          <a:p>
            <a:r>
              <a:rPr lang="en-IN" sz="1200"/>
              <a:t> exit</a:t>
            </a:r>
          </a:p>
          <a:p>
            <a:r>
              <a:rPr lang="en-IN" sz="1200"/>
              <a:t> do wr</a:t>
            </a:r>
          </a:p>
          <a:p>
            <a:r>
              <a:rPr lang="en-IN" sz="1200"/>
              <a:t> </a:t>
            </a:r>
          </a:p>
        </p:txBody>
      </p:sp>
    </p:spTree>
    <p:extLst>
      <p:ext uri="{BB962C8B-B14F-4D97-AF65-F5344CB8AC3E}">
        <p14:creationId xmlns:p14="http://schemas.microsoft.com/office/powerpoint/2010/main" val="2528966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Methodology / Approach</a:t>
            </a:r>
            <a:endParaRPr lang="en-US" sz="2800" dirty="0"/>
          </a:p>
        </p:txBody>
      </p:sp>
      <p:sp>
        <p:nvSpPr>
          <p:cNvPr id="4" name="Text 2"/>
          <p:cNvSpPr txBox="1"/>
          <p:nvPr/>
        </p:nvSpPr>
        <p:spPr>
          <a:xfrm>
            <a:off x="7411212" y="429645"/>
            <a:ext cx="4233672" cy="365760"/>
          </a:xfrm>
          <a:prstGeom prst="rect">
            <a:avLst/>
          </a:prstGeom>
          <a:noFill/>
          <a:ln/>
        </p:spPr>
        <p:txBody>
          <a:bodyPr wrap="square" lIns="0" tIns="0" rIns="0" bIns="0" rtlCol="0" anchor="ctr"/>
          <a:lstStyle/>
          <a:p>
            <a:pPr marL="0" indent="0" algn="r">
              <a:buNone/>
            </a:pPr>
            <a:r>
              <a:rPr lang="en-US" sz="1100" kern="0" spc="150">
                <a:solidFill>
                  <a:srgbClr val="6B7694"/>
                </a:solidFill>
                <a:latin typeface="Calibri" pitchFamily="34" charset="0"/>
                <a:ea typeface="Calibri" pitchFamily="34" charset="-122"/>
                <a:cs typeface="Calibri" pitchFamily="34" charset="-120"/>
              </a:rPr>
              <a:t>STEPS</a:t>
            </a:r>
            <a:endParaRPr lang="en-US" sz="1100" dirty="0"/>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Text 4"/>
          <p:cNvSpPr txBox="1"/>
          <p:nvPr/>
        </p:nvSpPr>
        <p:spPr>
          <a:xfrm>
            <a:off x="457201" y="1029148"/>
            <a:ext cx="1927412" cy="411480"/>
          </a:xfrm>
          <a:prstGeom prst="rect">
            <a:avLst/>
          </a:prstGeom>
          <a:noFill/>
          <a:ln/>
        </p:spPr>
        <p:txBody>
          <a:bodyPr wrap="square" lIns="0" tIns="0" rIns="0" bIns="0" rtlCol="0" anchor="ctr"/>
          <a:lstStyle/>
          <a:p>
            <a:pPr marL="0" indent="0">
              <a:buNone/>
            </a:pPr>
            <a:r>
              <a:rPr lang="en-US" sz="1600" b="1">
                <a:solidFill>
                  <a:srgbClr val="1E2761"/>
                </a:solidFill>
                <a:latin typeface="Cambria" pitchFamily="34" charset="0"/>
                <a:ea typeface="Cambria" pitchFamily="34" charset="-122"/>
              </a:rPr>
              <a:t>7) Switch</a:t>
            </a:r>
            <a:endParaRPr lang="en-US" sz="1600" dirty="0"/>
          </a:p>
        </p:txBody>
      </p:sp>
      <p:sp>
        <p:nvSpPr>
          <p:cNvPr id="8" name="Shape 6"/>
          <p:cNvSpPr/>
          <p:nvPr/>
        </p:nvSpPr>
        <p:spPr>
          <a:xfrm>
            <a:off x="475131" y="1433275"/>
            <a:ext cx="1927412" cy="3069217"/>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pPr algn="just"/>
            <a:r>
              <a:rPr lang="en-IN" sz="1200"/>
              <a:t> </a:t>
            </a:r>
            <a:r>
              <a:rPr lang="en-IN" sz="1200">
                <a:latin typeface="Times New Roman" panose="02020603050405020304" pitchFamily="18" charset="0"/>
                <a:cs typeface="Times New Roman" panose="02020603050405020304" pitchFamily="18" charset="0"/>
              </a:rPr>
              <a:t>int range fa0/1-24</a:t>
            </a:r>
          </a:p>
          <a:p>
            <a:pPr algn="just"/>
            <a:r>
              <a:rPr lang="en-IN" sz="1200">
                <a:latin typeface="Times New Roman" panose="02020603050405020304" pitchFamily="18" charset="0"/>
                <a:cs typeface="Times New Roman" panose="02020603050405020304" pitchFamily="18" charset="0"/>
              </a:rPr>
              <a:t> switchport mode access</a:t>
            </a:r>
          </a:p>
          <a:p>
            <a:pPr algn="just"/>
            <a:r>
              <a:rPr lang="en-IN" sz="1200">
                <a:latin typeface="Times New Roman" panose="02020603050405020304" pitchFamily="18" charset="0"/>
                <a:cs typeface="Times New Roman" panose="02020603050405020304" pitchFamily="18" charset="0"/>
              </a:rPr>
              <a:t> switchport access vlan 90</a:t>
            </a:r>
          </a:p>
          <a:p>
            <a:pPr algn="just"/>
            <a:r>
              <a:rPr lang="en-IN" sz="1200">
                <a:latin typeface="Times New Roman" panose="02020603050405020304" pitchFamily="18" charset="0"/>
                <a:cs typeface="Times New Roman" panose="02020603050405020304" pitchFamily="18" charset="0"/>
              </a:rPr>
              <a:t> do wr </a:t>
            </a:r>
          </a:p>
          <a:p>
            <a:pPr algn="just"/>
            <a:r>
              <a:rPr lang="en-IN" sz="1200">
                <a:latin typeface="Times New Roman" panose="02020603050405020304" pitchFamily="18" charset="0"/>
                <a:cs typeface="Times New Roman" panose="02020603050405020304" pitchFamily="18" charset="0"/>
              </a:rPr>
              <a:t> exit</a:t>
            </a:r>
          </a:p>
          <a:p>
            <a:pPr algn="just"/>
            <a:r>
              <a:rPr lang="en-IN" sz="1200">
                <a:solidFill>
                  <a:srgbClr val="00B0F0"/>
                </a:solidFill>
                <a:latin typeface="Times New Roman" panose="02020603050405020304" pitchFamily="18" charset="0"/>
                <a:cs typeface="Times New Roman" panose="02020603050405020304" pitchFamily="18" charset="0"/>
              </a:rPr>
              <a:t>.</a:t>
            </a:r>
            <a:r>
              <a:rPr lang="en-IN" sz="1200"/>
              <a:t> </a:t>
            </a:r>
            <a:r>
              <a:rPr lang="en-IN" sz="1200">
                <a:latin typeface="Times New Roman" panose="02020603050405020304" pitchFamily="18" charset="0"/>
                <a:cs typeface="Times New Roman" panose="02020603050405020304" pitchFamily="18" charset="0"/>
              </a:rPr>
              <a:t>int range fa0/1-24</a:t>
            </a:r>
          </a:p>
          <a:p>
            <a:pPr algn="just"/>
            <a:r>
              <a:rPr lang="en-IN" sz="1200">
                <a:latin typeface="Times New Roman" panose="02020603050405020304" pitchFamily="18" charset="0"/>
                <a:cs typeface="Times New Roman" panose="02020603050405020304" pitchFamily="18" charset="0"/>
              </a:rPr>
              <a:t> switchport mode access</a:t>
            </a:r>
          </a:p>
          <a:p>
            <a:pPr algn="just"/>
            <a:r>
              <a:rPr lang="en-IN" sz="1200">
                <a:latin typeface="Times New Roman" panose="02020603050405020304" pitchFamily="18" charset="0"/>
                <a:cs typeface="Times New Roman" panose="02020603050405020304" pitchFamily="18" charset="0"/>
              </a:rPr>
              <a:t> switchport access vlan 100</a:t>
            </a:r>
          </a:p>
          <a:p>
            <a:pPr algn="just"/>
            <a:r>
              <a:rPr lang="en-IN" sz="1200">
                <a:latin typeface="Times New Roman" panose="02020603050405020304" pitchFamily="18" charset="0"/>
                <a:cs typeface="Times New Roman" panose="02020603050405020304" pitchFamily="18" charset="0"/>
              </a:rPr>
              <a:t> do wr </a:t>
            </a:r>
          </a:p>
          <a:p>
            <a:pPr algn="just"/>
            <a:r>
              <a:rPr lang="en-IN" sz="1200">
                <a:latin typeface="Times New Roman" panose="02020603050405020304" pitchFamily="18" charset="0"/>
                <a:cs typeface="Times New Roman" panose="02020603050405020304" pitchFamily="18" charset="0"/>
              </a:rPr>
              <a:t> exit</a:t>
            </a:r>
          </a:p>
          <a:p>
            <a:pPr algn="just"/>
            <a:r>
              <a:rPr lang="en-IN" sz="1200"/>
              <a:t> </a:t>
            </a:r>
            <a:endParaRPr lang="en-IN" sz="1200">
              <a:solidFill>
                <a:srgbClr val="00B0F0"/>
              </a:solidFill>
              <a:latin typeface="Times New Roman" panose="02020603050405020304" pitchFamily="18" charset="0"/>
              <a:cs typeface="Times New Roman" panose="02020603050405020304" pitchFamily="18" charset="0"/>
            </a:endParaRPr>
          </a:p>
        </p:txBody>
      </p:sp>
      <p:sp>
        <p:nvSpPr>
          <p:cNvPr id="11" name="Text 8"/>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Calibri" pitchFamily="34" charset="0"/>
                <a:ea typeface="Calibri" pitchFamily="34" charset="-122"/>
                <a:cs typeface="Calibri" pitchFamily="34" charset="-120"/>
              </a:rPr>
              <a:t>OUTR CAMPUS NETWORK  |  CISCO PACKET TRACER</a:t>
            </a:r>
            <a:endParaRPr lang="en-US" sz="800" dirty="0"/>
          </a:p>
        </p:txBody>
      </p:sp>
      <p:sp>
        <p:nvSpPr>
          <p:cNvPr id="12" name="Text 9"/>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a:solidFill>
                  <a:srgbClr val="6B7694"/>
                </a:solidFill>
                <a:latin typeface="Calibri" pitchFamily="34" charset="0"/>
                <a:ea typeface="Calibri" pitchFamily="34" charset="-122"/>
                <a:cs typeface="Calibri" pitchFamily="34" charset="-120"/>
              </a:rPr>
              <a:t>18</a:t>
            </a:r>
            <a:endParaRPr lang="en-US" sz="900" dirty="0"/>
          </a:p>
        </p:txBody>
      </p:sp>
      <p:sp>
        <p:nvSpPr>
          <p:cNvPr id="13" name="Text 4">
            <a:extLst>
              <a:ext uri="{FF2B5EF4-FFF2-40B4-BE49-F238E27FC236}">
                <a16:creationId xmlns:a16="http://schemas.microsoft.com/office/drawing/2014/main" id="{1DEC36DF-821B-4012-B328-293C241306EF}"/>
              </a:ext>
            </a:extLst>
          </p:cNvPr>
          <p:cNvSpPr txBox="1"/>
          <p:nvPr/>
        </p:nvSpPr>
        <p:spPr>
          <a:xfrm>
            <a:off x="2447366" y="1042415"/>
            <a:ext cx="2134499" cy="411480"/>
          </a:xfrm>
          <a:prstGeom prst="rect">
            <a:avLst/>
          </a:prstGeom>
          <a:noFill/>
          <a:ln/>
        </p:spPr>
        <p:txBody>
          <a:bodyPr wrap="square" lIns="0" tIns="0" rIns="0" bIns="0" rtlCol="0" anchor="ctr"/>
          <a:lstStyle/>
          <a:p>
            <a:pPr marL="0" indent="0">
              <a:buNone/>
            </a:pPr>
            <a:r>
              <a:rPr lang="en-US" sz="1600" b="1">
                <a:solidFill>
                  <a:srgbClr val="1E2761"/>
                </a:solidFill>
                <a:latin typeface="Cambria" pitchFamily="34" charset="0"/>
                <a:ea typeface="Cambria" pitchFamily="34" charset="-122"/>
              </a:rPr>
              <a:t>8) ECE Branch Switch</a:t>
            </a:r>
            <a:endParaRPr lang="en-US" sz="1600" dirty="0"/>
          </a:p>
        </p:txBody>
      </p:sp>
      <p:sp>
        <p:nvSpPr>
          <p:cNvPr id="14" name="Shape 6">
            <a:extLst>
              <a:ext uri="{FF2B5EF4-FFF2-40B4-BE49-F238E27FC236}">
                <a16:creationId xmlns:a16="http://schemas.microsoft.com/office/drawing/2014/main" id="{C400DDE4-FEBF-4A79-9510-2DCD2B13B7C1}"/>
              </a:ext>
            </a:extLst>
          </p:cNvPr>
          <p:cNvSpPr/>
          <p:nvPr/>
        </p:nvSpPr>
        <p:spPr>
          <a:xfrm>
            <a:off x="2483224" y="1433276"/>
            <a:ext cx="2062781" cy="3069218"/>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r>
              <a:rPr lang="en-IN" sz="1200"/>
              <a:t> int gig1/0/2</a:t>
            </a:r>
          </a:p>
          <a:p>
            <a:r>
              <a:rPr lang="en-IN" sz="1200"/>
              <a:t> switchport mode access</a:t>
            </a:r>
          </a:p>
          <a:p>
            <a:r>
              <a:rPr lang="en-IN" sz="1200"/>
              <a:t> switchport access vlan 90</a:t>
            </a:r>
          </a:p>
          <a:p>
            <a:r>
              <a:rPr lang="en-IN" sz="1200"/>
              <a:t> exit</a:t>
            </a:r>
          </a:p>
          <a:p>
            <a:r>
              <a:rPr lang="en-IN" sz="1200"/>
              <a:t> int gig1/0/3</a:t>
            </a:r>
          </a:p>
          <a:p>
            <a:r>
              <a:rPr lang="en-IN" sz="1200"/>
              <a:t> switchport mode access</a:t>
            </a:r>
          </a:p>
          <a:p>
            <a:r>
              <a:rPr lang="en-IN" sz="1200"/>
              <a:t> switchport access vlan 100</a:t>
            </a:r>
          </a:p>
          <a:p>
            <a:r>
              <a:rPr lang="en-IN" sz="1200"/>
              <a:t> exit</a:t>
            </a:r>
          </a:p>
          <a:p>
            <a:r>
              <a:rPr lang="en-IN" sz="1200"/>
              <a:t> do wr</a:t>
            </a:r>
          </a:p>
          <a:p>
            <a:r>
              <a:rPr lang="en-IN" sz="1200"/>
              <a:t> int gig1/0/1</a:t>
            </a:r>
          </a:p>
          <a:p>
            <a:r>
              <a:rPr lang="en-IN" sz="1200"/>
              <a:t> switchport trunk</a:t>
            </a:r>
          </a:p>
          <a:p>
            <a:r>
              <a:rPr lang="en-IN" sz="1200"/>
              <a:t> encapsulation dot1Q</a:t>
            </a:r>
          </a:p>
          <a:p>
            <a:r>
              <a:rPr lang="en-IN" sz="1200"/>
              <a:t> switchport mode trunk</a:t>
            </a:r>
          </a:p>
          <a:p>
            <a:r>
              <a:rPr lang="en-IN" sz="1200"/>
              <a:t> exit </a:t>
            </a:r>
          </a:p>
          <a:p>
            <a:r>
              <a:rPr lang="en-IN" sz="1200"/>
              <a:t> do wr</a:t>
            </a:r>
          </a:p>
          <a:p>
            <a:endParaRPr lang="en-IN" sz="1200"/>
          </a:p>
          <a:p>
            <a:r>
              <a:rPr lang="en-IN" sz="1200"/>
              <a:t> </a:t>
            </a:r>
          </a:p>
        </p:txBody>
      </p:sp>
      <p:sp>
        <p:nvSpPr>
          <p:cNvPr id="18" name="Text 4">
            <a:extLst>
              <a:ext uri="{FF2B5EF4-FFF2-40B4-BE49-F238E27FC236}">
                <a16:creationId xmlns:a16="http://schemas.microsoft.com/office/drawing/2014/main" id="{D39EE656-0840-47A1-9A6B-4C788724DF03}"/>
              </a:ext>
            </a:extLst>
          </p:cNvPr>
          <p:cNvSpPr txBox="1"/>
          <p:nvPr/>
        </p:nvSpPr>
        <p:spPr>
          <a:xfrm>
            <a:off x="6960214" y="1034225"/>
            <a:ext cx="2134499" cy="411480"/>
          </a:xfrm>
          <a:prstGeom prst="rect">
            <a:avLst/>
          </a:prstGeom>
          <a:noFill/>
          <a:ln/>
        </p:spPr>
        <p:txBody>
          <a:bodyPr wrap="square" lIns="0" tIns="0" rIns="0" bIns="0" rtlCol="0" anchor="ctr"/>
          <a:lstStyle/>
          <a:p>
            <a:pPr marL="0" indent="0">
              <a:buNone/>
            </a:pPr>
            <a:r>
              <a:rPr lang="en-US" sz="1600" b="1">
                <a:solidFill>
                  <a:srgbClr val="1E2761"/>
                </a:solidFill>
                <a:latin typeface="Cambria" pitchFamily="34" charset="0"/>
                <a:ea typeface="Cambria" pitchFamily="34" charset="-122"/>
              </a:rPr>
              <a:t>10) ECE Branch Router</a:t>
            </a:r>
            <a:endParaRPr lang="en-US" sz="1600" dirty="0"/>
          </a:p>
        </p:txBody>
      </p:sp>
      <p:sp>
        <p:nvSpPr>
          <p:cNvPr id="19" name="Text 4">
            <a:extLst>
              <a:ext uri="{FF2B5EF4-FFF2-40B4-BE49-F238E27FC236}">
                <a16:creationId xmlns:a16="http://schemas.microsoft.com/office/drawing/2014/main" id="{23F3F8BE-A205-4523-892A-E3A425D162FE}"/>
              </a:ext>
            </a:extLst>
          </p:cNvPr>
          <p:cNvSpPr txBox="1"/>
          <p:nvPr/>
        </p:nvSpPr>
        <p:spPr>
          <a:xfrm>
            <a:off x="4716337" y="1106694"/>
            <a:ext cx="2134499" cy="411480"/>
          </a:xfrm>
          <a:prstGeom prst="rect">
            <a:avLst/>
          </a:prstGeom>
          <a:noFill/>
          <a:ln/>
        </p:spPr>
        <p:txBody>
          <a:bodyPr wrap="square" lIns="0" tIns="0" rIns="0" bIns="0" rtlCol="0" anchor="ctr"/>
          <a:lstStyle/>
          <a:p>
            <a:pPr marL="0" indent="0">
              <a:buNone/>
            </a:pPr>
            <a:r>
              <a:rPr lang="en-US" sz="1600" b="1">
                <a:solidFill>
                  <a:srgbClr val="1E2761"/>
                </a:solidFill>
                <a:latin typeface="Cambria" pitchFamily="34" charset="0"/>
                <a:ea typeface="Cambria" pitchFamily="34" charset="-122"/>
              </a:rPr>
              <a:t>9) OUTR Main Campus Router</a:t>
            </a:r>
            <a:endParaRPr lang="en-US" sz="1600" dirty="0"/>
          </a:p>
        </p:txBody>
      </p:sp>
      <p:sp>
        <p:nvSpPr>
          <p:cNvPr id="20" name="Shape 6">
            <a:extLst>
              <a:ext uri="{FF2B5EF4-FFF2-40B4-BE49-F238E27FC236}">
                <a16:creationId xmlns:a16="http://schemas.microsoft.com/office/drawing/2014/main" id="{D3077C61-A456-40CE-AFBF-9B808430EDDC}"/>
              </a:ext>
            </a:extLst>
          </p:cNvPr>
          <p:cNvSpPr/>
          <p:nvPr/>
        </p:nvSpPr>
        <p:spPr>
          <a:xfrm>
            <a:off x="4716337" y="1600739"/>
            <a:ext cx="2062781" cy="2901755"/>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r>
              <a:rPr lang="en-IN" sz="1200"/>
              <a:t> int se0/1/1</a:t>
            </a:r>
          </a:p>
          <a:p>
            <a:r>
              <a:rPr lang="en-IN" sz="1200"/>
              <a:t> ip add 10.10.10.1</a:t>
            </a:r>
          </a:p>
          <a:p>
            <a:r>
              <a:rPr lang="en-IN" sz="1200"/>
              <a:t> 255.255.255.252</a:t>
            </a:r>
          </a:p>
          <a:p>
            <a:r>
              <a:rPr lang="en-IN" sz="1200"/>
              <a:t> exit</a:t>
            </a:r>
          </a:p>
          <a:p>
            <a:r>
              <a:rPr lang="en-IN" sz="1200"/>
              <a:t> int se0/1/0</a:t>
            </a:r>
          </a:p>
          <a:p>
            <a:r>
              <a:rPr lang="en-IN" sz="1200"/>
              <a:t> ip add 10.10.10.5 </a:t>
            </a:r>
          </a:p>
          <a:p>
            <a:r>
              <a:rPr lang="en-IN" sz="1200"/>
              <a:t> 255.255.255.252</a:t>
            </a:r>
          </a:p>
          <a:p>
            <a:r>
              <a:rPr lang="en-IN" sz="1200"/>
              <a:t> exit</a:t>
            </a:r>
          </a:p>
          <a:p>
            <a:r>
              <a:rPr lang="en-IN" sz="1200"/>
              <a:t> do wr</a:t>
            </a:r>
          </a:p>
          <a:p>
            <a:r>
              <a:rPr lang="en-IN" sz="1200"/>
              <a:t> </a:t>
            </a:r>
          </a:p>
        </p:txBody>
      </p:sp>
      <p:sp>
        <p:nvSpPr>
          <p:cNvPr id="21" name="Shape 6">
            <a:extLst>
              <a:ext uri="{FF2B5EF4-FFF2-40B4-BE49-F238E27FC236}">
                <a16:creationId xmlns:a16="http://schemas.microsoft.com/office/drawing/2014/main" id="{C2AD98F1-17CB-4129-8120-6D1C273ADF1A}"/>
              </a:ext>
            </a:extLst>
          </p:cNvPr>
          <p:cNvSpPr/>
          <p:nvPr/>
        </p:nvSpPr>
        <p:spPr>
          <a:xfrm>
            <a:off x="6949448" y="1440628"/>
            <a:ext cx="2062781" cy="1033628"/>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r>
              <a:rPr lang="en-IN" sz="1200"/>
              <a:t> int se0/2/0</a:t>
            </a:r>
          </a:p>
          <a:p>
            <a:r>
              <a:rPr lang="en-IN" sz="1200"/>
              <a:t> ip add 10.10.10.2</a:t>
            </a:r>
          </a:p>
          <a:p>
            <a:r>
              <a:rPr lang="en-IN" sz="1200"/>
              <a:t> 255.255.255.252</a:t>
            </a:r>
          </a:p>
          <a:p>
            <a:r>
              <a:rPr lang="en-IN" sz="1200"/>
              <a:t> exit</a:t>
            </a:r>
          </a:p>
          <a:p>
            <a:r>
              <a:rPr lang="en-IN" sz="1200"/>
              <a:t> do wr</a:t>
            </a:r>
          </a:p>
        </p:txBody>
      </p:sp>
      <p:sp>
        <p:nvSpPr>
          <p:cNvPr id="23" name="TextBox 22">
            <a:extLst>
              <a:ext uri="{FF2B5EF4-FFF2-40B4-BE49-F238E27FC236}">
                <a16:creationId xmlns:a16="http://schemas.microsoft.com/office/drawing/2014/main" id="{2F27BD8A-46B8-4F5D-8B47-AB01A565D72A}"/>
              </a:ext>
            </a:extLst>
          </p:cNvPr>
          <p:cNvSpPr txBox="1"/>
          <p:nvPr/>
        </p:nvSpPr>
        <p:spPr>
          <a:xfrm>
            <a:off x="6900141" y="2492317"/>
            <a:ext cx="2161393" cy="338554"/>
          </a:xfrm>
          <a:prstGeom prst="rect">
            <a:avLst/>
          </a:prstGeom>
          <a:noFill/>
        </p:spPr>
        <p:txBody>
          <a:bodyPr wrap="square">
            <a:spAutoFit/>
          </a:bodyPr>
          <a:lstStyle/>
          <a:p>
            <a:pPr marL="0" indent="0">
              <a:buNone/>
            </a:pPr>
            <a:r>
              <a:rPr lang="en-US" sz="1600" b="1">
                <a:solidFill>
                  <a:srgbClr val="1E2761"/>
                </a:solidFill>
                <a:latin typeface="Cambria" pitchFamily="34" charset="0"/>
                <a:ea typeface="Cambria" pitchFamily="34" charset="-122"/>
              </a:rPr>
              <a:t>11) Cloud Router</a:t>
            </a:r>
            <a:endParaRPr lang="en-US" sz="1600" dirty="0"/>
          </a:p>
        </p:txBody>
      </p:sp>
      <p:sp>
        <p:nvSpPr>
          <p:cNvPr id="24" name="Shape 6">
            <a:extLst>
              <a:ext uri="{FF2B5EF4-FFF2-40B4-BE49-F238E27FC236}">
                <a16:creationId xmlns:a16="http://schemas.microsoft.com/office/drawing/2014/main" id="{3D7E8936-EECD-4790-893C-48E9C4A71BB2}"/>
              </a:ext>
            </a:extLst>
          </p:cNvPr>
          <p:cNvSpPr/>
          <p:nvPr/>
        </p:nvSpPr>
        <p:spPr>
          <a:xfrm>
            <a:off x="6900141" y="2769672"/>
            <a:ext cx="2062781" cy="1732822"/>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r>
              <a:rPr lang="en-IN" sz="1200"/>
              <a:t> int se0/1/0</a:t>
            </a:r>
          </a:p>
          <a:p>
            <a:r>
              <a:rPr lang="en-IN" sz="1200"/>
              <a:t> ip add 10.10.10.6</a:t>
            </a:r>
          </a:p>
          <a:p>
            <a:r>
              <a:rPr lang="en-IN" sz="1200"/>
              <a:t> 255.255.255.252</a:t>
            </a:r>
          </a:p>
          <a:p>
            <a:r>
              <a:rPr lang="en-IN" sz="1200"/>
              <a:t> exit</a:t>
            </a:r>
          </a:p>
          <a:p>
            <a:r>
              <a:rPr lang="en-IN" sz="1200"/>
              <a:t>ip add 20.0.0.1 </a:t>
            </a:r>
          </a:p>
          <a:p>
            <a:r>
              <a:rPr lang="en-IN" sz="1200"/>
              <a:t> 255.255.255.252</a:t>
            </a:r>
          </a:p>
          <a:p>
            <a:r>
              <a:rPr lang="en-IN" sz="1200"/>
              <a:t> exit</a:t>
            </a:r>
          </a:p>
          <a:p>
            <a:r>
              <a:rPr lang="en-IN" sz="1200"/>
              <a:t> do wr</a:t>
            </a:r>
          </a:p>
          <a:p>
            <a:r>
              <a:rPr lang="en-IN" sz="1200"/>
              <a:t> </a:t>
            </a:r>
          </a:p>
        </p:txBody>
      </p:sp>
      <p:sp>
        <p:nvSpPr>
          <p:cNvPr id="25" name="TextBox 24">
            <a:extLst>
              <a:ext uri="{FF2B5EF4-FFF2-40B4-BE49-F238E27FC236}">
                <a16:creationId xmlns:a16="http://schemas.microsoft.com/office/drawing/2014/main" id="{94FF330C-F8CA-4BFA-B95F-669F67C1C08F}"/>
              </a:ext>
            </a:extLst>
          </p:cNvPr>
          <p:cNvSpPr txBox="1"/>
          <p:nvPr/>
        </p:nvSpPr>
        <p:spPr>
          <a:xfrm>
            <a:off x="9113159" y="1078878"/>
            <a:ext cx="2161393" cy="338554"/>
          </a:xfrm>
          <a:prstGeom prst="rect">
            <a:avLst/>
          </a:prstGeom>
          <a:noFill/>
        </p:spPr>
        <p:txBody>
          <a:bodyPr wrap="square">
            <a:spAutoFit/>
          </a:bodyPr>
          <a:lstStyle/>
          <a:p>
            <a:pPr marL="0" indent="0">
              <a:buNone/>
            </a:pPr>
            <a:r>
              <a:rPr lang="en-US" sz="1600" b="1">
                <a:solidFill>
                  <a:srgbClr val="1E2761"/>
                </a:solidFill>
                <a:latin typeface="Cambria" pitchFamily="34" charset="0"/>
                <a:ea typeface="Cambria" pitchFamily="34" charset="-122"/>
              </a:rPr>
              <a:t>12) Email Server</a:t>
            </a:r>
            <a:endParaRPr lang="en-US" sz="1600" dirty="0"/>
          </a:p>
        </p:txBody>
      </p:sp>
      <p:pic>
        <p:nvPicPr>
          <p:cNvPr id="26" name="Picture 25">
            <a:extLst>
              <a:ext uri="{FF2B5EF4-FFF2-40B4-BE49-F238E27FC236}">
                <a16:creationId xmlns:a16="http://schemas.microsoft.com/office/drawing/2014/main" id="{32DB18E1-2B99-4267-AA1D-1E5F095FB1A6}"/>
              </a:ext>
            </a:extLst>
          </p:cNvPr>
          <p:cNvPicPr>
            <a:picLocks noChangeAspect="1"/>
          </p:cNvPicPr>
          <p:nvPr/>
        </p:nvPicPr>
        <p:blipFill>
          <a:blip r:embed="rId3"/>
          <a:stretch>
            <a:fillRect/>
          </a:stretch>
        </p:blipFill>
        <p:spPr>
          <a:xfrm>
            <a:off x="9182559" y="1474690"/>
            <a:ext cx="2549193" cy="812307"/>
          </a:xfrm>
          <a:prstGeom prst="rect">
            <a:avLst/>
          </a:prstGeom>
        </p:spPr>
      </p:pic>
    </p:spTree>
    <p:extLst>
      <p:ext uri="{BB962C8B-B14F-4D97-AF65-F5344CB8AC3E}">
        <p14:creationId xmlns:p14="http://schemas.microsoft.com/office/powerpoint/2010/main" val="4179532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Methodology / Approach</a:t>
            </a:r>
            <a:endParaRPr lang="en-US" sz="2800" dirty="0"/>
          </a:p>
        </p:txBody>
      </p:sp>
      <p:sp>
        <p:nvSpPr>
          <p:cNvPr id="4" name="Text 2"/>
          <p:cNvSpPr txBox="1"/>
          <p:nvPr/>
        </p:nvSpPr>
        <p:spPr>
          <a:xfrm>
            <a:off x="7411212" y="429645"/>
            <a:ext cx="4233672" cy="365760"/>
          </a:xfrm>
          <a:prstGeom prst="rect">
            <a:avLst/>
          </a:prstGeom>
          <a:noFill/>
          <a:ln/>
        </p:spPr>
        <p:txBody>
          <a:bodyPr wrap="square" lIns="0" tIns="0" rIns="0" bIns="0" rtlCol="0" anchor="ctr"/>
          <a:lstStyle/>
          <a:p>
            <a:pPr marL="0" indent="0" algn="r">
              <a:buNone/>
            </a:pPr>
            <a:r>
              <a:rPr lang="en-US" sz="1100" kern="0" spc="150">
                <a:solidFill>
                  <a:srgbClr val="6B7694"/>
                </a:solidFill>
                <a:latin typeface="Calibri" pitchFamily="34" charset="0"/>
                <a:ea typeface="Calibri" pitchFamily="34" charset="-122"/>
                <a:cs typeface="Calibri" pitchFamily="34" charset="-120"/>
              </a:rPr>
              <a:t>STEPS</a:t>
            </a:r>
            <a:endParaRPr lang="en-US" sz="1100" dirty="0"/>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11" name="Text 8"/>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Calibri" pitchFamily="34" charset="0"/>
                <a:ea typeface="Calibri" pitchFamily="34" charset="-122"/>
                <a:cs typeface="Calibri" pitchFamily="34" charset="-120"/>
              </a:rPr>
              <a:t>OUTR CAMPUS NETWORK  |  CISCO PACKET TRACER</a:t>
            </a:r>
            <a:endParaRPr lang="en-US" sz="800" dirty="0"/>
          </a:p>
        </p:txBody>
      </p:sp>
      <p:sp>
        <p:nvSpPr>
          <p:cNvPr id="12" name="Text 9"/>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a:solidFill>
                  <a:srgbClr val="6B7694"/>
                </a:solidFill>
                <a:latin typeface="Calibri" pitchFamily="34" charset="0"/>
                <a:ea typeface="Calibri" pitchFamily="34" charset="-122"/>
                <a:cs typeface="Calibri" pitchFamily="34" charset="-120"/>
              </a:rPr>
              <a:t>19</a:t>
            </a:r>
            <a:endParaRPr lang="en-US" sz="900" dirty="0"/>
          </a:p>
        </p:txBody>
      </p:sp>
      <p:sp>
        <p:nvSpPr>
          <p:cNvPr id="15" name="Shape 6">
            <a:extLst>
              <a:ext uri="{FF2B5EF4-FFF2-40B4-BE49-F238E27FC236}">
                <a16:creationId xmlns:a16="http://schemas.microsoft.com/office/drawing/2014/main" id="{5717743B-831F-407B-9EA8-A26BE04DD24D}"/>
              </a:ext>
            </a:extLst>
          </p:cNvPr>
          <p:cNvSpPr/>
          <p:nvPr/>
        </p:nvSpPr>
        <p:spPr>
          <a:xfrm>
            <a:off x="252532" y="1768811"/>
            <a:ext cx="2408912" cy="4838176"/>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pPr algn="just"/>
            <a:r>
              <a:rPr lang="en-IN" sz="1200"/>
              <a:t> int gig0/0.90</a:t>
            </a:r>
          </a:p>
          <a:p>
            <a:pPr algn="just"/>
            <a:r>
              <a:rPr lang="en-IN" sz="1200">
                <a:solidFill>
                  <a:srgbClr val="00B0F0"/>
                </a:solidFill>
                <a:latin typeface="Times New Roman" panose="02020603050405020304" pitchFamily="18" charset="0"/>
                <a:cs typeface="Times New Roman" panose="02020603050405020304" pitchFamily="18" charset="0"/>
              </a:rPr>
              <a:t> </a:t>
            </a:r>
            <a:r>
              <a:rPr lang="en-IN" sz="1200">
                <a:latin typeface="Times New Roman" panose="02020603050405020304" pitchFamily="18" charset="0"/>
                <a:cs typeface="Times New Roman" panose="02020603050405020304" pitchFamily="18" charset="0"/>
              </a:rPr>
              <a:t>encapsulation dot1Q 90</a:t>
            </a:r>
          </a:p>
          <a:p>
            <a:pPr algn="just"/>
            <a:r>
              <a:rPr lang="en-IN" sz="1200">
                <a:solidFill>
                  <a:srgbClr val="00B0F0"/>
                </a:solidFill>
                <a:latin typeface="Times New Roman" panose="02020603050405020304" pitchFamily="18" charset="0"/>
                <a:cs typeface="Times New Roman" panose="02020603050405020304" pitchFamily="18" charset="0"/>
              </a:rPr>
              <a:t> </a:t>
            </a:r>
            <a:r>
              <a:rPr lang="en-IN" sz="1200">
                <a:latin typeface="Times New Roman" panose="02020603050405020304" pitchFamily="18" charset="0"/>
                <a:cs typeface="Times New Roman" panose="02020603050405020304" pitchFamily="18" charset="0"/>
              </a:rPr>
              <a:t>ip add 192.168.9.1 </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 int gig0/0.100</a:t>
            </a:r>
          </a:p>
          <a:p>
            <a:pPr algn="just"/>
            <a:r>
              <a:rPr lang="en-IN" sz="1200">
                <a:latin typeface="Times New Roman" panose="02020603050405020304" pitchFamily="18" charset="0"/>
                <a:cs typeface="Times New Roman" panose="02020603050405020304" pitchFamily="18" charset="0"/>
              </a:rPr>
              <a:t> encapsulation dot1Q 100</a:t>
            </a:r>
          </a:p>
          <a:p>
            <a:pPr algn="just"/>
            <a:r>
              <a:rPr lang="en-IN" sz="1200">
                <a:latin typeface="Times New Roman" panose="02020603050405020304" pitchFamily="18" charset="0"/>
                <a:cs typeface="Times New Roman" panose="02020603050405020304" pitchFamily="18" charset="0"/>
              </a:rPr>
              <a:t> ip add 192.168.10.1 </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 do wr</a:t>
            </a:r>
          </a:p>
          <a:p>
            <a:pPr algn="just"/>
            <a:r>
              <a:rPr lang="en-IN" sz="1200">
                <a:latin typeface="Times New Roman" panose="02020603050405020304" pitchFamily="18" charset="0"/>
                <a:cs typeface="Times New Roman" panose="02020603050405020304" pitchFamily="18" charset="0"/>
              </a:rPr>
              <a:t> service dhcp</a:t>
            </a:r>
          </a:p>
          <a:p>
            <a:pPr algn="just"/>
            <a:r>
              <a:rPr lang="en-IN" sz="1200">
                <a:latin typeface="Times New Roman" panose="02020603050405020304" pitchFamily="18" charset="0"/>
                <a:cs typeface="Times New Roman" panose="02020603050405020304" pitchFamily="18" charset="0"/>
              </a:rPr>
              <a:t> ip dhcp pool ECE-pool</a:t>
            </a:r>
          </a:p>
          <a:p>
            <a:pPr algn="just"/>
            <a:r>
              <a:rPr lang="en-IN" sz="1200">
                <a:latin typeface="Times New Roman" panose="02020603050405020304" pitchFamily="18" charset="0"/>
                <a:cs typeface="Times New Roman" panose="02020603050405020304" pitchFamily="18" charset="0"/>
              </a:rPr>
              <a:t> network 192.168.9.0</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default-router 192.168.9.1</a:t>
            </a:r>
          </a:p>
          <a:p>
            <a:pPr algn="just"/>
            <a:r>
              <a:rPr lang="en-IN" sz="1200">
                <a:latin typeface="Times New Roman" panose="02020603050405020304" pitchFamily="18" charset="0"/>
                <a:cs typeface="Times New Roman" panose="02020603050405020304" pitchFamily="18" charset="0"/>
              </a:rPr>
              <a:t> dns-server 192.168.9.1</a:t>
            </a:r>
          </a:p>
          <a:p>
            <a:pPr algn="just"/>
            <a:r>
              <a:rPr lang="en-IN" sz="1200">
                <a:latin typeface="Times New Roman" panose="02020603050405020304" pitchFamily="18" charset="0"/>
                <a:cs typeface="Times New Roman" panose="02020603050405020304" pitchFamily="18" charset="0"/>
              </a:rPr>
              <a:t> exit do wr</a:t>
            </a:r>
          </a:p>
          <a:p>
            <a:pPr algn="just"/>
            <a:r>
              <a:rPr lang="en-IN" sz="1200">
                <a:latin typeface="Times New Roman" panose="02020603050405020304" pitchFamily="18" charset="0"/>
                <a:cs typeface="Times New Roman" panose="02020603050405020304" pitchFamily="18" charset="0"/>
              </a:rPr>
              <a:t> service dhcp</a:t>
            </a:r>
          </a:p>
          <a:p>
            <a:pPr algn="just"/>
            <a:r>
              <a:rPr lang="en-IN" sz="1200">
                <a:latin typeface="Times New Roman" panose="02020603050405020304" pitchFamily="18" charset="0"/>
                <a:cs typeface="Times New Roman" panose="02020603050405020304" pitchFamily="18" charset="0"/>
              </a:rPr>
              <a:t> ip dhcp pool ECESTUDENTLAB -pool</a:t>
            </a:r>
          </a:p>
          <a:p>
            <a:pPr algn="just"/>
            <a:r>
              <a:rPr lang="en-IN" sz="1200">
                <a:latin typeface="Times New Roman" panose="02020603050405020304" pitchFamily="18" charset="0"/>
                <a:cs typeface="Times New Roman" panose="02020603050405020304" pitchFamily="18" charset="0"/>
              </a:rPr>
              <a:t> network 192.168.10.0</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default-router 192.168.10.1</a:t>
            </a:r>
          </a:p>
          <a:p>
            <a:pPr algn="just"/>
            <a:r>
              <a:rPr lang="en-IN" sz="1200">
                <a:latin typeface="Times New Roman" panose="02020603050405020304" pitchFamily="18" charset="0"/>
                <a:cs typeface="Times New Roman" panose="02020603050405020304" pitchFamily="18" charset="0"/>
              </a:rPr>
              <a:t> dns-server 192.168.10.1</a:t>
            </a:r>
          </a:p>
          <a:p>
            <a:pPr algn="just"/>
            <a:r>
              <a:rPr lang="en-IN" sz="1200">
                <a:latin typeface="Times New Roman" panose="02020603050405020304" pitchFamily="18" charset="0"/>
                <a:cs typeface="Times New Roman" panose="02020603050405020304" pitchFamily="18" charset="0"/>
              </a:rPr>
              <a:t> exit do wr</a:t>
            </a:r>
          </a:p>
          <a:p>
            <a:pPr algn="just"/>
            <a:endParaRPr lang="en-IN" sz="1200">
              <a:latin typeface="Times New Roman" panose="02020603050405020304" pitchFamily="18" charset="0"/>
              <a:cs typeface="Times New Roman" panose="02020603050405020304" pitchFamily="18" charset="0"/>
            </a:endParaRPr>
          </a:p>
        </p:txBody>
      </p:sp>
      <p:sp>
        <p:nvSpPr>
          <p:cNvPr id="16" name="Shape 6">
            <a:extLst>
              <a:ext uri="{FF2B5EF4-FFF2-40B4-BE49-F238E27FC236}">
                <a16:creationId xmlns:a16="http://schemas.microsoft.com/office/drawing/2014/main" id="{ADD428D4-4481-4317-B379-B8FD041DD4E3}"/>
              </a:ext>
            </a:extLst>
          </p:cNvPr>
          <p:cNvSpPr/>
          <p:nvPr/>
        </p:nvSpPr>
        <p:spPr>
          <a:xfrm>
            <a:off x="7512562" y="1394227"/>
            <a:ext cx="2288596" cy="5200127"/>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pPr algn="just"/>
            <a:r>
              <a:rPr lang="en-IN" sz="1200">
                <a:latin typeface="Times New Roman" panose="02020603050405020304" pitchFamily="18" charset="0"/>
                <a:cs typeface="Times New Roman" panose="02020603050405020304" pitchFamily="18" charset="0"/>
              </a:rPr>
              <a:t>service dhcp</a:t>
            </a:r>
          </a:p>
          <a:p>
            <a:pPr algn="just"/>
            <a:r>
              <a:rPr lang="en-IN" sz="1200">
                <a:latin typeface="Times New Roman" panose="02020603050405020304" pitchFamily="18" charset="0"/>
                <a:cs typeface="Times New Roman" panose="02020603050405020304" pitchFamily="18" charset="0"/>
              </a:rPr>
              <a:t> ip dhcp pool PLACEMENT-pool</a:t>
            </a:r>
          </a:p>
          <a:p>
            <a:pPr algn="just"/>
            <a:r>
              <a:rPr lang="en-IN" sz="1200">
                <a:latin typeface="Times New Roman" panose="02020603050405020304" pitchFamily="18" charset="0"/>
                <a:cs typeface="Times New Roman" panose="02020603050405020304" pitchFamily="18" charset="0"/>
              </a:rPr>
              <a:t> network 192.168.2.0</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default-router 192.168.2.1</a:t>
            </a:r>
          </a:p>
          <a:p>
            <a:pPr algn="just"/>
            <a:r>
              <a:rPr lang="en-IN" sz="1200">
                <a:latin typeface="Times New Roman" panose="02020603050405020304" pitchFamily="18" charset="0"/>
                <a:cs typeface="Times New Roman" panose="02020603050405020304" pitchFamily="18" charset="0"/>
              </a:rPr>
              <a:t> dns-server 192.168.2.1</a:t>
            </a:r>
          </a:p>
          <a:p>
            <a:pPr algn="just"/>
            <a:r>
              <a:rPr lang="en-IN" sz="1200">
                <a:latin typeface="Times New Roman" panose="02020603050405020304" pitchFamily="18" charset="0"/>
                <a:cs typeface="Times New Roman" panose="02020603050405020304" pitchFamily="18" charset="0"/>
              </a:rPr>
              <a:t> exit service dhcp</a:t>
            </a:r>
          </a:p>
          <a:p>
            <a:pPr algn="just"/>
            <a:r>
              <a:rPr lang="en-IN" sz="1200">
                <a:latin typeface="Times New Roman" panose="02020603050405020304" pitchFamily="18" charset="0"/>
                <a:cs typeface="Times New Roman" panose="02020603050405020304" pitchFamily="18" charset="0"/>
              </a:rPr>
              <a:t> ip dhcp pool EXAMINATION-pool</a:t>
            </a:r>
          </a:p>
          <a:p>
            <a:pPr algn="just"/>
            <a:r>
              <a:rPr lang="en-IN" sz="1200">
                <a:latin typeface="Times New Roman" panose="02020603050405020304" pitchFamily="18" charset="0"/>
                <a:cs typeface="Times New Roman" panose="02020603050405020304" pitchFamily="18" charset="0"/>
              </a:rPr>
              <a:t> network 192.168.3.0</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default-router 192.168.3.1</a:t>
            </a:r>
          </a:p>
          <a:p>
            <a:pPr algn="just"/>
            <a:r>
              <a:rPr lang="en-IN" sz="1200">
                <a:latin typeface="Times New Roman" panose="02020603050405020304" pitchFamily="18" charset="0"/>
                <a:cs typeface="Times New Roman" panose="02020603050405020304" pitchFamily="18" charset="0"/>
              </a:rPr>
              <a:t> dns-server 192.168.3.1</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service dhcp</a:t>
            </a:r>
          </a:p>
          <a:p>
            <a:pPr algn="just"/>
            <a:r>
              <a:rPr lang="en-IN" sz="1200">
                <a:latin typeface="Times New Roman" panose="02020603050405020304" pitchFamily="18" charset="0"/>
                <a:cs typeface="Times New Roman" panose="02020603050405020304" pitchFamily="18" charset="0"/>
              </a:rPr>
              <a:t> ip dhcp pool CSE-pool</a:t>
            </a:r>
          </a:p>
          <a:p>
            <a:pPr algn="just"/>
            <a:r>
              <a:rPr lang="en-IN" sz="1200">
                <a:latin typeface="Times New Roman" panose="02020603050405020304" pitchFamily="18" charset="0"/>
                <a:cs typeface="Times New Roman" panose="02020603050405020304" pitchFamily="18" charset="0"/>
              </a:rPr>
              <a:t> network 192.168.4.0</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default-router 192.168.4.1</a:t>
            </a:r>
          </a:p>
          <a:p>
            <a:pPr algn="just"/>
            <a:r>
              <a:rPr lang="en-IN" sz="1200">
                <a:latin typeface="Times New Roman" panose="02020603050405020304" pitchFamily="18" charset="0"/>
                <a:cs typeface="Times New Roman" panose="02020603050405020304" pitchFamily="18" charset="0"/>
              </a:rPr>
              <a:t> dns-server 192.168.4.1</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service dhcp</a:t>
            </a:r>
          </a:p>
          <a:p>
            <a:pPr algn="just"/>
            <a:r>
              <a:rPr lang="en-IN" sz="1200">
                <a:latin typeface="Times New Roman" panose="02020603050405020304" pitchFamily="18" charset="0"/>
                <a:cs typeface="Times New Roman" panose="02020603050405020304" pitchFamily="18" charset="0"/>
              </a:rPr>
              <a:t> ip dhcp pool EIE-pool</a:t>
            </a:r>
          </a:p>
          <a:p>
            <a:pPr algn="just"/>
            <a:r>
              <a:rPr lang="en-IN" sz="1200">
                <a:latin typeface="Times New Roman" panose="02020603050405020304" pitchFamily="18" charset="0"/>
                <a:cs typeface="Times New Roman" panose="02020603050405020304" pitchFamily="18" charset="0"/>
              </a:rPr>
              <a:t> network 192.168.5.0</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default-router 192.168.5.1</a:t>
            </a:r>
          </a:p>
          <a:p>
            <a:pPr algn="just"/>
            <a:r>
              <a:rPr lang="en-IN" sz="1200">
                <a:latin typeface="Times New Roman" panose="02020603050405020304" pitchFamily="18" charset="0"/>
                <a:cs typeface="Times New Roman" panose="02020603050405020304" pitchFamily="18" charset="0"/>
              </a:rPr>
              <a:t> dns-server 192.168.5.1</a:t>
            </a:r>
          </a:p>
          <a:p>
            <a:pPr algn="just"/>
            <a:r>
              <a:rPr lang="en-IN" sz="1200">
                <a:latin typeface="Times New Roman" panose="02020603050405020304" pitchFamily="18" charset="0"/>
                <a:cs typeface="Times New Roman" panose="02020603050405020304" pitchFamily="18" charset="0"/>
              </a:rPr>
              <a:t> exit</a:t>
            </a:r>
            <a:endParaRPr lang="en-IN" sz="1200">
              <a:solidFill>
                <a:srgbClr val="00B0F0"/>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FB591772-30BF-446D-A966-42EFF3C06033}"/>
              </a:ext>
            </a:extLst>
          </p:cNvPr>
          <p:cNvSpPr txBox="1"/>
          <p:nvPr/>
        </p:nvSpPr>
        <p:spPr>
          <a:xfrm>
            <a:off x="252532" y="1185223"/>
            <a:ext cx="2161393" cy="584775"/>
          </a:xfrm>
          <a:prstGeom prst="rect">
            <a:avLst/>
          </a:prstGeom>
          <a:noFill/>
        </p:spPr>
        <p:txBody>
          <a:bodyPr wrap="square">
            <a:spAutoFit/>
          </a:bodyPr>
          <a:lstStyle/>
          <a:p>
            <a:pPr marL="0" indent="0">
              <a:buNone/>
            </a:pPr>
            <a:r>
              <a:rPr lang="en-US" sz="1600" b="1">
                <a:solidFill>
                  <a:srgbClr val="1E2761"/>
                </a:solidFill>
                <a:latin typeface="Cambria" pitchFamily="34" charset="0"/>
                <a:ea typeface="Cambria" pitchFamily="34" charset="-122"/>
              </a:rPr>
              <a:t>13) ECE Branch Router</a:t>
            </a:r>
            <a:endParaRPr lang="en-US" sz="1600" dirty="0"/>
          </a:p>
        </p:txBody>
      </p:sp>
      <p:sp>
        <p:nvSpPr>
          <p:cNvPr id="19" name="TextBox 18">
            <a:extLst>
              <a:ext uri="{FF2B5EF4-FFF2-40B4-BE49-F238E27FC236}">
                <a16:creationId xmlns:a16="http://schemas.microsoft.com/office/drawing/2014/main" id="{986651E6-06BB-4946-8E5F-2882A9F5D2AC}"/>
              </a:ext>
            </a:extLst>
          </p:cNvPr>
          <p:cNvSpPr txBox="1"/>
          <p:nvPr/>
        </p:nvSpPr>
        <p:spPr>
          <a:xfrm>
            <a:off x="2661444" y="1131364"/>
            <a:ext cx="2161393" cy="584775"/>
          </a:xfrm>
          <a:prstGeom prst="rect">
            <a:avLst/>
          </a:prstGeom>
          <a:noFill/>
        </p:spPr>
        <p:txBody>
          <a:bodyPr wrap="square">
            <a:spAutoFit/>
          </a:bodyPr>
          <a:lstStyle/>
          <a:p>
            <a:pPr marL="0" indent="0">
              <a:buNone/>
            </a:pPr>
            <a:r>
              <a:rPr lang="en-US" sz="1600" b="1">
                <a:solidFill>
                  <a:srgbClr val="1E2761"/>
                </a:solidFill>
                <a:latin typeface="Cambria" pitchFamily="34" charset="0"/>
                <a:ea typeface="Cambria" pitchFamily="34" charset="-122"/>
              </a:rPr>
              <a:t>14) OUTR Main  Campus Router</a:t>
            </a:r>
            <a:endParaRPr lang="en-US" sz="1600" dirty="0"/>
          </a:p>
        </p:txBody>
      </p:sp>
      <p:sp>
        <p:nvSpPr>
          <p:cNvPr id="20" name="Shape 6">
            <a:extLst>
              <a:ext uri="{FF2B5EF4-FFF2-40B4-BE49-F238E27FC236}">
                <a16:creationId xmlns:a16="http://schemas.microsoft.com/office/drawing/2014/main" id="{4860D90C-3EF8-4F66-B0FB-6823D734D6D7}"/>
              </a:ext>
            </a:extLst>
          </p:cNvPr>
          <p:cNvSpPr/>
          <p:nvPr/>
        </p:nvSpPr>
        <p:spPr>
          <a:xfrm>
            <a:off x="2745796" y="1769998"/>
            <a:ext cx="2408912" cy="4838176"/>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pPr algn="just"/>
            <a:r>
              <a:rPr lang="en-IN" sz="1200"/>
              <a:t> int gig0/0.10</a:t>
            </a:r>
          </a:p>
          <a:p>
            <a:pPr algn="just"/>
            <a:r>
              <a:rPr lang="en-IN" sz="1200">
                <a:solidFill>
                  <a:srgbClr val="00B0F0"/>
                </a:solidFill>
                <a:latin typeface="Times New Roman" panose="02020603050405020304" pitchFamily="18" charset="0"/>
                <a:cs typeface="Times New Roman" panose="02020603050405020304" pitchFamily="18" charset="0"/>
              </a:rPr>
              <a:t> </a:t>
            </a:r>
            <a:r>
              <a:rPr lang="en-IN" sz="1200">
                <a:latin typeface="Times New Roman" panose="02020603050405020304" pitchFamily="18" charset="0"/>
                <a:cs typeface="Times New Roman" panose="02020603050405020304" pitchFamily="18" charset="0"/>
              </a:rPr>
              <a:t>encapsulation dot1Q 10</a:t>
            </a:r>
          </a:p>
          <a:p>
            <a:pPr algn="just"/>
            <a:r>
              <a:rPr lang="en-IN" sz="1200">
                <a:solidFill>
                  <a:srgbClr val="00B0F0"/>
                </a:solidFill>
                <a:latin typeface="Times New Roman" panose="02020603050405020304" pitchFamily="18" charset="0"/>
                <a:cs typeface="Times New Roman" panose="02020603050405020304" pitchFamily="18" charset="0"/>
              </a:rPr>
              <a:t> </a:t>
            </a:r>
            <a:r>
              <a:rPr lang="en-IN" sz="1200">
                <a:latin typeface="Times New Roman" panose="02020603050405020304" pitchFamily="18" charset="0"/>
                <a:cs typeface="Times New Roman" panose="02020603050405020304" pitchFamily="18" charset="0"/>
              </a:rPr>
              <a:t>ip add 192.168.1.1 </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 int gig0/0.20</a:t>
            </a:r>
          </a:p>
          <a:p>
            <a:pPr algn="just"/>
            <a:r>
              <a:rPr lang="en-IN" sz="1200">
                <a:latin typeface="Times New Roman" panose="02020603050405020304" pitchFamily="18" charset="0"/>
                <a:cs typeface="Times New Roman" panose="02020603050405020304" pitchFamily="18" charset="0"/>
              </a:rPr>
              <a:t> encapsulation dot1Q 20</a:t>
            </a:r>
          </a:p>
          <a:p>
            <a:pPr algn="just"/>
            <a:r>
              <a:rPr lang="en-IN" sz="1200">
                <a:latin typeface="Times New Roman" panose="02020603050405020304" pitchFamily="18" charset="0"/>
                <a:cs typeface="Times New Roman" panose="02020603050405020304" pitchFamily="18" charset="0"/>
              </a:rPr>
              <a:t> ip add 192.168.2.1 </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 int gig0/0.30</a:t>
            </a:r>
          </a:p>
          <a:p>
            <a:pPr algn="just"/>
            <a:r>
              <a:rPr lang="en-IN" sz="1200">
                <a:latin typeface="Times New Roman" panose="02020603050405020304" pitchFamily="18" charset="0"/>
                <a:cs typeface="Times New Roman" panose="02020603050405020304" pitchFamily="18" charset="0"/>
              </a:rPr>
              <a:t> encapsulation dot1Q 30</a:t>
            </a:r>
          </a:p>
          <a:p>
            <a:pPr algn="just"/>
            <a:r>
              <a:rPr lang="en-IN" sz="1200">
                <a:latin typeface="Times New Roman" panose="02020603050405020304" pitchFamily="18" charset="0"/>
                <a:cs typeface="Times New Roman" panose="02020603050405020304" pitchFamily="18" charset="0"/>
              </a:rPr>
              <a:t> ip add 192.168.3.1 </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  int gig0/0.40</a:t>
            </a:r>
          </a:p>
          <a:p>
            <a:pPr algn="just"/>
            <a:r>
              <a:rPr lang="en-IN" sz="1200">
                <a:latin typeface="Times New Roman" panose="02020603050405020304" pitchFamily="18" charset="0"/>
                <a:cs typeface="Times New Roman" panose="02020603050405020304" pitchFamily="18" charset="0"/>
              </a:rPr>
              <a:t> encapsulation dot1Q 40</a:t>
            </a:r>
          </a:p>
          <a:p>
            <a:pPr algn="just"/>
            <a:r>
              <a:rPr lang="en-IN" sz="1200">
                <a:latin typeface="Times New Roman" panose="02020603050405020304" pitchFamily="18" charset="0"/>
                <a:cs typeface="Times New Roman" panose="02020603050405020304" pitchFamily="18" charset="0"/>
              </a:rPr>
              <a:t> ip add 192.168.4.1 </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 int gig0/0.50</a:t>
            </a:r>
          </a:p>
          <a:p>
            <a:pPr algn="just"/>
            <a:r>
              <a:rPr lang="en-IN" sz="1200">
                <a:latin typeface="Times New Roman" panose="02020603050405020304" pitchFamily="18" charset="0"/>
                <a:cs typeface="Times New Roman" panose="02020603050405020304" pitchFamily="18" charset="0"/>
              </a:rPr>
              <a:t> encapsulation dot1Q 50</a:t>
            </a:r>
          </a:p>
          <a:p>
            <a:pPr algn="just"/>
            <a:r>
              <a:rPr lang="en-IN" sz="1200">
                <a:latin typeface="Times New Roman" panose="02020603050405020304" pitchFamily="18" charset="0"/>
                <a:cs typeface="Times New Roman" panose="02020603050405020304" pitchFamily="18" charset="0"/>
              </a:rPr>
              <a:t> ip add 192.168.5.1 </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exit</a:t>
            </a:r>
          </a:p>
          <a:p>
            <a:pPr algn="just"/>
            <a:endParaRPr lang="en-IN" sz="1200">
              <a:latin typeface="Times New Roman" panose="02020603050405020304" pitchFamily="18" charset="0"/>
              <a:cs typeface="Times New Roman" panose="02020603050405020304" pitchFamily="18" charset="0"/>
            </a:endParaRPr>
          </a:p>
        </p:txBody>
      </p:sp>
      <p:sp>
        <p:nvSpPr>
          <p:cNvPr id="21" name="Shape 6">
            <a:extLst>
              <a:ext uri="{FF2B5EF4-FFF2-40B4-BE49-F238E27FC236}">
                <a16:creationId xmlns:a16="http://schemas.microsoft.com/office/drawing/2014/main" id="{FA722A7F-804F-4DDB-912B-36E09115FDB0}"/>
              </a:ext>
            </a:extLst>
          </p:cNvPr>
          <p:cNvSpPr/>
          <p:nvPr/>
        </p:nvSpPr>
        <p:spPr>
          <a:xfrm>
            <a:off x="5259098" y="1394226"/>
            <a:ext cx="2184206" cy="5200128"/>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pPr algn="just"/>
            <a:r>
              <a:rPr lang="en-IN" sz="1200"/>
              <a:t> int gig0/0.60</a:t>
            </a:r>
          </a:p>
          <a:p>
            <a:pPr algn="just"/>
            <a:r>
              <a:rPr lang="en-IN" sz="1200">
                <a:solidFill>
                  <a:srgbClr val="00B0F0"/>
                </a:solidFill>
                <a:latin typeface="Times New Roman" panose="02020603050405020304" pitchFamily="18" charset="0"/>
                <a:cs typeface="Times New Roman" panose="02020603050405020304" pitchFamily="18" charset="0"/>
              </a:rPr>
              <a:t> </a:t>
            </a:r>
            <a:r>
              <a:rPr lang="en-IN" sz="1200">
                <a:latin typeface="Times New Roman" panose="02020603050405020304" pitchFamily="18" charset="0"/>
                <a:cs typeface="Times New Roman" panose="02020603050405020304" pitchFamily="18" charset="0"/>
              </a:rPr>
              <a:t>encapsulation dot1Q 60</a:t>
            </a:r>
          </a:p>
          <a:p>
            <a:pPr algn="just"/>
            <a:r>
              <a:rPr lang="en-IN" sz="1200">
                <a:solidFill>
                  <a:srgbClr val="00B0F0"/>
                </a:solidFill>
                <a:latin typeface="Times New Roman" panose="02020603050405020304" pitchFamily="18" charset="0"/>
                <a:cs typeface="Times New Roman" panose="02020603050405020304" pitchFamily="18" charset="0"/>
              </a:rPr>
              <a:t> </a:t>
            </a:r>
            <a:r>
              <a:rPr lang="en-IN" sz="1200">
                <a:latin typeface="Times New Roman" panose="02020603050405020304" pitchFamily="18" charset="0"/>
                <a:cs typeface="Times New Roman" panose="02020603050405020304" pitchFamily="18" charset="0"/>
              </a:rPr>
              <a:t>ip add 192.168.6.1 </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 int gig0/0.70</a:t>
            </a:r>
          </a:p>
          <a:p>
            <a:pPr algn="just"/>
            <a:r>
              <a:rPr lang="en-IN" sz="1200">
                <a:latin typeface="Times New Roman" panose="02020603050405020304" pitchFamily="18" charset="0"/>
                <a:cs typeface="Times New Roman" panose="02020603050405020304" pitchFamily="18" charset="0"/>
              </a:rPr>
              <a:t> encapsulation dot1Q 70</a:t>
            </a:r>
          </a:p>
          <a:p>
            <a:pPr algn="just"/>
            <a:r>
              <a:rPr lang="en-IN" sz="1200">
                <a:latin typeface="Times New Roman" panose="02020603050405020304" pitchFamily="18" charset="0"/>
                <a:cs typeface="Times New Roman" panose="02020603050405020304" pitchFamily="18" charset="0"/>
              </a:rPr>
              <a:t> ip add 192.168.7.1 </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 int gig0/0.80</a:t>
            </a:r>
          </a:p>
          <a:p>
            <a:pPr algn="just"/>
            <a:r>
              <a:rPr lang="en-IN" sz="1200">
                <a:latin typeface="Times New Roman" panose="02020603050405020304" pitchFamily="18" charset="0"/>
                <a:cs typeface="Times New Roman" panose="02020603050405020304" pitchFamily="18" charset="0"/>
              </a:rPr>
              <a:t> encapsulation dot1Q 80</a:t>
            </a:r>
          </a:p>
          <a:p>
            <a:pPr algn="just"/>
            <a:r>
              <a:rPr lang="en-IN" sz="1200">
                <a:latin typeface="Times New Roman" panose="02020603050405020304" pitchFamily="18" charset="0"/>
                <a:cs typeface="Times New Roman" panose="02020603050405020304" pitchFamily="18" charset="0"/>
              </a:rPr>
              <a:t> ip add 192.168.8.1 </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 do wr</a:t>
            </a:r>
          </a:p>
          <a:p>
            <a:pPr algn="just"/>
            <a:r>
              <a:rPr lang="en-IN" sz="1200">
                <a:latin typeface="Times New Roman" panose="02020603050405020304" pitchFamily="18" charset="0"/>
                <a:cs typeface="Times New Roman" panose="02020603050405020304" pitchFamily="18" charset="0"/>
              </a:rPr>
              <a:t> service dhcp</a:t>
            </a:r>
          </a:p>
          <a:p>
            <a:pPr algn="just"/>
            <a:r>
              <a:rPr lang="en-IN" sz="1200">
                <a:latin typeface="Times New Roman" panose="02020603050405020304" pitchFamily="18" charset="0"/>
                <a:cs typeface="Times New Roman" panose="02020603050405020304" pitchFamily="18" charset="0"/>
              </a:rPr>
              <a:t> ip dhcp pool ADMISSION-pool</a:t>
            </a:r>
          </a:p>
          <a:p>
            <a:pPr algn="just"/>
            <a:r>
              <a:rPr lang="en-IN" sz="1200">
                <a:latin typeface="Times New Roman" panose="02020603050405020304" pitchFamily="18" charset="0"/>
                <a:cs typeface="Times New Roman" panose="02020603050405020304" pitchFamily="18" charset="0"/>
              </a:rPr>
              <a:t> network 192.168.1.0</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default-router 192.168.1.1</a:t>
            </a:r>
          </a:p>
          <a:p>
            <a:pPr algn="just"/>
            <a:r>
              <a:rPr lang="en-IN" sz="1200">
                <a:latin typeface="Times New Roman" panose="02020603050405020304" pitchFamily="18" charset="0"/>
                <a:cs typeface="Times New Roman" panose="02020603050405020304" pitchFamily="18" charset="0"/>
              </a:rPr>
              <a:t> dns-server 192.168.1.1</a:t>
            </a:r>
          </a:p>
          <a:p>
            <a:pPr algn="just"/>
            <a:r>
              <a:rPr lang="en-IN" sz="1200">
                <a:latin typeface="Times New Roman" panose="02020603050405020304" pitchFamily="18" charset="0"/>
                <a:cs typeface="Times New Roman" panose="02020603050405020304" pitchFamily="18" charset="0"/>
              </a:rPr>
              <a:t> exit</a:t>
            </a:r>
          </a:p>
        </p:txBody>
      </p:sp>
      <p:sp>
        <p:nvSpPr>
          <p:cNvPr id="22" name="Shape 6">
            <a:extLst>
              <a:ext uri="{FF2B5EF4-FFF2-40B4-BE49-F238E27FC236}">
                <a16:creationId xmlns:a16="http://schemas.microsoft.com/office/drawing/2014/main" id="{D1FAF95D-21F4-4D28-B0C9-56A70BBE238F}"/>
              </a:ext>
            </a:extLst>
          </p:cNvPr>
          <p:cNvSpPr/>
          <p:nvPr/>
        </p:nvSpPr>
        <p:spPr>
          <a:xfrm>
            <a:off x="9852218" y="1394226"/>
            <a:ext cx="2288596" cy="5200127"/>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pPr algn="just"/>
            <a:r>
              <a:rPr lang="en-IN" sz="1200">
                <a:latin typeface="Times New Roman" panose="02020603050405020304" pitchFamily="18" charset="0"/>
                <a:cs typeface="Times New Roman" panose="02020603050405020304" pitchFamily="18" charset="0"/>
              </a:rPr>
              <a:t>service dhcp</a:t>
            </a:r>
          </a:p>
          <a:p>
            <a:pPr algn="just"/>
            <a:r>
              <a:rPr lang="en-IN" sz="1200">
                <a:latin typeface="Times New Roman" panose="02020603050405020304" pitchFamily="18" charset="0"/>
                <a:cs typeface="Times New Roman" panose="02020603050405020304" pitchFamily="18" charset="0"/>
              </a:rPr>
              <a:t> ip dhcp pool EE-pool</a:t>
            </a:r>
          </a:p>
          <a:p>
            <a:pPr algn="just"/>
            <a:r>
              <a:rPr lang="en-IN" sz="1200">
                <a:latin typeface="Times New Roman" panose="02020603050405020304" pitchFamily="18" charset="0"/>
                <a:cs typeface="Times New Roman" panose="02020603050405020304" pitchFamily="18" charset="0"/>
              </a:rPr>
              <a:t> network 192.168.6.0</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default-router 192.168.6.1</a:t>
            </a:r>
          </a:p>
          <a:p>
            <a:pPr algn="just"/>
            <a:r>
              <a:rPr lang="en-IN" sz="1200">
                <a:latin typeface="Times New Roman" panose="02020603050405020304" pitchFamily="18" charset="0"/>
                <a:cs typeface="Times New Roman" panose="02020603050405020304" pitchFamily="18" charset="0"/>
              </a:rPr>
              <a:t> dns-server 192.168.6.1</a:t>
            </a:r>
          </a:p>
          <a:p>
            <a:pPr algn="just"/>
            <a:r>
              <a:rPr lang="en-IN" sz="1200">
                <a:latin typeface="Times New Roman" panose="02020603050405020304" pitchFamily="18" charset="0"/>
                <a:cs typeface="Times New Roman" panose="02020603050405020304" pitchFamily="18" charset="0"/>
              </a:rPr>
              <a:t> exit service dhcp</a:t>
            </a:r>
          </a:p>
          <a:p>
            <a:pPr algn="just"/>
            <a:r>
              <a:rPr lang="en-IN" sz="1200">
                <a:latin typeface="Times New Roman" panose="02020603050405020304" pitchFamily="18" charset="0"/>
                <a:cs typeface="Times New Roman" panose="02020603050405020304" pitchFamily="18" charset="0"/>
              </a:rPr>
              <a:t> ip dhcp pool AIML-pool</a:t>
            </a:r>
          </a:p>
          <a:p>
            <a:pPr algn="just"/>
            <a:r>
              <a:rPr lang="en-IN" sz="1200">
                <a:latin typeface="Times New Roman" panose="02020603050405020304" pitchFamily="18" charset="0"/>
                <a:cs typeface="Times New Roman" panose="02020603050405020304" pitchFamily="18" charset="0"/>
              </a:rPr>
              <a:t> network 192.168.7.0</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default-router 192.168.7.1</a:t>
            </a:r>
          </a:p>
          <a:p>
            <a:pPr algn="just"/>
            <a:r>
              <a:rPr lang="en-IN" sz="1200">
                <a:latin typeface="Times New Roman" panose="02020603050405020304" pitchFamily="18" charset="0"/>
                <a:cs typeface="Times New Roman" panose="02020603050405020304" pitchFamily="18" charset="0"/>
              </a:rPr>
              <a:t> dns-server 192.168.7.1</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service dhcp</a:t>
            </a:r>
          </a:p>
          <a:p>
            <a:pPr algn="just"/>
            <a:r>
              <a:rPr lang="en-IN" sz="1200">
                <a:latin typeface="Times New Roman" panose="02020603050405020304" pitchFamily="18" charset="0"/>
                <a:cs typeface="Times New Roman" panose="02020603050405020304" pitchFamily="18" charset="0"/>
              </a:rPr>
              <a:t> ip dhcp pool IT-pool</a:t>
            </a:r>
          </a:p>
          <a:p>
            <a:pPr algn="just"/>
            <a:r>
              <a:rPr lang="en-IN" sz="1200">
                <a:latin typeface="Times New Roman" panose="02020603050405020304" pitchFamily="18" charset="0"/>
                <a:cs typeface="Times New Roman" panose="02020603050405020304" pitchFamily="18" charset="0"/>
              </a:rPr>
              <a:t> network 192.168.8.0</a:t>
            </a:r>
          </a:p>
          <a:p>
            <a:pPr algn="just"/>
            <a:r>
              <a:rPr lang="en-IN" sz="1200">
                <a:latin typeface="Times New Roman" panose="02020603050405020304" pitchFamily="18" charset="0"/>
                <a:cs typeface="Times New Roman" panose="02020603050405020304" pitchFamily="18" charset="0"/>
              </a:rPr>
              <a:t> 255.255.255.0</a:t>
            </a:r>
          </a:p>
          <a:p>
            <a:pPr algn="just"/>
            <a:r>
              <a:rPr lang="en-IN" sz="1200">
                <a:latin typeface="Times New Roman" panose="02020603050405020304" pitchFamily="18" charset="0"/>
                <a:cs typeface="Times New Roman" panose="02020603050405020304" pitchFamily="18" charset="0"/>
              </a:rPr>
              <a:t> default-router 192.168.8.1</a:t>
            </a:r>
          </a:p>
          <a:p>
            <a:pPr algn="just"/>
            <a:r>
              <a:rPr lang="en-IN" sz="1200">
                <a:latin typeface="Times New Roman" panose="02020603050405020304" pitchFamily="18" charset="0"/>
                <a:cs typeface="Times New Roman" panose="02020603050405020304" pitchFamily="18" charset="0"/>
              </a:rPr>
              <a:t> dns-server 192.168.8.1</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 do wr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Methodology / Approach</a:t>
            </a:r>
            <a:endParaRPr lang="en-US" sz="2800" dirty="0"/>
          </a:p>
        </p:txBody>
      </p:sp>
      <p:sp>
        <p:nvSpPr>
          <p:cNvPr id="4" name="Text 2"/>
          <p:cNvSpPr txBox="1"/>
          <p:nvPr/>
        </p:nvSpPr>
        <p:spPr>
          <a:xfrm>
            <a:off x="7411212" y="429645"/>
            <a:ext cx="4233672" cy="365760"/>
          </a:xfrm>
          <a:prstGeom prst="rect">
            <a:avLst/>
          </a:prstGeom>
          <a:noFill/>
          <a:ln/>
        </p:spPr>
        <p:txBody>
          <a:bodyPr wrap="square" lIns="0" tIns="0" rIns="0" bIns="0" rtlCol="0" anchor="ctr"/>
          <a:lstStyle/>
          <a:p>
            <a:pPr marL="0" indent="0" algn="r">
              <a:buNone/>
            </a:pPr>
            <a:r>
              <a:rPr lang="en-US" sz="1100" kern="0" spc="150">
                <a:solidFill>
                  <a:srgbClr val="6B7694"/>
                </a:solidFill>
                <a:latin typeface="Calibri" pitchFamily="34" charset="0"/>
                <a:ea typeface="Calibri" pitchFamily="34" charset="-122"/>
                <a:cs typeface="Calibri" pitchFamily="34" charset="-120"/>
              </a:rPr>
              <a:t>STEPS</a:t>
            </a:r>
            <a:endParaRPr lang="en-US" sz="1100" dirty="0"/>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11" name="Text 8"/>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Calibri" pitchFamily="34" charset="0"/>
                <a:ea typeface="Calibri" pitchFamily="34" charset="-122"/>
                <a:cs typeface="Calibri" pitchFamily="34" charset="-120"/>
              </a:rPr>
              <a:t>OUTR CAMPUS NETWORK  |  CISCO PACKET TRACER</a:t>
            </a:r>
            <a:endParaRPr lang="en-US" sz="800" dirty="0"/>
          </a:p>
        </p:txBody>
      </p:sp>
      <p:sp>
        <p:nvSpPr>
          <p:cNvPr id="12" name="Text 9"/>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a:solidFill>
                  <a:srgbClr val="6B7694"/>
                </a:solidFill>
                <a:latin typeface="Calibri" pitchFamily="34" charset="0"/>
                <a:ea typeface="Calibri" pitchFamily="34" charset="-122"/>
                <a:cs typeface="Calibri" pitchFamily="34" charset="-120"/>
              </a:rPr>
              <a:t>20</a:t>
            </a:r>
            <a:endParaRPr lang="en-US" sz="900" dirty="0"/>
          </a:p>
        </p:txBody>
      </p:sp>
      <p:sp>
        <p:nvSpPr>
          <p:cNvPr id="17" name="TextBox 16">
            <a:extLst>
              <a:ext uri="{FF2B5EF4-FFF2-40B4-BE49-F238E27FC236}">
                <a16:creationId xmlns:a16="http://schemas.microsoft.com/office/drawing/2014/main" id="{7C0C1495-0716-4CE2-BE85-B2A18EB15D97}"/>
              </a:ext>
            </a:extLst>
          </p:cNvPr>
          <p:cNvSpPr txBox="1"/>
          <p:nvPr/>
        </p:nvSpPr>
        <p:spPr>
          <a:xfrm>
            <a:off x="349263" y="1638546"/>
            <a:ext cx="2367043" cy="338554"/>
          </a:xfrm>
          <a:prstGeom prst="rect">
            <a:avLst/>
          </a:prstGeom>
          <a:noFill/>
        </p:spPr>
        <p:txBody>
          <a:bodyPr wrap="square">
            <a:spAutoFit/>
          </a:bodyPr>
          <a:lstStyle/>
          <a:p>
            <a:pPr marL="0" indent="0">
              <a:buNone/>
            </a:pPr>
            <a:r>
              <a:rPr lang="en-US" sz="1600" b="1">
                <a:solidFill>
                  <a:srgbClr val="1E2761"/>
                </a:solidFill>
                <a:latin typeface="Cambria" pitchFamily="34" charset="0"/>
                <a:ea typeface="Cambria" pitchFamily="34" charset="-122"/>
              </a:rPr>
              <a:t>15) ECE Branch Router</a:t>
            </a:r>
            <a:endParaRPr lang="en-US" sz="1600" dirty="0"/>
          </a:p>
        </p:txBody>
      </p:sp>
      <p:sp>
        <p:nvSpPr>
          <p:cNvPr id="18" name="TextBox 17">
            <a:extLst>
              <a:ext uri="{FF2B5EF4-FFF2-40B4-BE49-F238E27FC236}">
                <a16:creationId xmlns:a16="http://schemas.microsoft.com/office/drawing/2014/main" id="{E5CB6307-C58B-4A11-B09C-798EE404C790}"/>
              </a:ext>
            </a:extLst>
          </p:cNvPr>
          <p:cNvSpPr txBox="1"/>
          <p:nvPr/>
        </p:nvSpPr>
        <p:spPr>
          <a:xfrm>
            <a:off x="349263" y="1024128"/>
            <a:ext cx="8472008" cy="584775"/>
          </a:xfrm>
          <a:prstGeom prst="rect">
            <a:avLst/>
          </a:prstGeom>
          <a:noFill/>
        </p:spPr>
        <p:txBody>
          <a:bodyPr wrap="square">
            <a:spAutoFit/>
          </a:bodyPr>
          <a:lstStyle/>
          <a:p>
            <a:pPr marL="0" indent="0">
              <a:buNone/>
            </a:pPr>
            <a:r>
              <a:rPr lang="en-US" sz="1600" b="1">
                <a:solidFill>
                  <a:srgbClr val="1E2761"/>
                </a:solidFill>
                <a:latin typeface="Cambria" pitchFamily="34" charset="0"/>
                <a:ea typeface="Cambria" pitchFamily="34" charset="-122"/>
              </a:rPr>
              <a:t>Within Main Campus Router Ping is possible Eg  :- PC0 To PC5 </a:t>
            </a:r>
          </a:p>
          <a:p>
            <a:pPr marL="0" indent="0">
              <a:buNone/>
            </a:pPr>
            <a:r>
              <a:rPr lang="en-US" sz="1600" b="1">
                <a:solidFill>
                  <a:srgbClr val="1E2761"/>
                </a:solidFill>
                <a:latin typeface="Cambria" pitchFamily="34" charset="0"/>
                <a:ea typeface="Cambria" pitchFamily="34" charset="-122"/>
              </a:rPr>
              <a:t>But Message between Main Campus and ECE Branch Router Not possible Eg :- PC5 To PC8</a:t>
            </a:r>
            <a:endParaRPr lang="en-US" sz="1600" dirty="0"/>
          </a:p>
        </p:txBody>
      </p:sp>
      <p:sp>
        <p:nvSpPr>
          <p:cNvPr id="19" name="TextBox 18">
            <a:extLst>
              <a:ext uri="{FF2B5EF4-FFF2-40B4-BE49-F238E27FC236}">
                <a16:creationId xmlns:a16="http://schemas.microsoft.com/office/drawing/2014/main" id="{29E16C59-3438-473F-8E83-9EB5EFB73DB3}"/>
              </a:ext>
            </a:extLst>
          </p:cNvPr>
          <p:cNvSpPr txBox="1"/>
          <p:nvPr/>
        </p:nvSpPr>
        <p:spPr>
          <a:xfrm>
            <a:off x="3727433" y="1645516"/>
            <a:ext cx="3309861" cy="338554"/>
          </a:xfrm>
          <a:prstGeom prst="rect">
            <a:avLst/>
          </a:prstGeom>
          <a:noFill/>
        </p:spPr>
        <p:txBody>
          <a:bodyPr wrap="square">
            <a:spAutoFit/>
          </a:bodyPr>
          <a:lstStyle/>
          <a:p>
            <a:pPr marL="0" indent="0">
              <a:buNone/>
            </a:pPr>
            <a:r>
              <a:rPr lang="en-US" sz="1600" b="1">
                <a:solidFill>
                  <a:srgbClr val="1E2761"/>
                </a:solidFill>
                <a:latin typeface="Cambria" pitchFamily="34" charset="0"/>
                <a:ea typeface="Cambria" pitchFamily="34" charset="-122"/>
              </a:rPr>
              <a:t>15) OUTR Main CampusRouter</a:t>
            </a:r>
            <a:endParaRPr lang="en-US" sz="1600" dirty="0"/>
          </a:p>
        </p:txBody>
      </p:sp>
      <p:sp>
        <p:nvSpPr>
          <p:cNvPr id="20" name="Shape 6">
            <a:extLst>
              <a:ext uri="{FF2B5EF4-FFF2-40B4-BE49-F238E27FC236}">
                <a16:creationId xmlns:a16="http://schemas.microsoft.com/office/drawing/2014/main" id="{680E576B-DEBE-4076-9B3E-EFFB9AD54D59}"/>
              </a:ext>
            </a:extLst>
          </p:cNvPr>
          <p:cNvSpPr/>
          <p:nvPr/>
        </p:nvSpPr>
        <p:spPr>
          <a:xfrm>
            <a:off x="388486" y="1970838"/>
            <a:ext cx="2288596" cy="1372997"/>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pPr algn="just"/>
            <a:r>
              <a:rPr lang="en-IN" sz="1200">
                <a:latin typeface="Times New Roman" panose="02020603050405020304" pitchFamily="18" charset="0"/>
                <a:cs typeface="Times New Roman" panose="02020603050405020304" pitchFamily="18" charset="0"/>
              </a:rPr>
              <a:t> router rip</a:t>
            </a:r>
          </a:p>
          <a:p>
            <a:pPr algn="just"/>
            <a:r>
              <a:rPr lang="en-IN" sz="1200">
                <a:latin typeface="Times New Roman" panose="02020603050405020304" pitchFamily="18" charset="0"/>
                <a:cs typeface="Times New Roman" panose="02020603050405020304" pitchFamily="18" charset="0"/>
              </a:rPr>
              <a:t> version 2</a:t>
            </a:r>
          </a:p>
          <a:p>
            <a:pPr algn="just"/>
            <a:r>
              <a:rPr lang="en-IN" sz="1200">
                <a:latin typeface="Times New Roman" panose="02020603050405020304" pitchFamily="18" charset="0"/>
                <a:cs typeface="Times New Roman" panose="02020603050405020304" pitchFamily="18" charset="0"/>
              </a:rPr>
              <a:t> network 192.168.9.0</a:t>
            </a:r>
          </a:p>
          <a:p>
            <a:pPr algn="just"/>
            <a:r>
              <a:rPr lang="en-IN" sz="1200">
                <a:latin typeface="Times New Roman" panose="02020603050405020304" pitchFamily="18" charset="0"/>
                <a:cs typeface="Times New Roman" panose="02020603050405020304" pitchFamily="18" charset="0"/>
              </a:rPr>
              <a:t> network 192.168.10.0</a:t>
            </a:r>
          </a:p>
          <a:p>
            <a:pPr algn="just"/>
            <a:r>
              <a:rPr lang="en-IN" sz="1200">
                <a:latin typeface="Times New Roman" panose="02020603050405020304" pitchFamily="18" charset="0"/>
                <a:cs typeface="Times New Roman" panose="02020603050405020304" pitchFamily="18" charset="0"/>
              </a:rPr>
              <a:t> network 10.10.10.0</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 do wr</a:t>
            </a:r>
          </a:p>
        </p:txBody>
      </p:sp>
      <p:sp>
        <p:nvSpPr>
          <p:cNvPr id="21" name="Shape 6">
            <a:extLst>
              <a:ext uri="{FF2B5EF4-FFF2-40B4-BE49-F238E27FC236}">
                <a16:creationId xmlns:a16="http://schemas.microsoft.com/office/drawing/2014/main" id="{D9EA0E6A-E306-4C3A-92D6-4BDC94F37E87}"/>
              </a:ext>
            </a:extLst>
          </p:cNvPr>
          <p:cNvSpPr/>
          <p:nvPr/>
        </p:nvSpPr>
        <p:spPr>
          <a:xfrm>
            <a:off x="3912334" y="1970837"/>
            <a:ext cx="2288596" cy="2672881"/>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pPr algn="just"/>
            <a:r>
              <a:rPr lang="en-IN" sz="1200">
                <a:latin typeface="Times New Roman" panose="02020603050405020304" pitchFamily="18" charset="0"/>
                <a:cs typeface="Times New Roman" panose="02020603050405020304" pitchFamily="18" charset="0"/>
              </a:rPr>
              <a:t> router rip</a:t>
            </a:r>
          </a:p>
          <a:p>
            <a:pPr algn="just"/>
            <a:r>
              <a:rPr lang="en-IN" sz="1200">
                <a:latin typeface="Times New Roman" panose="02020603050405020304" pitchFamily="18" charset="0"/>
                <a:cs typeface="Times New Roman" panose="02020603050405020304" pitchFamily="18" charset="0"/>
              </a:rPr>
              <a:t> version 2</a:t>
            </a:r>
          </a:p>
          <a:p>
            <a:pPr algn="just"/>
            <a:r>
              <a:rPr lang="en-IN" sz="1200">
                <a:latin typeface="Times New Roman" panose="02020603050405020304" pitchFamily="18" charset="0"/>
                <a:cs typeface="Times New Roman" panose="02020603050405020304" pitchFamily="18" charset="0"/>
              </a:rPr>
              <a:t> network 10.10.10.0</a:t>
            </a:r>
          </a:p>
          <a:p>
            <a:pPr algn="just"/>
            <a:r>
              <a:rPr lang="en-IN" sz="1200">
                <a:latin typeface="Times New Roman" panose="02020603050405020304" pitchFamily="18" charset="0"/>
                <a:cs typeface="Times New Roman" panose="02020603050405020304" pitchFamily="18" charset="0"/>
              </a:rPr>
              <a:t> network 10.10.10.4</a:t>
            </a:r>
          </a:p>
          <a:p>
            <a:pPr algn="just"/>
            <a:r>
              <a:rPr lang="en-IN" sz="1200">
                <a:latin typeface="Times New Roman" panose="02020603050405020304" pitchFamily="18" charset="0"/>
                <a:cs typeface="Times New Roman" panose="02020603050405020304" pitchFamily="18" charset="0"/>
              </a:rPr>
              <a:t> network 192.168.1.0</a:t>
            </a:r>
          </a:p>
          <a:p>
            <a:pPr algn="just"/>
            <a:r>
              <a:rPr lang="en-IN" sz="1200">
                <a:latin typeface="Times New Roman" panose="02020603050405020304" pitchFamily="18" charset="0"/>
                <a:cs typeface="Times New Roman" panose="02020603050405020304" pitchFamily="18" charset="0"/>
              </a:rPr>
              <a:t> network 192.168.2.0</a:t>
            </a:r>
          </a:p>
          <a:p>
            <a:pPr algn="just"/>
            <a:r>
              <a:rPr lang="en-IN" sz="1200">
                <a:latin typeface="Times New Roman" panose="02020603050405020304" pitchFamily="18" charset="0"/>
                <a:cs typeface="Times New Roman" panose="02020603050405020304" pitchFamily="18" charset="0"/>
              </a:rPr>
              <a:t> network 192.168.3.0</a:t>
            </a:r>
          </a:p>
          <a:p>
            <a:pPr algn="just"/>
            <a:r>
              <a:rPr lang="en-IN" sz="1200">
                <a:latin typeface="Times New Roman" panose="02020603050405020304" pitchFamily="18" charset="0"/>
                <a:cs typeface="Times New Roman" panose="02020603050405020304" pitchFamily="18" charset="0"/>
              </a:rPr>
              <a:t> network 192.168.4.0</a:t>
            </a:r>
          </a:p>
          <a:p>
            <a:pPr algn="just"/>
            <a:r>
              <a:rPr lang="en-IN" sz="1200">
                <a:latin typeface="Times New Roman" panose="02020603050405020304" pitchFamily="18" charset="0"/>
                <a:cs typeface="Times New Roman" panose="02020603050405020304" pitchFamily="18" charset="0"/>
              </a:rPr>
              <a:t> network 192.168.5.0</a:t>
            </a:r>
          </a:p>
          <a:p>
            <a:pPr algn="just"/>
            <a:r>
              <a:rPr lang="en-IN" sz="1200">
                <a:latin typeface="Times New Roman" panose="02020603050405020304" pitchFamily="18" charset="0"/>
                <a:cs typeface="Times New Roman" panose="02020603050405020304" pitchFamily="18" charset="0"/>
              </a:rPr>
              <a:t> network 192.168.6.0</a:t>
            </a:r>
          </a:p>
          <a:p>
            <a:pPr algn="just"/>
            <a:r>
              <a:rPr lang="en-IN" sz="1200">
                <a:latin typeface="Times New Roman" panose="02020603050405020304" pitchFamily="18" charset="0"/>
                <a:cs typeface="Times New Roman" panose="02020603050405020304" pitchFamily="18" charset="0"/>
              </a:rPr>
              <a:t> network 192.168.7.0</a:t>
            </a:r>
          </a:p>
          <a:p>
            <a:pPr algn="just"/>
            <a:r>
              <a:rPr lang="en-IN" sz="1200">
                <a:latin typeface="Times New Roman" panose="02020603050405020304" pitchFamily="18" charset="0"/>
                <a:cs typeface="Times New Roman" panose="02020603050405020304" pitchFamily="18" charset="0"/>
              </a:rPr>
              <a:t> network 192.168.8.0</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 do wr</a:t>
            </a:r>
          </a:p>
        </p:txBody>
      </p:sp>
      <p:sp>
        <p:nvSpPr>
          <p:cNvPr id="22" name="TextBox 21">
            <a:extLst>
              <a:ext uri="{FF2B5EF4-FFF2-40B4-BE49-F238E27FC236}">
                <a16:creationId xmlns:a16="http://schemas.microsoft.com/office/drawing/2014/main" id="{CD27738C-DA8C-4024-8138-C6177AD83FE1}"/>
              </a:ext>
            </a:extLst>
          </p:cNvPr>
          <p:cNvSpPr txBox="1"/>
          <p:nvPr/>
        </p:nvSpPr>
        <p:spPr>
          <a:xfrm>
            <a:off x="6856115" y="1628639"/>
            <a:ext cx="3309861" cy="338554"/>
          </a:xfrm>
          <a:prstGeom prst="rect">
            <a:avLst/>
          </a:prstGeom>
          <a:noFill/>
        </p:spPr>
        <p:txBody>
          <a:bodyPr wrap="square">
            <a:spAutoFit/>
          </a:bodyPr>
          <a:lstStyle/>
          <a:p>
            <a:pPr marL="0" indent="0">
              <a:buNone/>
            </a:pPr>
            <a:r>
              <a:rPr lang="en-US" sz="1600" b="1">
                <a:solidFill>
                  <a:srgbClr val="1E2761"/>
                </a:solidFill>
                <a:latin typeface="Cambria" pitchFamily="34" charset="0"/>
                <a:ea typeface="Cambria" pitchFamily="34" charset="-122"/>
              </a:rPr>
              <a:t>16) Cloud Router</a:t>
            </a:r>
            <a:endParaRPr lang="en-US" sz="1600" dirty="0"/>
          </a:p>
        </p:txBody>
      </p:sp>
      <p:sp>
        <p:nvSpPr>
          <p:cNvPr id="23" name="Shape 6">
            <a:extLst>
              <a:ext uri="{FF2B5EF4-FFF2-40B4-BE49-F238E27FC236}">
                <a16:creationId xmlns:a16="http://schemas.microsoft.com/office/drawing/2014/main" id="{FF0D2338-9B55-4379-8306-8765B51F999C}"/>
              </a:ext>
            </a:extLst>
          </p:cNvPr>
          <p:cNvSpPr/>
          <p:nvPr/>
        </p:nvSpPr>
        <p:spPr>
          <a:xfrm>
            <a:off x="7015442" y="1987643"/>
            <a:ext cx="2288596" cy="1372997"/>
          </a:xfrm>
          <a:prstGeom prst="roundRect">
            <a:avLst>
              <a:gd name="adj" fmla="val 1583"/>
            </a:avLst>
          </a:prstGeom>
          <a:solidFill>
            <a:srgbClr val="FFFFFF"/>
          </a:solidFill>
          <a:ln w="12700">
            <a:solidFill>
              <a:srgbClr val="CADCFC"/>
            </a:solidFill>
            <a:prstDash val="solid"/>
          </a:ln>
          <a:effectLst>
            <a:outerShdw blurRad="101600" dist="25400" dir="5400000" algn="bl" rotWithShape="0">
              <a:srgbClr val="6B7694">
                <a:alpha val="20000"/>
              </a:srgbClr>
            </a:outerShdw>
          </a:effectLst>
        </p:spPr>
        <p:txBody>
          <a:bodyPr/>
          <a:lstStyle/>
          <a:p>
            <a:pPr algn="just"/>
            <a:r>
              <a:rPr lang="en-IN" sz="1200">
                <a:latin typeface="Times New Roman" panose="02020603050405020304" pitchFamily="18" charset="0"/>
                <a:cs typeface="Times New Roman" panose="02020603050405020304" pitchFamily="18" charset="0"/>
              </a:rPr>
              <a:t> router rip</a:t>
            </a:r>
          </a:p>
          <a:p>
            <a:pPr algn="just"/>
            <a:r>
              <a:rPr lang="en-IN" sz="1200">
                <a:latin typeface="Times New Roman" panose="02020603050405020304" pitchFamily="18" charset="0"/>
                <a:cs typeface="Times New Roman" panose="02020603050405020304" pitchFamily="18" charset="0"/>
              </a:rPr>
              <a:t> version 2</a:t>
            </a:r>
          </a:p>
          <a:p>
            <a:pPr algn="just"/>
            <a:r>
              <a:rPr lang="en-IN" sz="1200">
                <a:latin typeface="Times New Roman" panose="02020603050405020304" pitchFamily="18" charset="0"/>
                <a:cs typeface="Times New Roman" panose="02020603050405020304" pitchFamily="18" charset="0"/>
              </a:rPr>
              <a:t> network 20.0.0.0</a:t>
            </a:r>
          </a:p>
          <a:p>
            <a:pPr algn="just"/>
            <a:r>
              <a:rPr lang="en-IN" sz="1200">
                <a:latin typeface="Times New Roman" panose="02020603050405020304" pitchFamily="18" charset="0"/>
                <a:cs typeface="Times New Roman" panose="02020603050405020304" pitchFamily="18" charset="0"/>
              </a:rPr>
              <a:t> network 10.10.10.4</a:t>
            </a:r>
          </a:p>
          <a:p>
            <a:pPr algn="just"/>
            <a:r>
              <a:rPr lang="en-IN" sz="1200">
                <a:latin typeface="Times New Roman" panose="02020603050405020304" pitchFamily="18" charset="0"/>
                <a:cs typeface="Times New Roman" panose="02020603050405020304" pitchFamily="18" charset="0"/>
              </a:rPr>
              <a:t> exit</a:t>
            </a:r>
          </a:p>
          <a:p>
            <a:pPr algn="just"/>
            <a:r>
              <a:rPr lang="en-IN" sz="1200">
                <a:latin typeface="Times New Roman" panose="02020603050405020304" pitchFamily="18" charset="0"/>
                <a:cs typeface="Times New Roman" panose="02020603050405020304" pitchFamily="18" charset="0"/>
              </a:rPr>
              <a:t> do wr</a:t>
            </a:r>
          </a:p>
        </p:txBody>
      </p:sp>
    </p:spTree>
    <p:extLst>
      <p:ext uri="{BB962C8B-B14F-4D97-AF65-F5344CB8AC3E}">
        <p14:creationId xmlns:p14="http://schemas.microsoft.com/office/powerpoint/2010/main" val="2765106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Results and Analysis</a:t>
            </a:r>
            <a:endParaRPr lang="en-US" sz="2800" dirty="0"/>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Calibri" pitchFamily="34" charset="0"/>
                <a:ea typeface="Calibri" pitchFamily="34" charset="-122"/>
                <a:cs typeface="Calibri" pitchFamily="34" charset="-120"/>
              </a:rPr>
              <a:t>SECTION 06</a:t>
            </a:r>
            <a:endParaRPr lang="en-US" sz="1100" dirty="0"/>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Text 4"/>
          <p:cNvSpPr txBox="1"/>
          <p:nvPr/>
        </p:nvSpPr>
        <p:spPr>
          <a:xfrm>
            <a:off x="457200" y="1002828"/>
            <a:ext cx="11277295" cy="5507699"/>
          </a:xfrm>
          <a:prstGeom prst="rect">
            <a:avLst/>
          </a:prstGeom>
          <a:noFill/>
          <a:ln/>
        </p:spPr>
        <p:txBody>
          <a:bodyPr wrap="square" lIns="0" tIns="0" rIns="0" bIns="0" rtlCol="0" anchor="t"/>
          <a:lstStyle/>
          <a:p>
            <a:pPr marL="177800" indent="-177800">
              <a:lnSpc>
                <a:spcPct val="115000"/>
              </a:lnSpc>
              <a:spcAft>
                <a:spcPts val="1200"/>
              </a:spcAft>
              <a:buSzPct val="100000"/>
              <a:buChar char="▪"/>
            </a:pPr>
            <a:endParaRPr lang="en-US" sz="1400" dirty="0"/>
          </a:p>
        </p:txBody>
      </p:sp>
      <p:sp>
        <p:nvSpPr>
          <p:cNvPr id="11" name="Text 9"/>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Calibri" pitchFamily="34" charset="0"/>
                <a:ea typeface="Calibri" pitchFamily="34" charset="-122"/>
                <a:cs typeface="Calibri" pitchFamily="34" charset="-120"/>
              </a:rPr>
              <a:t>OUTR CAMPUS NETWORK  |  CISCO PACKET TRACER</a:t>
            </a:r>
            <a:endParaRPr lang="en-US" sz="800" dirty="0"/>
          </a:p>
        </p:txBody>
      </p:sp>
      <p:sp>
        <p:nvSpPr>
          <p:cNvPr id="12" name="Text 10"/>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a:solidFill>
                  <a:srgbClr val="6B7694"/>
                </a:solidFill>
                <a:latin typeface="Calibri" pitchFamily="34" charset="0"/>
                <a:ea typeface="Calibri" pitchFamily="34" charset="-122"/>
                <a:cs typeface="Calibri" pitchFamily="34" charset="-120"/>
              </a:rPr>
              <a:t>21</a:t>
            </a:r>
            <a:endParaRPr lang="en-US" sz="900" dirty="0"/>
          </a:p>
        </p:txBody>
      </p:sp>
      <p:pic>
        <p:nvPicPr>
          <p:cNvPr id="18" name="Picture 17">
            <a:extLst>
              <a:ext uri="{FF2B5EF4-FFF2-40B4-BE49-F238E27FC236}">
                <a16:creationId xmlns:a16="http://schemas.microsoft.com/office/drawing/2014/main" id="{B3822081-D3DF-449F-B27D-E98C1EEEBC16}"/>
              </a:ext>
            </a:extLst>
          </p:cNvPr>
          <p:cNvPicPr>
            <a:picLocks noChangeAspect="1"/>
          </p:cNvPicPr>
          <p:nvPr/>
        </p:nvPicPr>
        <p:blipFill>
          <a:blip r:embed="rId3"/>
          <a:stretch>
            <a:fillRect/>
          </a:stretch>
        </p:blipFill>
        <p:spPr>
          <a:xfrm>
            <a:off x="457200" y="2188374"/>
            <a:ext cx="5549153" cy="853514"/>
          </a:xfrm>
          <a:prstGeom prst="rect">
            <a:avLst/>
          </a:prstGeom>
        </p:spPr>
      </p:pic>
      <p:pic>
        <p:nvPicPr>
          <p:cNvPr id="20" name="Picture 19">
            <a:extLst>
              <a:ext uri="{FF2B5EF4-FFF2-40B4-BE49-F238E27FC236}">
                <a16:creationId xmlns:a16="http://schemas.microsoft.com/office/drawing/2014/main" id="{58B0C30C-0BD7-4997-9ADC-D69DFF511BCE}"/>
              </a:ext>
            </a:extLst>
          </p:cNvPr>
          <p:cNvPicPr>
            <a:picLocks noChangeAspect="1"/>
          </p:cNvPicPr>
          <p:nvPr/>
        </p:nvPicPr>
        <p:blipFill>
          <a:blip r:embed="rId4"/>
          <a:stretch>
            <a:fillRect/>
          </a:stretch>
        </p:blipFill>
        <p:spPr>
          <a:xfrm>
            <a:off x="6094476" y="1141391"/>
            <a:ext cx="5637276" cy="929721"/>
          </a:xfrm>
          <a:prstGeom prst="rect">
            <a:avLst/>
          </a:prstGeom>
        </p:spPr>
      </p:pic>
      <p:pic>
        <p:nvPicPr>
          <p:cNvPr id="22" name="Picture 21">
            <a:extLst>
              <a:ext uri="{FF2B5EF4-FFF2-40B4-BE49-F238E27FC236}">
                <a16:creationId xmlns:a16="http://schemas.microsoft.com/office/drawing/2014/main" id="{C4EA16FB-EF3D-497C-A819-80F7883170B9}"/>
              </a:ext>
            </a:extLst>
          </p:cNvPr>
          <p:cNvPicPr>
            <a:picLocks noChangeAspect="1"/>
          </p:cNvPicPr>
          <p:nvPr/>
        </p:nvPicPr>
        <p:blipFill>
          <a:blip r:embed="rId5"/>
          <a:stretch>
            <a:fillRect/>
          </a:stretch>
        </p:blipFill>
        <p:spPr>
          <a:xfrm>
            <a:off x="521208" y="1133743"/>
            <a:ext cx="5485145" cy="876376"/>
          </a:xfrm>
          <a:prstGeom prst="rect">
            <a:avLst/>
          </a:prstGeom>
        </p:spPr>
      </p:pic>
      <p:pic>
        <p:nvPicPr>
          <p:cNvPr id="24" name="Picture 23">
            <a:extLst>
              <a:ext uri="{FF2B5EF4-FFF2-40B4-BE49-F238E27FC236}">
                <a16:creationId xmlns:a16="http://schemas.microsoft.com/office/drawing/2014/main" id="{1A8697C6-66C3-4F3D-86D4-38771E6D64B5}"/>
              </a:ext>
            </a:extLst>
          </p:cNvPr>
          <p:cNvPicPr>
            <a:picLocks noChangeAspect="1"/>
          </p:cNvPicPr>
          <p:nvPr/>
        </p:nvPicPr>
        <p:blipFill rotWithShape="1">
          <a:blip r:embed="rId6"/>
          <a:srcRect b="5144"/>
          <a:stretch/>
        </p:blipFill>
        <p:spPr>
          <a:xfrm>
            <a:off x="521208" y="3220143"/>
            <a:ext cx="2530059" cy="2732422"/>
          </a:xfrm>
          <a:prstGeom prst="rect">
            <a:avLst/>
          </a:prstGeom>
        </p:spPr>
      </p:pic>
      <p:pic>
        <p:nvPicPr>
          <p:cNvPr id="26" name="Picture 25">
            <a:extLst>
              <a:ext uri="{FF2B5EF4-FFF2-40B4-BE49-F238E27FC236}">
                <a16:creationId xmlns:a16="http://schemas.microsoft.com/office/drawing/2014/main" id="{9AB812B9-6ED4-463D-8EBB-1D905236338B}"/>
              </a:ext>
            </a:extLst>
          </p:cNvPr>
          <p:cNvPicPr>
            <a:picLocks noChangeAspect="1"/>
          </p:cNvPicPr>
          <p:nvPr/>
        </p:nvPicPr>
        <p:blipFill rotWithShape="1">
          <a:blip r:embed="rId7"/>
          <a:srcRect b="5096"/>
          <a:stretch/>
        </p:blipFill>
        <p:spPr>
          <a:xfrm>
            <a:off x="2999054" y="3206426"/>
            <a:ext cx="2057578" cy="2759856"/>
          </a:xfrm>
          <a:prstGeom prst="rect">
            <a:avLst/>
          </a:prstGeom>
        </p:spPr>
      </p:pic>
      <p:pic>
        <p:nvPicPr>
          <p:cNvPr id="28" name="Picture 27">
            <a:extLst>
              <a:ext uri="{FF2B5EF4-FFF2-40B4-BE49-F238E27FC236}">
                <a16:creationId xmlns:a16="http://schemas.microsoft.com/office/drawing/2014/main" id="{440D78F5-8929-4FC8-BD87-C39529430CFD}"/>
              </a:ext>
            </a:extLst>
          </p:cNvPr>
          <p:cNvPicPr>
            <a:picLocks noChangeAspect="1"/>
          </p:cNvPicPr>
          <p:nvPr/>
        </p:nvPicPr>
        <p:blipFill rotWithShape="1">
          <a:blip r:embed="rId8"/>
          <a:srcRect b="5057"/>
          <a:stretch/>
        </p:blipFill>
        <p:spPr>
          <a:xfrm>
            <a:off x="5044913" y="3206426"/>
            <a:ext cx="548688" cy="2782490"/>
          </a:xfrm>
          <a:prstGeom prst="rect">
            <a:avLst/>
          </a:prstGeom>
        </p:spPr>
      </p:pic>
      <p:pic>
        <p:nvPicPr>
          <p:cNvPr id="30" name="Picture 29">
            <a:extLst>
              <a:ext uri="{FF2B5EF4-FFF2-40B4-BE49-F238E27FC236}">
                <a16:creationId xmlns:a16="http://schemas.microsoft.com/office/drawing/2014/main" id="{9E79D3F2-716F-4F78-A188-55F3D8A16717}"/>
              </a:ext>
            </a:extLst>
          </p:cNvPr>
          <p:cNvPicPr>
            <a:picLocks noChangeAspect="1"/>
          </p:cNvPicPr>
          <p:nvPr/>
        </p:nvPicPr>
        <p:blipFill>
          <a:blip r:embed="rId9"/>
          <a:stretch>
            <a:fillRect/>
          </a:stretch>
        </p:blipFill>
        <p:spPr>
          <a:xfrm>
            <a:off x="5752791" y="3206426"/>
            <a:ext cx="2530059" cy="2400508"/>
          </a:xfrm>
          <a:prstGeom prst="rect">
            <a:avLst/>
          </a:prstGeom>
        </p:spPr>
      </p:pic>
      <p:pic>
        <p:nvPicPr>
          <p:cNvPr id="32" name="Picture 31">
            <a:extLst>
              <a:ext uri="{FF2B5EF4-FFF2-40B4-BE49-F238E27FC236}">
                <a16:creationId xmlns:a16="http://schemas.microsoft.com/office/drawing/2014/main" id="{E220C79E-6B2D-4111-BD80-C8C4583DFFFA}"/>
              </a:ext>
            </a:extLst>
          </p:cNvPr>
          <p:cNvPicPr>
            <a:picLocks noChangeAspect="1"/>
          </p:cNvPicPr>
          <p:nvPr/>
        </p:nvPicPr>
        <p:blipFill>
          <a:blip r:embed="rId10"/>
          <a:stretch>
            <a:fillRect/>
          </a:stretch>
        </p:blipFill>
        <p:spPr>
          <a:xfrm>
            <a:off x="5778168" y="5596904"/>
            <a:ext cx="2504682" cy="307884"/>
          </a:xfrm>
          <a:prstGeom prst="rect">
            <a:avLst/>
          </a:prstGeom>
        </p:spPr>
      </p:pic>
      <p:pic>
        <p:nvPicPr>
          <p:cNvPr id="34" name="Picture 33">
            <a:extLst>
              <a:ext uri="{FF2B5EF4-FFF2-40B4-BE49-F238E27FC236}">
                <a16:creationId xmlns:a16="http://schemas.microsoft.com/office/drawing/2014/main" id="{02EABA76-FBB5-42A2-9D38-AF48161FD2F9}"/>
              </a:ext>
            </a:extLst>
          </p:cNvPr>
          <p:cNvPicPr>
            <a:picLocks noChangeAspect="1"/>
          </p:cNvPicPr>
          <p:nvPr/>
        </p:nvPicPr>
        <p:blipFill>
          <a:blip r:embed="rId11"/>
          <a:stretch>
            <a:fillRect/>
          </a:stretch>
        </p:blipFill>
        <p:spPr>
          <a:xfrm>
            <a:off x="8248976" y="3187695"/>
            <a:ext cx="2530058" cy="2427941"/>
          </a:xfrm>
          <a:prstGeom prst="rect">
            <a:avLst/>
          </a:prstGeom>
        </p:spPr>
      </p:pic>
      <p:pic>
        <p:nvPicPr>
          <p:cNvPr id="36" name="Picture 35">
            <a:extLst>
              <a:ext uri="{FF2B5EF4-FFF2-40B4-BE49-F238E27FC236}">
                <a16:creationId xmlns:a16="http://schemas.microsoft.com/office/drawing/2014/main" id="{CCAF7E49-0195-4981-80B1-E34F756E887C}"/>
              </a:ext>
            </a:extLst>
          </p:cNvPr>
          <p:cNvPicPr>
            <a:picLocks noChangeAspect="1"/>
          </p:cNvPicPr>
          <p:nvPr/>
        </p:nvPicPr>
        <p:blipFill>
          <a:blip r:embed="rId12"/>
          <a:stretch>
            <a:fillRect/>
          </a:stretch>
        </p:blipFill>
        <p:spPr>
          <a:xfrm>
            <a:off x="8282850" y="5611404"/>
            <a:ext cx="2411556" cy="34293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Results and Analysis</a:t>
            </a:r>
            <a:endParaRPr lang="en-US" sz="2800" dirty="0"/>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Calibri" pitchFamily="34" charset="0"/>
                <a:ea typeface="Calibri" pitchFamily="34" charset="-122"/>
                <a:cs typeface="Calibri" pitchFamily="34" charset="-120"/>
              </a:rPr>
              <a:t>SECTION 06</a:t>
            </a:r>
            <a:endParaRPr lang="en-US" sz="1100" dirty="0"/>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Text 4"/>
          <p:cNvSpPr txBox="1"/>
          <p:nvPr/>
        </p:nvSpPr>
        <p:spPr>
          <a:xfrm>
            <a:off x="457200" y="1002829"/>
            <a:ext cx="11277295" cy="5129030"/>
          </a:xfrm>
          <a:prstGeom prst="rect">
            <a:avLst/>
          </a:prstGeom>
          <a:noFill/>
          <a:ln/>
        </p:spPr>
        <p:txBody>
          <a:bodyPr wrap="square" lIns="0" tIns="0" rIns="0" bIns="0" rtlCol="0" anchor="t"/>
          <a:lstStyle/>
          <a:p>
            <a:pPr marL="177800" indent="-177800">
              <a:lnSpc>
                <a:spcPct val="115000"/>
              </a:lnSpc>
              <a:spcAft>
                <a:spcPts val="1200"/>
              </a:spcAft>
              <a:buSzPct val="100000"/>
              <a:buChar char="▪"/>
            </a:pPr>
            <a:endParaRPr lang="en-US" sz="1400" dirty="0"/>
          </a:p>
        </p:txBody>
      </p:sp>
      <p:sp>
        <p:nvSpPr>
          <p:cNvPr id="11" name="Text 9"/>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Calibri" pitchFamily="34" charset="0"/>
                <a:ea typeface="Calibri" pitchFamily="34" charset="-122"/>
                <a:cs typeface="Calibri" pitchFamily="34" charset="-120"/>
              </a:rPr>
              <a:t>OUTR CAMPUS NETWORK  |  CISCO PACKET TRACER</a:t>
            </a:r>
            <a:endParaRPr lang="en-US" sz="800" dirty="0"/>
          </a:p>
        </p:txBody>
      </p:sp>
      <p:sp>
        <p:nvSpPr>
          <p:cNvPr id="12" name="Text 10"/>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a:solidFill>
                  <a:srgbClr val="6B7694"/>
                </a:solidFill>
                <a:latin typeface="Calibri" pitchFamily="34" charset="0"/>
                <a:ea typeface="Calibri" pitchFamily="34" charset="-122"/>
                <a:cs typeface="Calibri" pitchFamily="34" charset="-120"/>
              </a:rPr>
              <a:t>22</a:t>
            </a:r>
            <a:endParaRPr lang="en-US" sz="900" dirty="0"/>
          </a:p>
        </p:txBody>
      </p:sp>
      <p:pic>
        <p:nvPicPr>
          <p:cNvPr id="15" name="Picture 14">
            <a:extLst>
              <a:ext uri="{FF2B5EF4-FFF2-40B4-BE49-F238E27FC236}">
                <a16:creationId xmlns:a16="http://schemas.microsoft.com/office/drawing/2014/main" id="{F4E805E2-E5F0-44B0-A1BB-6C2B5C1D0305}"/>
              </a:ext>
            </a:extLst>
          </p:cNvPr>
          <p:cNvPicPr>
            <a:picLocks noChangeAspect="1"/>
          </p:cNvPicPr>
          <p:nvPr/>
        </p:nvPicPr>
        <p:blipFill>
          <a:blip r:embed="rId3"/>
          <a:stretch>
            <a:fillRect/>
          </a:stretch>
        </p:blipFill>
        <p:spPr>
          <a:xfrm>
            <a:off x="521207" y="1101045"/>
            <a:ext cx="5175096" cy="5159338"/>
          </a:xfrm>
          <a:prstGeom prst="rect">
            <a:avLst/>
          </a:prstGeom>
        </p:spPr>
      </p:pic>
      <p:pic>
        <p:nvPicPr>
          <p:cNvPr id="21" name="Picture 20">
            <a:extLst>
              <a:ext uri="{FF2B5EF4-FFF2-40B4-BE49-F238E27FC236}">
                <a16:creationId xmlns:a16="http://schemas.microsoft.com/office/drawing/2014/main" id="{443B2880-9218-4017-A0E2-1190C4517EA9}"/>
              </a:ext>
            </a:extLst>
          </p:cNvPr>
          <p:cNvPicPr>
            <a:picLocks noChangeAspect="1"/>
          </p:cNvPicPr>
          <p:nvPr/>
        </p:nvPicPr>
        <p:blipFill>
          <a:blip r:embed="rId4"/>
          <a:stretch>
            <a:fillRect/>
          </a:stretch>
        </p:blipFill>
        <p:spPr>
          <a:xfrm>
            <a:off x="5832028" y="1101045"/>
            <a:ext cx="5597972" cy="5164588"/>
          </a:xfrm>
          <a:prstGeom prst="rect">
            <a:avLst/>
          </a:prstGeom>
        </p:spPr>
      </p:pic>
    </p:spTree>
    <p:extLst>
      <p:ext uri="{BB962C8B-B14F-4D97-AF65-F5344CB8AC3E}">
        <p14:creationId xmlns:p14="http://schemas.microsoft.com/office/powerpoint/2010/main" val="3085478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EEF3FC"/>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Conclusion</a:t>
            </a:r>
            <a:endParaRPr lang="en-US" sz="2800" dirty="0"/>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Calibri" pitchFamily="34" charset="0"/>
                <a:ea typeface="Calibri" pitchFamily="34" charset="-122"/>
                <a:cs typeface="Calibri" pitchFamily="34" charset="-120"/>
              </a:rPr>
              <a:t>SECTION 07</a:t>
            </a:r>
            <a:endParaRPr lang="en-US" sz="1100" dirty="0"/>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Shape 4"/>
          <p:cNvSpPr/>
          <p:nvPr/>
        </p:nvSpPr>
        <p:spPr>
          <a:xfrm>
            <a:off x="457200" y="1207008"/>
            <a:ext cx="11277295" cy="769620"/>
          </a:xfrm>
          <a:prstGeom prst="roundRect">
            <a:avLst>
              <a:gd name="adj" fmla="val 9505"/>
            </a:avLst>
          </a:prstGeom>
          <a:solidFill>
            <a:srgbClr val="FFFFFF"/>
          </a:solidFill>
          <a:ln/>
          <a:effectLst>
            <a:outerShdw blurRad="63500" dist="25400" dir="5400000" algn="bl" rotWithShape="0">
              <a:srgbClr val="6B7694">
                <a:alpha val="16000"/>
              </a:srgbClr>
            </a:outerShdw>
          </a:effectLst>
        </p:spPr>
      </p:sp>
      <p:sp>
        <p:nvSpPr>
          <p:cNvPr id="7" name="Shape 5"/>
          <p:cNvSpPr/>
          <p:nvPr/>
        </p:nvSpPr>
        <p:spPr>
          <a:xfrm>
            <a:off x="658368" y="1418082"/>
            <a:ext cx="347472" cy="347472"/>
          </a:xfrm>
          <a:prstGeom prst="ellipse">
            <a:avLst/>
          </a:prstGeom>
          <a:solidFill>
            <a:srgbClr val="2E7D5B"/>
          </a:solidFill>
          <a:ln/>
        </p:spPr>
      </p:sp>
      <p:sp>
        <p:nvSpPr>
          <p:cNvPr id="8" name="Text 6"/>
          <p:cNvSpPr txBox="1"/>
          <p:nvPr/>
        </p:nvSpPr>
        <p:spPr>
          <a:xfrm>
            <a:off x="658368" y="141808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1170432" y="1243584"/>
            <a:ext cx="10332720" cy="696468"/>
          </a:xfrm>
          <a:prstGeom prst="rect">
            <a:avLst/>
          </a:prstGeom>
          <a:noFill/>
          <a:ln/>
        </p:spPr>
        <p:txBody>
          <a:bodyPr wrap="square" lIns="0" tIns="0" rIns="0" bIns="0" rtlCol="0" anchor="ctr"/>
          <a:lstStyle/>
          <a:p>
            <a:pPr marL="0" indent="0">
              <a:lnSpc>
                <a:spcPct val="105000"/>
              </a:lnSpc>
              <a:buNone/>
            </a:pPr>
            <a:r>
              <a:rPr lang="en-US" sz="1250" dirty="0">
                <a:solidFill>
                  <a:srgbClr val="1B2340"/>
                </a:solidFill>
                <a:latin typeface="Calibri" pitchFamily="34" charset="0"/>
                <a:ea typeface="Calibri" pitchFamily="34" charset="-122"/>
                <a:cs typeface="Calibri" pitchFamily="34" charset="-120"/>
              </a:rPr>
              <a:t>Successfully designed and simulated the OUTR Bhubaneswar Campus Network using Cisco Packet Tracer.</a:t>
            </a:r>
            <a:endParaRPr lang="en-US" sz="1250" dirty="0"/>
          </a:p>
        </p:txBody>
      </p:sp>
      <p:sp>
        <p:nvSpPr>
          <p:cNvPr id="10" name="Shape 8"/>
          <p:cNvSpPr/>
          <p:nvPr/>
        </p:nvSpPr>
        <p:spPr>
          <a:xfrm>
            <a:off x="457200" y="2095500"/>
            <a:ext cx="11277295" cy="769620"/>
          </a:xfrm>
          <a:prstGeom prst="roundRect">
            <a:avLst>
              <a:gd name="adj" fmla="val 9505"/>
            </a:avLst>
          </a:prstGeom>
          <a:solidFill>
            <a:srgbClr val="FFFFFF"/>
          </a:solidFill>
          <a:ln/>
          <a:effectLst>
            <a:outerShdw blurRad="63500" dist="25400" dir="5400000" algn="bl" rotWithShape="0">
              <a:srgbClr val="6B7694">
                <a:alpha val="16000"/>
              </a:srgbClr>
            </a:outerShdw>
          </a:effectLst>
        </p:spPr>
      </p:sp>
      <p:sp>
        <p:nvSpPr>
          <p:cNvPr id="11" name="Shape 9"/>
          <p:cNvSpPr/>
          <p:nvPr/>
        </p:nvSpPr>
        <p:spPr>
          <a:xfrm>
            <a:off x="658368" y="2306574"/>
            <a:ext cx="347472" cy="347472"/>
          </a:xfrm>
          <a:prstGeom prst="ellipse">
            <a:avLst/>
          </a:prstGeom>
          <a:solidFill>
            <a:srgbClr val="2E7D5B"/>
          </a:solidFill>
          <a:ln/>
        </p:spPr>
      </p:sp>
      <p:sp>
        <p:nvSpPr>
          <p:cNvPr id="12" name="Text 10"/>
          <p:cNvSpPr txBox="1"/>
          <p:nvPr/>
        </p:nvSpPr>
        <p:spPr>
          <a:xfrm>
            <a:off x="658368" y="230657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1"/>
          <p:cNvSpPr txBox="1"/>
          <p:nvPr/>
        </p:nvSpPr>
        <p:spPr>
          <a:xfrm>
            <a:off x="1170432" y="2132076"/>
            <a:ext cx="10332720" cy="696468"/>
          </a:xfrm>
          <a:prstGeom prst="rect">
            <a:avLst/>
          </a:prstGeom>
          <a:noFill/>
          <a:ln/>
        </p:spPr>
        <p:txBody>
          <a:bodyPr wrap="square" lIns="0" tIns="0" rIns="0" bIns="0" rtlCol="0" anchor="ctr"/>
          <a:lstStyle/>
          <a:p>
            <a:pPr marL="0" indent="0">
              <a:lnSpc>
                <a:spcPct val="105000"/>
              </a:lnSpc>
              <a:buNone/>
            </a:pPr>
            <a:r>
              <a:rPr lang="en-US" sz="1250" dirty="0">
                <a:solidFill>
                  <a:srgbClr val="1B2340"/>
                </a:solidFill>
                <a:latin typeface="Calibri" pitchFamily="34" charset="0"/>
                <a:ea typeface="Calibri" pitchFamily="34" charset="-122"/>
                <a:cs typeface="Calibri" pitchFamily="34" charset="-120"/>
              </a:rPr>
              <a:t>Developed a realistic university network topology connecting multiple academic departments and administrative units.</a:t>
            </a:r>
            <a:endParaRPr lang="en-US" sz="1250" dirty="0"/>
          </a:p>
        </p:txBody>
      </p:sp>
      <p:sp>
        <p:nvSpPr>
          <p:cNvPr id="14" name="Shape 12"/>
          <p:cNvSpPr/>
          <p:nvPr/>
        </p:nvSpPr>
        <p:spPr>
          <a:xfrm>
            <a:off x="457200" y="2983992"/>
            <a:ext cx="11277295" cy="769620"/>
          </a:xfrm>
          <a:prstGeom prst="roundRect">
            <a:avLst>
              <a:gd name="adj" fmla="val 9505"/>
            </a:avLst>
          </a:prstGeom>
          <a:solidFill>
            <a:srgbClr val="FFFFFF"/>
          </a:solidFill>
          <a:ln/>
          <a:effectLst>
            <a:outerShdw blurRad="63500" dist="25400" dir="5400000" algn="bl" rotWithShape="0">
              <a:srgbClr val="6B7694">
                <a:alpha val="16000"/>
              </a:srgbClr>
            </a:outerShdw>
          </a:effectLst>
        </p:spPr>
      </p:sp>
      <p:sp>
        <p:nvSpPr>
          <p:cNvPr id="15" name="Shape 13"/>
          <p:cNvSpPr/>
          <p:nvPr/>
        </p:nvSpPr>
        <p:spPr>
          <a:xfrm>
            <a:off x="658368" y="3195066"/>
            <a:ext cx="347472" cy="347472"/>
          </a:xfrm>
          <a:prstGeom prst="ellipse">
            <a:avLst/>
          </a:prstGeom>
          <a:solidFill>
            <a:srgbClr val="2E7D5B"/>
          </a:solidFill>
          <a:ln/>
        </p:spPr>
      </p:sp>
      <p:sp>
        <p:nvSpPr>
          <p:cNvPr id="16" name="Text 14"/>
          <p:cNvSpPr txBox="1"/>
          <p:nvPr/>
        </p:nvSpPr>
        <p:spPr>
          <a:xfrm>
            <a:off x="658368" y="3195066"/>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txBox="1"/>
          <p:nvPr/>
        </p:nvSpPr>
        <p:spPr>
          <a:xfrm>
            <a:off x="1170432" y="3020568"/>
            <a:ext cx="10332720" cy="696468"/>
          </a:xfrm>
          <a:prstGeom prst="rect">
            <a:avLst/>
          </a:prstGeom>
          <a:noFill/>
          <a:ln/>
        </p:spPr>
        <p:txBody>
          <a:bodyPr wrap="square" lIns="0" tIns="0" rIns="0" bIns="0" rtlCol="0" anchor="ctr"/>
          <a:lstStyle/>
          <a:p>
            <a:pPr marL="0" indent="0">
              <a:lnSpc>
                <a:spcPct val="105000"/>
              </a:lnSpc>
              <a:buNone/>
            </a:pPr>
            <a:r>
              <a:rPr lang="en-US" sz="1250" dirty="0">
                <a:solidFill>
                  <a:srgbClr val="1B2340"/>
                </a:solidFill>
                <a:latin typeface="Calibri" pitchFamily="34" charset="0"/>
                <a:ea typeface="Calibri" pitchFamily="34" charset="-122"/>
                <a:cs typeface="Calibri" pitchFamily="34" charset="-120"/>
              </a:rPr>
              <a:t>Configured routers, switches, IP addressing, and network services to achieve reliable end-to-end connectivity.</a:t>
            </a:r>
            <a:endParaRPr lang="en-US" sz="1250" dirty="0"/>
          </a:p>
        </p:txBody>
      </p:sp>
      <p:sp>
        <p:nvSpPr>
          <p:cNvPr id="18" name="Shape 16"/>
          <p:cNvSpPr/>
          <p:nvPr/>
        </p:nvSpPr>
        <p:spPr>
          <a:xfrm>
            <a:off x="457200" y="3872484"/>
            <a:ext cx="11277295" cy="769620"/>
          </a:xfrm>
          <a:prstGeom prst="roundRect">
            <a:avLst>
              <a:gd name="adj" fmla="val 9505"/>
            </a:avLst>
          </a:prstGeom>
          <a:solidFill>
            <a:srgbClr val="FFFFFF"/>
          </a:solidFill>
          <a:ln/>
          <a:effectLst>
            <a:outerShdw blurRad="63500" dist="25400" dir="5400000" algn="bl" rotWithShape="0">
              <a:srgbClr val="6B7694">
                <a:alpha val="16000"/>
              </a:srgbClr>
            </a:outerShdw>
          </a:effectLst>
        </p:spPr>
      </p:sp>
      <p:sp>
        <p:nvSpPr>
          <p:cNvPr id="19" name="Shape 17"/>
          <p:cNvSpPr/>
          <p:nvPr/>
        </p:nvSpPr>
        <p:spPr>
          <a:xfrm>
            <a:off x="658368" y="4083558"/>
            <a:ext cx="347472" cy="347472"/>
          </a:xfrm>
          <a:prstGeom prst="ellipse">
            <a:avLst/>
          </a:prstGeom>
          <a:solidFill>
            <a:srgbClr val="2E7D5B"/>
          </a:solidFill>
          <a:ln/>
        </p:spPr>
      </p:sp>
      <p:sp>
        <p:nvSpPr>
          <p:cNvPr id="20" name="Text 18"/>
          <p:cNvSpPr txBox="1"/>
          <p:nvPr/>
        </p:nvSpPr>
        <p:spPr>
          <a:xfrm>
            <a:off x="658368" y="4083558"/>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1" name="Text 19"/>
          <p:cNvSpPr txBox="1"/>
          <p:nvPr/>
        </p:nvSpPr>
        <p:spPr>
          <a:xfrm>
            <a:off x="1170432" y="3909060"/>
            <a:ext cx="10332720" cy="696468"/>
          </a:xfrm>
          <a:prstGeom prst="rect">
            <a:avLst/>
          </a:prstGeom>
          <a:noFill/>
          <a:ln/>
        </p:spPr>
        <p:txBody>
          <a:bodyPr wrap="square" lIns="0" tIns="0" rIns="0" bIns="0" rtlCol="0" anchor="ctr"/>
          <a:lstStyle/>
          <a:p>
            <a:pPr marL="0" indent="0">
              <a:lnSpc>
                <a:spcPct val="105000"/>
              </a:lnSpc>
              <a:buNone/>
            </a:pPr>
            <a:r>
              <a:rPr lang="en-US" sz="1250" dirty="0">
                <a:solidFill>
                  <a:srgbClr val="1B2340"/>
                </a:solidFill>
                <a:latin typeface="Calibri" pitchFamily="34" charset="0"/>
                <a:ea typeface="Calibri" pitchFamily="34" charset="-122"/>
                <a:cs typeface="Calibri" pitchFamily="34" charset="-120"/>
              </a:rPr>
              <a:t>Demonstrated how different departments can communicate and share network resources efficiently within an organization.</a:t>
            </a:r>
            <a:endParaRPr lang="en-US" sz="1250" dirty="0"/>
          </a:p>
        </p:txBody>
      </p:sp>
      <p:sp>
        <p:nvSpPr>
          <p:cNvPr id="22" name="Shape 20"/>
          <p:cNvSpPr/>
          <p:nvPr/>
        </p:nvSpPr>
        <p:spPr>
          <a:xfrm>
            <a:off x="457200" y="4760976"/>
            <a:ext cx="11277295" cy="769620"/>
          </a:xfrm>
          <a:prstGeom prst="roundRect">
            <a:avLst>
              <a:gd name="adj" fmla="val 9505"/>
            </a:avLst>
          </a:prstGeom>
          <a:solidFill>
            <a:srgbClr val="FFFFFF"/>
          </a:solidFill>
          <a:ln/>
          <a:effectLst>
            <a:outerShdw blurRad="63500" dist="25400" dir="5400000" algn="bl" rotWithShape="0">
              <a:srgbClr val="6B7694">
                <a:alpha val="16000"/>
              </a:srgbClr>
            </a:outerShdw>
          </a:effectLst>
        </p:spPr>
      </p:sp>
      <p:sp>
        <p:nvSpPr>
          <p:cNvPr id="23" name="Shape 21"/>
          <p:cNvSpPr/>
          <p:nvPr/>
        </p:nvSpPr>
        <p:spPr>
          <a:xfrm>
            <a:off x="658368" y="4972050"/>
            <a:ext cx="347472" cy="347472"/>
          </a:xfrm>
          <a:prstGeom prst="ellipse">
            <a:avLst/>
          </a:prstGeom>
          <a:solidFill>
            <a:srgbClr val="2E7D5B"/>
          </a:solidFill>
          <a:ln/>
        </p:spPr>
      </p:sp>
      <p:sp>
        <p:nvSpPr>
          <p:cNvPr id="24" name="Text 22"/>
          <p:cNvSpPr txBox="1"/>
          <p:nvPr/>
        </p:nvSpPr>
        <p:spPr>
          <a:xfrm>
            <a:off x="658368" y="497205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5" name="Text 23"/>
          <p:cNvSpPr txBox="1"/>
          <p:nvPr/>
        </p:nvSpPr>
        <p:spPr>
          <a:xfrm>
            <a:off x="1170432" y="4797552"/>
            <a:ext cx="10332720" cy="696468"/>
          </a:xfrm>
          <a:prstGeom prst="rect">
            <a:avLst/>
          </a:prstGeom>
          <a:noFill/>
          <a:ln/>
        </p:spPr>
        <p:txBody>
          <a:bodyPr wrap="square" lIns="0" tIns="0" rIns="0" bIns="0" rtlCol="0" anchor="ctr"/>
          <a:lstStyle/>
          <a:p>
            <a:pPr marL="0" indent="0">
              <a:lnSpc>
                <a:spcPct val="105000"/>
              </a:lnSpc>
              <a:buNone/>
            </a:pPr>
            <a:r>
              <a:rPr lang="en-US" sz="1250" dirty="0">
                <a:solidFill>
                  <a:srgbClr val="1B2340"/>
                </a:solidFill>
                <a:latin typeface="Calibri" pitchFamily="34" charset="0"/>
                <a:ea typeface="Calibri" pitchFamily="34" charset="-122"/>
                <a:cs typeface="Calibri" pitchFamily="34" charset="-120"/>
              </a:rPr>
              <a:t>Gained practical understanding of network design, configuration, inter-department communication, and troubleshooting.</a:t>
            </a:r>
            <a:endParaRPr lang="en-US" sz="1250" dirty="0"/>
          </a:p>
        </p:txBody>
      </p:sp>
      <p:sp>
        <p:nvSpPr>
          <p:cNvPr id="26" name="Shape 24"/>
          <p:cNvSpPr/>
          <p:nvPr/>
        </p:nvSpPr>
        <p:spPr>
          <a:xfrm>
            <a:off x="457200" y="5649468"/>
            <a:ext cx="11277295" cy="769620"/>
          </a:xfrm>
          <a:prstGeom prst="roundRect">
            <a:avLst>
              <a:gd name="adj" fmla="val 9505"/>
            </a:avLst>
          </a:prstGeom>
          <a:solidFill>
            <a:srgbClr val="FFFFFF"/>
          </a:solidFill>
          <a:ln/>
          <a:effectLst>
            <a:outerShdw blurRad="63500" dist="25400" dir="5400000" algn="bl" rotWithShape="0">
              <a:srgbClr val="6B7694">
                <a:alpha val="16000"/>
              </a:srgbClr>
            </a:outerShdw>
          </a:effectLst>
        </p:spPr>
      </p:sp>
      <p:sp>
        <p:nvSpPr>
          <p:cNvPr id="27" name="Shape 25"/>
          <p:cNvSpPr/>
          <p:nvPr/>
        </p:nvSpPr>
        <p:spPr>
          <a:xfrm>
            <a:off x="658368" y="5860542"/>
            <a:ext cx="347472" cy="347472"/>
          </a:xfrm>
          <a:prstGeom prst="ellipse">
            <a:avLst/>
          </a:prstGeom>
          <a:solidFill>
            <a:srgbClr val="2E7D5B"/>
          </a:solidFill>
          <a:ln/>
        </p:spPr>
      </p:sp>
      <p:sp>
        <p:nvSpPr>
          <p:cNvPr id="28" name="Text 26"/>
          <p:cNvSpPr txBox="1"/>
          <p:nvPr/>
        </p:nvSpPr>
        <p:spPr>
          <a:xfrm>
            <a:off x="658368" y="586054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9" name="Text 27"/>
          <p:cNvSpPr txBox="1"/>
          <p:nvPr/>
        </p:nvSpPr>
        <p:spPr>
          <a:xfrm>
            <a:off x="1170432" y="5686044"/>
            <a:ext cx="10332720" cy="696468"/>
          </a:xfrm>
          <a:prstGeom prst="rect">
            <a:avLst/>
          </a:prstGeom>
          <a:noFill/>
          <a:ln/>
        </p:spPr>
        <p:txBody>
          <a:bodyPr wrap="square" lIns="0" tIns="0" rIns="0" bIns="0" rtlCol="0" anchor="ctr"/>
          <a:lstStyle/>
          <a:p>
            <a:pPr marL="0" indent="0">
              <a:lnSpc>
                <a:spcPct val="105000"/>
              </a:lnSpc>
              <a:buNone/>
            </a:pPr>
            <a:r>
              <a:rPr lang="en-US" sz="1250" dirty="0">
                <a:solidFill>
                  <a:srgbClr val="1B2340"/>
                </a:solidFill>
                <a:latin typeface="Calibri" pitchFamily="34" charset="0"/>
                <a:ea typeface="Calibri" pitchFamily="34" charset="-122"/>
                <a:cs typeface="Calibri" pitchFamily="34" charset="-120"/>
              </a:rPr>
              <a:t>The proposed network provides a scalable and organized foundation that can be further enhanced for a real-world university environment.</a:t>
            </a:r>
            <a:endParaRPr lang="en-US" sz="1250" dirty="0"/>
          </a:p>
        </p:txBody>
      </p:sp>
      <p:sp>
        <p:nvSpPr>
          <p:cNvPr id="30" name="Text 28"/>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Calibri" pitchFamily="34" charset="0"/>
                <a:ea typeface="Calibri" pitchFamily="34" charset="-122"/>
                <a:cs typeface="Calibri" pitchFamily="34" charset="-120"/>
              </a:rPr>
              <a:t>OUTR CAMPUS NETWORK  |  CISCO PACKET TRACER</a:t>
            </a:r>
            <a:endParaRPr lang="en-US" sz="800" dirty="0"/>
          </a:p>
        </p:txBody>
      </p:sp>
      <p:sp>
        <p:nvSpPr>
          <p:cNvPr id="31" name="Text 29"/>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a:solidFill>
                  <a:srgbClr val="6B7694"/>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Future Work</a:t>
            </a:r>
            <a:endParaRPr lang="en-US" sz="2800" dirty="0"/>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Calibri" pitchFamily="34" charset="0"/>
                <a:ea typeface="Calibri" pitchFamily="34" charset="-122"/>
                <a:cs typeface="Calibri" pitchFamily="34" charset="-120"/>
              </a:rPr>
              <a:t>SECTION 08</a:t>
            </a:r>
            <a:endParaRPr lang="en-US" sz="1100" dirty="0"/>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Shape 4"/>
          <p:cNvSpPr/>
          <p:nvPr/>
        </p:nvSpPr>
        <p:spPr>
          <a:xfrm>
            <a:off x="457200" y="1207008"/>
            <a:ext cx="5501488" cy="1584960"/>
          </a:xfrm>
          <a:prstGeom prst="roundRect">
            <a:avLst>
              <a:gd name="adj" fmla="val 4615"/>
            </a:avLst>
          </a:prstGeom>
          <a:solidFill>
            <a:srgbClr val="EEF3FC"/>
          </a:solidFill>
          <a:ln/>
          <a:effectLst>
            <a:outerShdw blurRad="76200" dist="25400" dir="5400000" algn="bl" rotWithShape="0">
              <a:srgbClr val="6B7694">
                <a:alpha val="18000"/>
              </a:srgbClr>
            </a:outerShdw>
          </a:effectLst>
        </p:spPr>
      </p:sp>
      <p:sp>
        <p:nvSpPr>
          <p:cNvPr id="7" name="Shape 5"/>
          <p:cNvSpPr/>
          <p:nvPr/>
        </p:nvSpPr>
        <p:spPr>
          <a:xfrm>
            <a:off x="658368" y="1798320"/>
            <a:ext cx="402336" cy="402336"/>
          </a:xfrm>
          <a:prstGeom prst="ellipse">
            <a:avLst/>
          </a:prstGeom>
          <a:solidFill>
            <a:srgbClr val="00B4D8"/>
          </a:solidFill>
          <a:ln/>
        </p:spPr>
      </p:sp>
      <p:sp>
        <p:nvSpPr>
          <p:cNvPr id="8" name="Text 6"/>
          <p:cNvSpPr txBox="1"/>
          <p:nvPr/>
        </p:nvSpPr>
        <p:spPr>
          <a:xfrm>
            <a:off x="658368" y="179832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9" name="Text 7"/>
          <p:cNvSpPr txBox="1"/>
          <p:nvPr/>
        </p:nvSpPr>
        <p:spPr>
          <a:xfrm>
            <a:off x="1207008" y="1298448"/>
            <a:ext cx="4541368" cy="1402080"/>
          </a:xfrm>
          <a:prstGeom prst="rect">
            <a:avLst/>
          </a:prstGeom>
          <a:noFill/>
          <a:ln/>
        </p:spPr>
        <p:txBody>
          <a:bodyPr wrap="square" lIns="0" tIns="0" rIns="0" bIns="0" rtlCol="0" anchor="ctr"/>
          <a:lstStyle/>
          <a:p>
            <a:pPr marL="0" indent="0" algn="just">
              <a:lnSpc>
                <a:spcPct val="105000"/>
              </a:lnSpc>
              <a:buNone/>
            </a:pPr>
            <a:r>
              <a:rPr lang="en-US" sz="1200" b="1" dirty="0">
                <a:solidFill>
                  <a:srgbClr val="1E2761"/>
                </a:solidFill>
                <a:latin typeface="Times New Roman" panose="02020603050405020304" pitchFamily="18" charset="0"/>
                <a:ea typeface="Calibri" pitchFamily="34" charset="-122"/>
                <a:cs typeface="Times New Roman" panose="02020603050405020304" pitchFamily="18" charset="0"/>
              </a:rPr>
              <a:t>Real-World Implementation:</a:t>
            </a:r>
            <a:r>
              <a:rPr lang="en-US" sz="1200" dirty="0">
                <a:solidFill>
                  <a:srgbClr val="1B2340"/>
                </a:solidFill>
                <a:latin typeface="Times New Roman" panose="02020603050405020304" pitchFamily="18" charset="0"/>
                <a:ea typeface="Calibri" pitchFamily="34" charset="-122"/>
                <a:cs typeface="Times New Roman" panose="02020603050405020304" pitchFamily="18" charset="0"/>
              </a:rPr>
              <a:t> Deploy the proposed network in an actual university environment and evaluate its performance under real operating conditions.</a:t>
            </a:r>
            <a:endParaRPr lang="en-US" sz="1200" dirty="0">
              <a:latin typeface="Times New Roman" panose="02020603050405020304" pitchFamily="18" charset="0"/>
              <a:cs typeface="Times New Roman" panose="02020603050405020304" pitchFamily="18" charset="0"/>
            </a:endParaRPr>
          </a:p>
        </p:txBody>
      </p:sp>
      <p:sp>
        <p:nvSpPr>
          <p:cNvPr id="10" name="Shape 8"/>
          <p:cNvSpPr/>
          <p:nvPr/>
        </p:nvSpPr>
        <p:spPr>
          <a:xfrm>
            <a:off x="6233008" y="1207008"/>
            <a:ext cx="5501488" cy="1584960"/>
          </a:xfrm>
          <a:prstGeom prst="roundRect">
            <a:avLst>
              <a:gd name="adj" fmla="val 4615"/>
            </a:avLst>
          </a:prstGeom>
          <a:solidFill>
            <a:srgbClr val="EEF3FC"/>
          </a:solidFill>
          <a:ln/>
          <a:effectLst>
            <a:outerShdw blurRad="76200" dist="25400" dir="5400000" algn="bl" rotWithShape="0">
              <a:srgbClr val="6B7694">
                <a:alpha val="18000"/>
              </a:srgbClr>
            </a:outerShdw>
          </a:effectLst>
        </p:spPr>
      </p:sp>
      <p:sp>
        <p:nvSpPr>
          <p:cNvPr id="11" name="Shape 9"/>
          <p:cNvSpPr/>
          <p:nvPr/>
        </p:nvSpPr>
        <p:spPr>
          <a:xfrm>
            <a:off x="6434176" y="1798320"/>
            <a:ext cx="402336" cy="402336"/>
          </a:xfrm>
          <a:prstGeom prst="ellipse">
            <a:avLst/>
          </a:prstGeom>
          <a:solidFill>
            <a:srgbClr val="00B4D8"/>
          </a:solidFill>
          <a:ln/>
        </p:spPr>
      </p:sp>
      <p:sp>
        <p:nvSpPr>
          <p:cNvPr id="12" name="Text 10"/>
          <p:cNvSpPr txBox="1"/>
          <p:nvPr/>
        </p:nvSpPr>
        <p:spPr>
          <a:xfrm>
            <a:off x="6434176" y="179832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6982816" y="1298448"/>
            <a:ext cx="4541368" cy="1402080"/>
          </a:xfrm>
          <a:prstGeom prst="rect">
            <a:avLst/>
          </a:prstGeom>
          <a:noFill/>
          <a:ln/>
        </p:spPr>
        <p:txBody>
          <a:bodyPr wrap="square" lIns="0" tIns="0" rIns="0" bIns="0" rtlCol="0" anchor="ctr"/>
          <a:lstStyle/>
          <a:p>
            <a:pPr marL="0" indent="0" algn="just">
              <a:lnSpc>
                <a:spcPct val="105000"/>
              </a:lnSpc>
              <a:buNone/>
            </a:pPr>
            <a:r>
              <a:rPr lang="en-US" sz="1200" b="1" dirty="0">
                <a:solidFill>
                  <a:srgbClr val="1E2761"/>
                </a:solidFill>
                <a:latin typeface="Times New Roman" panose="02020603050405020304" pitchFamily="18" charset="0"/>
                <a:ea typeface="Calibri" pitchFamily="34" charset="-122"/>
                <a:cs typeface="Times New Roman" panose="02020603050405020304" pitchFamily="18" charset="0"/>
              </a:rPr>
              <a:t>Enhanced Network Security:</a:t>
            </a:r>
            <a:r>
              <a:rPr lang="en-US" sz="1200" dirty="0">
                <a:solidFill>
                  <a:srgbClr val="1B2340"/>
                </a:solidFill>
                <a:latin typeface="Times New Roman" panose="02020603050405020304" pitchFamily="18" charset="0"/>
                <a:ea typeface="Calibri" pitchFamily="34" charset="-122"/>
                <a:cs typeface="Times New Roman" panose="02020603050405020304" pitchFamily="18" charset="0"/>
              </a:rPr>
              <a:t> Implement advanced security mechanisms such as firewalls, VLANs, access control, authentication, and intrusion detection to protect network resources.</a:t>
            </a:r>
            <a:endParaRPr lang="en-US" sz="1200" dirty="0">
              <a:latin typeface="Times New Roman" panose="02020603050405020304" pitchFamily="18" charset="0"/>
              <a:cs typeface="Times New Roman" panose="02020603050405020304" pitchFamily="18" charset="0"/>
            </a:endParaRPr>
          </a:p>
        </p:txBody>
      </p:sp>
      <p:sp>
        <p:nvSpPr>
          <p:cNvPr id="14" name="Shape 12"/>
          <p:cNvSpPr/>
          <p:nvPr/>
        </p:nvSpPr>
        <p:spPr>
          <a:xfrm>
            <a:off x="457200" y="3020568"/>
            <a:ext cx="5501488" cy="1584960"/>
          </a:xfrm>
          <a:prstGeom prst="roundRect">
            <a:avLst>
              <a:gd name="adj" fmla="val 4615"/>
            </a:avLst>
          </a:prstGeom>
          <a:solidFill>
            <a:srgbClr val="EEF3FC"/>
          </a:solidFill>
          <a:ln/>
          <a:effectLst>
            <a:outerShdw blurRad="76200" dist="25400" dir="5400000" algn="bl" rotWithShape="0">
              <a:srgbClr val="6B7694">
                <a:alpha val="18000"/>
              </a:srgbClr>
            </a:outerShdw>
          </a:effectLst>
        </p:spPr>
      </p:sp>
      <p:sp>
        <p:nvSpPr>
          <p:cNvPr id="15" name="Shape 13"/>
          <p:cNvSpPr/>
          <p:nvPr/>
        </p:nvSpPr>
        <p:spPr>
          <a:xfrm>
            <a:off x="658368" y="3611880"/>
            <a:ext cx="402336" cy="402336"/>
          </a:xfrm>
          <a:prstGeom prst="ellipse">
            <a:avLst/>
          </a:prstGeom>
          <a:solidFill>
            <a:srgbClr val="00B4D8"/>
          </a:solidFill>
          <a:ln/>
        </p:spPr>
      </p:sp>
      <p:sp>
        <p:nvSpPr>
          <p:cNvPr id="16" name="Text 14"/>
          <p:cNvSpPr txBox="1"/>
          <p:nvPr/>
        </p:nvSpPr>
        <p:spPr>
          <a:xfrm>
            <a:off x="658368" y="361188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txBox="1"/>
          <p:nvPr/>
        </p:nvSpPr>
        <p:spPr>
          <a:xfrm>
            <a:off x="1207008" y="3112008"/>
            <a:ext cx="4541368" cy="1402080"/>
          </a:xfrm>
          <a:prstGeom prst="rect">
            <a:avLst/>
          </a:prstGeom>
          <a:noFill/>
          <a:ln/>
        </p:spPr>
        <p:txBody>
          <a:bodyPr wrap="square" lIns="0" tIns="0" rIns="0" bIns="0" rtlCol="0" anchor="ctr"/>
          <a:lstStyle/>
          <a:p>
            <a:pPr marL="0" indent="0" algn="just">
              <a:lnSpc>
                <a:spcPct val="105000"/>
              </a:lnSpc>
              <a:buNone/>
            </a:pPr>
            <a:r>
              <a:rPr lang="en-US" sz="1200" b="1" dirty="0">
                <a:solidFill>
                  <a:srgbClr val="1E2761"/>
                </a:solidFill>
                <a:latin typeface="Times New Roman" panose="02020603050405020304" pitchFamily="18" charset="0"/>
                <a:ea typeface="Calibri" pitchFamily="34" charset="-122"/>
                <a:cs typeface="Times New Roman" panose="02020603050405020304" pitchFamily="18" charset="0"/>
              </a:rPr>
              <a:t>Performance Optimization:</a:t>
            </a:r>
            <a:r>
              <a:rPr lang="en-US" sz="1200" dirty="0">
                <a:solidFill>
                  <a:srgbClr val="1B2340"/>
                </a:solidFill>
                <a:latin typeface="Times New Roman" panose="02020603050405020304" pitchFamily="18" charset="0"/>
                <a:ea typeface="Calibri" pitchFamily="34" charset="-122"/>
                <a:cs typeface="Times New Roman" panose="02020603050405020304" pitchFamily="18" charset="0"/>
              </a:rPr>
              <a:t> Analyze and improve key parameters such as network throughput, latency, packet delivery, and response </a:t>
            </a:r>
            <a:r>
              <a:rPr lang="en-US" sz="1200">
                <a:solidFill>
                  <a:srgbClr val="1B2340"/>
                </a:solidFill>
                <a:latin typeface="Times New Roman" panose="02020603050405020304" pitchFamily="18" charset="0"/>
                <a:ea typeface="Calibri" pitchFamily="34" charset="-122"/>
                <a:cs typeface="Times New Roman" panose="02020603050405020304" pitchFamily="18" charset="0"/>
              </a:rPr>
              <a:t>time.</a:t>
            </a:r>
            <a:r>
              <a:rPr lang="en-US" sz="1200">
                <a:latin typeface="Times New Roman" panose="02020603050405020304" pitchFamily="18" charset="0"/>
                <a:cs typeface="Times New Roman" panose="02020603050405020304" pitchFamily="18" charset="0"/>
              </a:rPr>
              <a:t> Advanced Routing: Upgrade from RIPv2 to EIGRP or OSPF and implement route redistribution between different routing domains.</a:t>
            </a:r>
            <a:endParaRPr lang="en-US" sz="1200" dirty="0">
              <a:latin typeface="Times New Roman" panose="02020603050405020304" pitchFamily="18" charset="0"/>
              <a:cs typeface="Times New Roman" panose="02020603050405020304" pitchFamily="18" charset="0"/>
            </a:endParaRPr>
          </a:p>
        </p:txBody>
      </p:sp>
      <p:sp>
        <p:nvSpPr>
          <p:cNvPr id="18" name="Shape 16"/>
          <p:cNvSpPr/>
          <p:nvPr/>
        </p:nvSpPr>
        <p:spPr>
          <a:xfrm>
            <a:off x="6233008" y="3020568"/>
            <a:ext cx="5501488" cy="1584960"/>
          </a:xfrm>
          <a:prstGeom prst="roundRect">
            <a:avLst>
              <a:gd name="adj" fmla="val 4615"/>
            </a:avLst>
          </a:prstGeom>
          <a:solidFill>
            <a:srgbClr val="EEF3FC"/>
          </a:solidFill>
          <a:ln/>
          <a:effectLst>
            <a:outerShdw blurRad="76200" dist="25400" dir="5400000" algn="bl" rotWithShape="0">
              <a:srgbClr val="6B7694">
                <a:alpha val="18000"/>
              </a:srgbClr>
            </a:outerShdw>
          </a:effectLst>
        </p:spPr>
      </p:sp>
      <p:sp>
        <p:nvSpPr>
          <p:cNvPr id="19" name="Shape 17"/>
          <p:cNvSpPr/>
          <p:nvPr/>
        </p:nvSpPr>
        <p:spPr>
          <a:xfrm>
            <a:off x="6434176" y="3611880"/>
            <a:ext cx="402336" cy="402336"/>
          </a:xfrm>
          <a:prstGeom prst="ellipse">
            <a:avLst/>
          </a:prstGeom>
          <a:solidFill>
            <a:srgbClr val="00B4D8"/>
          </a:solidFill>
          <a:ln/>
        </p:spPr>
      </p:sp>
      <p:sp>
        <p:nvSpPr>
          <p:cNvPr id="20" name="Text 18"/>
          <p:cNvSpPr txBox="1"/>
          <p:nvPr/>
        </p:nvSpPr>
        <p:spPr>
          <a:xfrm>
            <a:off x="6434176" y="361188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txBox="1"/>
          <p:nvPr/>
        </p:nvSpPr>
        <p:spPr>
          <a:xfrm>
            <a:off x="6982816" y="3112008"/>
            <a:ext cx="4541368" cy="1402080"/>
          </a:xfrm>
          <a:prstGeom prst="rect">
            <a:avLst/>
          </a:prstGeom>
          <a:noFill/>
          <a:ln/>
        </p:spPr>
        <p:txBody>
          <a:bodyPr wrap="square" lIns="0" tIns="0" rIns="0" bIns="0" rtlCol="0" anchor="ctr"/>
          <a:lstStyle/>
          <a:p>
            <a:pPr marL="0" indent="0" algn="just">
              <a:lnSpc>
                <a:spcPct val="105000"/>
              </a:lnSpc>
              <a:buNone/>
            </a:pPr>
            <a:r>
              <a:rPr lang="en-US" sz="1200" b="1" dirty="0">
                <a:solidFill>
                  <a:srgbClr val="1E2761"/>
                </a:solidFill>
                <a:latin typeface="Times New Roman" panose="02020603050405020304" pitchFamily="18" charset="0"/>
                <a:ea typeface="Calibri" pitchFamily="34" charset="-122"/>
                <a:cs typeface="Times New Roman" panose="02020603050405020304" pitchFamily="18" charset="0"/>
              </a:rPr>
              <a:t>Alternative Simulation Platforms:</a:t>
            </a:r>
            <a:r>
              <a:rPr lang="en-US" sz="1200" dirty="0">
                <a:solidFill>
                  <a:srgbClr val="1B2340"/>
                </a:solidFill>
                <a:latin typeface="Times New Roman" panose="02020603050405020304" pitchFamily="18" charset="0"/>
                <a:ea typeface="Calibri" pitchFamily="34" charset="-122"/>
                <a:cs typeface="Times New Roman" panose="02020603050405020304" pitchFamily="18" charset="0"/>
              </a:rPr>
              <a:t> Replicate and evaluate the network using other networking simulation and emulation platforms to compare performance and functionality.</a:t>
            </a:r>
            <a:endParaRPr lang="en-US" sz="1200" dirty="0">
              <a:latin typeface="Times New Roman" panose="02020603050405020304" pitchFamily="18" charset="0"/>
              <a:cs typeface="Times New Roman" panose="02020603050405020304" pitchFamily="18" charset="0"/>
            </a:endParaRPr>
          </a:p>
        </p:txBody>
      </p:sp>
      <p:sp>
        <p:nvSpPr>
          <p:cNvPr id="22" name="Shape 20"/>
          <p:cNvSpPr/>
          <p:nvPr/>
        </p:nvSpPr>
        <p:spPr>
          <a:xfrm>
            <a:off x="457200" y="4834128"/>
            <a:ext cx="5501488" cy="1584960"/>
          </a:xfrm>
          <a:prstGeom prst="roundRect">
            <a:avLst>
              <a:gd name="adj" fmla="val 4615"/>
            </a:avLst>
          </a:prstGeom>
          <a:solidFill>
            <a:srgbClr val="EEF3FC"/>
          </a:solidFill>
          <a:ln/>
          <a:effectLst>
            <a:outerShdw blurRad="76200" dist="25400" dir="5400000" algn="bl" rotWithShape="0">
              <a:srgbClr val="6B7694">
                <a:alpha val="18000"/>
              </a:srgbClr>
            </a:outerShdw>
          </a:effectLst>
        </p:spPr>
      </p:sp>
      <p:sp>
        <p:nvSpPr>
          <p:cNvPr id="23" name="Shape 21"/>
          <p:cNvSpPr/>
          <p:nvPr/>
        </p:nvSpPr>
        <p:spPr>
          <a:xfrm>
            <a:off x="658368" y="5425440"/>
            <a:ext cx="402336" cy="402336"/>
          </a:xfrm>
          <a:prstGeom prst="ellipse">
            <a:avLst/>
          </a:prstGeom>
          <a:solidFill>
            <a:srgbClr val="00B4D8"/>
          </a:solidFill>
          <a:ln/>
        </p:spPr>
      </p:sp>
      <p:sp>
        <p:nvSpPr>
          <p:cNvPr id="24" name="Text 22"/>
          <p:cNvSpPr txBox="1"/>
          <p:nvPr/>
        </p:nvSpPr>
        <p:spPr>
          <a:xfrm>
            <a:off x="658368" y="542544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5" name="Text 23"/>
          <p:cNvSpPr txBox="1"/>
          <p:nvPr/>
        </p:nvSpPr>
        <p:spPr>
          <a:xfrm>
            <a:off x="1207008" y="4925568"/>
            <a:ext cx="4541368" cy="1402080"/>
          </a:xfrm>
          <a:prstGeom prst="rect">
            <a:avLst/>
          </a:prstGeom>
          <a:noFill/>
          <a:ln/>
        </p:spPr>
        <p:txBody>
          <a:bodyPr wrap="square" lIns="0" tIns="0" rIns="0" bIns="0" rtlCol="0" anchor="ctr"/>
          <a:lstStyle/>
          <a:p>
            <a:pPr marL="0" indent="0" algn="just">
              <a:lnSpc>
                <a:spcPct val="105000"/>
              </a:lnSpc>
              <a:buNone/>
            </a:pPr>
            <a:r>
              <a:rPr lang="en-US" sz="1200" b="1" dirty="0">
                <a:solidFill>
                  <a:srgbClr val="1E2761"/>
                </a:solidFill>
                <a:latin typeface="Times New Roman" panose="02020603050405020304" pitchFamily="18" charset="0"/>
                <a:ea typeface="Calibri" pitchFamily="34" charset="-122"/>
                <a:cs typeface="Times New Roman" panose="02020603050405020304" pitchFamily="18" charset="0"/>
              </a:rPr>
              <a:t>Signal and Communication Analysis:</a:t>
            </a:r>
            <a:r>
              <a:rPr lang="en-US" sz="1200" dirty="0">
                <a:solidFill>
                  <a:srgbClr val="1B2340"/>
                </a:solidFill>
                <a:latin typeface="Times New Roman" panose="02020603050405020304" pitchFamily="18" charset="0"/>
                <a:ea typeface="Calibri" pitchFamily="34" charset="-122"/>
                <a:cs typeface="Times New Roman" panose="02020603050405020304" pitchFamily="18" charset="0"/>
              </a:rPr>
              <a:t> Study the accuracy, transmission quality, delay, and reliability of signals exchanged between different network segments.</a:t>
            </a:r>
            <a:endParaRPr lang="en-US" sz="1200" dirty="0">
              <a:latin typeface="Times New Roman" panose="02020603050405020304" pitchFamily="18" charset="0"/>
              <a:cs typeface="Times New Roman" panose="02020603050405020304" pitchFamily="18" charset="0"/>
            </a:endParaRPr>
          </a:p>
        </p:txBody>
      </p:sp>
      <p:sp>
        <p:nvSpPr>
          <p:cNvPr id="26" name="Shape 24"/>
          <p:cNvSpPr/>
          <p:nvPr/>
        </p:nvSpPr>
        <p:spPr>
          <a:xfrm>
            <a:off x="6233008" y="4834128"/>
            <a:ext cx="5501488" cy="1584960"/>
          </a:xfrm>
          <a:prstGeom prst="roundRect">
            <a:avLst>
              <a:gd name="adj" fmla="val 4615"/>
            </a:avLst>
          </a:prstGeom>
          <a:solidFill>
            <a:srgbClr val="EEF3FC"/>
          </a:solidFill>
          <a:ln/>
          <a:effectLst>
            <a:outerShdw blurRad="76200" dist="25400" dir="5400000" algn="bl" rotWithShape="0">
              <a:srgbClr val="6B7694">
                <a:alpha val="18000"/>
              </a:srgbClr>
            </a:outerShdw>
          </a:effectLst>
        </p:spPr>
      </p:sp>
      <p:sp>
        <p:nvSpPr>
          <p:cNvPr id="27" name="Shape 25"/>
          <p:cNvSpPr/>
          <p:nvPr/>
        </p:nvSpPr>
        <p:spPr>
          <a:xfrm>
            <a:off x="6434176" y="5425440"/>
            <a:ext cx="402336" cy="402336"/>
          </a:xfrm>
          <a:prstGeom prst="ellipse">
            <a:avLst/>
          </a:prstGeom>
          <a:solidFill>
            <a:srgbClr val="00B4D8"/>
          </a:solidFill>
          <a:ln/>
        </p:spPr>
      </p:sp>
      <p:sp>
        <p:nvSpPr>
          <p:cNvPr id="28" name="Text 26"/>
          <p:cNvSpPr txBox="1"/>
          <p:nvPr/>
        </p:nvSpPr>
        <p:spPr>
          <a:xfrm>
            <a:off x="6434176" y="542544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9" name="Text 27"/>
          <p:cNvSpPr txBox="1"/>
          <p:nvPr/>
        </p:nvSpPr>
        <p:spPr>
          <a:xfrm>
            <a:off x="6982816" y="4925568"/>
            <a:ext cx="4541368" cy="1402080"/>
          </a:xfrm>
          <a:prstGeom prst="rect">
            <a:avLst/>
          </a:prstGeom>
          <a:noFill/>
          <a:ln/>
        </p:spPr>
        <p:txBody>
          <a:bodyPr wrap="square" lIns="0" tIns="0" rIns="0" bIns="0" rtlCol="0" anchor="ctr"/>
          <a:lstStyle/>
          <a:p>
            <a:pPr marL="0" indent="0" algn="just">
              <a:lnSpc>
                <a:spcPct val="105000"/>
              </a:lnSpc>
              <a:buNone/>
            </a:pPr>
            <a:r>
              <a:rPr lang="en-US" sz="1200" b="1" dirty="0">
                <a:solidFill>
                  <a:srgbClr val="1E2761"/>
                </a:solidFill>
                <a:latin typeface="Times New Roman" panose="02020603050405020304" pitchFamily="18" charset="0"/>
                <a:ea typeface="Calibri" pitchFamily="34" charset="-122"/>
                <a:cs typeface="Times New Roman" panose="02020603050405020304" pitchFamily="18" charset="0"/>
              </a:rPr>
              <a:t>Scalability and Redundancy:</a:t>
            </a:r>
            <a:r>
              <a:rPr lang="en-US" sz="1200" dirty="0">
                <a:solidFill>
                  <a:srgbClr val="1B2340"/>
                </a:solidFill>
                <a:latin typeface="Times New Roman" panose="02020603050405020304" pitchFamily="18" charset="0"/>
                <a:ea typeface="Calibri" pitchFamily="34" charset="-122"/>
                <a:cs typeface="Times New Roman" panose="02020603050405020304" pitchFamily="18" charset="0"/>
              </a:rPr>
              <a:t> Extend the network to support future campus expansion while introducing backup links and devices for improved network availability.</a:t>
            </a:r>
            <a:endParaRPr lang="en-US" sz="1200" dirty="0">
              <a:latin typeface="Times New Roman" panose="02020603050405020304" pitchFamily="18" charset="0"/>
              <a:cs typeface="Times New Roman" panose="02020603050405020304" pitchFamily="18" charset="0"/>
            </a:endParaRPr>
          </a:p>
        </p:txBody>
      </p:sp>
      <p:sp>
        <p:nvSpPr>
          <p:cNvPr id="30" name="Text 28"/>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Calibri" pitchFamily="34" charset="0"/>
                <a:ea typeface="Calibri" pitchFamily="34" charset="-122"/>
                <a:cs typeface="Calibri" pitchFamily="34" charset="-120"/>
              </a:rPr>
              <a:t>OUTR CAMPUS NETWORK  |  CISCO PACKET TRACER</a:t>
            </a:r>
            <a:endParaRPr lang="en-US" sz="800" dirty="0"/>
          </a:p>
        </p:txBody>
      </p:sp>
      <p:sp>
        <p:nvSpPr>
          <p:cNvPr id="31" name="Text 29"/>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a:solidFill>
                  <a:srgbClr val="6B7694"/>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66928"/>
            <a:ext cx="128016" cy="128016"/>
          </a:xfrm>
          <a:prstGeom prst="ellipse">
            <a:avLst/>
          </a:prstGeom>
          <a:solidFill>
            <a:srgbClr val="00B4D8"/>
          </a:solidFill>
          <a:ln/>
        </p:spPr>
      </p:sp>
      <p:sp>
        <p:nvSpPr>
          <p:cNvPr id="3" name="Text 1"/>
          <p:cNvSpPr txBox="1"/>
          <p:nvPr/>
        </p:nvSpPr>
        <p:spPr>
          <a:xfrm>
            <a:off x="713232" y="347472"/>
            <a:ext cx="8686800" cy="548640"/>
          </a:xfrm>
          <a:prstGeom prst="rect">
            <a:avLst/>
          </a:prstGeom>
          <a:noFill/>
          <a:ln/>
        </p:spPr>
        <p:txBody>
          <a:bodyPr wrap="square" lIns="0" tIns="0" rIns="0" bIns="0" rtlCol="0" anchor="ctr"/>
          <a:lstStyle/>
          <a:p>
            <a:pPr marL="0" indent="0" algn="l">
              <a:buNone/>
            </a:pPr>
            <a:r>
              <a:rPr lang="en-US" sz="2800" b="1" dirty="0">
                <a:solidFill>
                  <a:srgbClr val="1E2761"/>
                </a:solidFill>
                <a:latin typeface="Times New Roman" panose="02020603050405020304" pitchFamily="18" charset="0"/>
                <a:ea typeface="Cambria" pitchFamily="34" charset="-122"/>
                <a:cs typeface="Times New Roman" panose="02020603050405020304" pitchFamily="18" charset="0"/>
              </a:rPr>
              <a:t>References</a:t>
            </a:r>
            <a:endParaRPr lang="en-US" sz="2800" dirty="0">
              <a:latin typeface="Times New Roman" panose="02020603050405020304" pitchFamily="18" charset="0"/>
              <a:cs typeface="Times New Roman" panose="02020603050405020304" pitchFamily="18" charset="0"/>
            </a:endParaRPr>
          </a:p>
        </p:txBody>
      </p:sp>
      <p:sp>
        <p:nvSpPr>
          <p:cNvPr id="4" name="Text 2"/>
          <p:cNvSpPr txBox="1"/>
          <p:nvPr/>
        </p:nvSpPr>
        <p:spPr>
          <a:xfrm>
            <a:off x="7498080" y="411480"/>
            <a:ext cx="4233672" cy="365760"/>
          </a:xfrm>
          <a:prstGeom prst="rect">
            <a:avLst/>
          </a:prstGeom>
          <a:noFill/>
          <a:ln/>
        </p:spPr>
        <p:txBody>
          <a:bodyPr wrap="square" lIns="0" tIns="0" rIns="0" bIns="0" rtlCol="0" anchor="ctr"/>
          <a:lstStyle/>
          <a:p>
            <a:pPr marL="0" indent="0" algn="r">
              <a:buNone/>
            </a:pPr>
            <a:r>
              <a:rPr lang="en-US" sz="1100" kern="0" spc="150" dirty="0">
                <a:solidFill>
                  <a:srgbClr val="6B7694"/>
                </a:solidFill>
                <a:latin typeface="Times New Roman" panose="02020603050405020304" pitchFamily="18" charset="0"/>
                <a:ea typeface="Calibri" pitchFamily="34" charset="-122"/>
                <a:cs typeface="Times New Roman" panose="02020603050405020304" pitchFamily="18" charset="0"/>
              </a:rPr>
              <a:t>SECTION 09</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024128"/>
            <a:ext cx="11274552" cy="0"/>
          </a:xfrm>
          <a:prstGeom prst="line">
            <a:avLst/>
          </a:prstGeom>
          <a:noFill/>
          <a:ln w="12700">
            <a:solidFill>
              <a:srgbClr val="CADCFC"/>
            </a:solidFill>
            <a:prstDash val="solid"/>
          </a:ln>
        </p:spPr>
      </p:sp>
      <p:sp>
        <p:nvSpPr>
          <p:cNvPr id="6" name="Shape 4"/>
          <p:cNvSpPr/>
          <p:nvPr/>
        </p:nvSpPr>
        <p:spPr>
          <a:xfrm>
            <a:off x="457200" y="1280160"/>
            <a:ext cx="11277295" cy="685800"/>
          </a:xfrm>
          <a:prstGeom prst="roundRect">
            <a:avLst>
              <a:gd name="adj" fmla="val 8000"/>
            </a:avLst>
          </a:prstGeom>
          <a:solidFill>
            <a:srgbClr val="EEF3FC"/>
          </a:solidFill>
          <a:ln/>
        </p:spPr>
      </p:sp>
      <p:sp>
        <p:nvSpPr>
          <p:cNvPr id="7" name="Text 5"/>
          <p:cNvSpPr txBox="1"/>
          <p:nvPr/>
        </p:nvSpPr>
        <p:spPr>
          <a:xfrm>
            <a:off x="640080" y="1280160"/>
            <a:ext cx="502920" cy="685800"/>
          </a:xfrm>
          <a:prstGeom prst="rect">
            <a:avLst/>
          </a:prstGeom>
          <a:noFill/>
          <a:ln/>
        </p:spPr>
        <p:txBody>
          <a:bodyPr wrap="square" lIns="0" tIns="0" rIns="0" bIns="0" rtlCol="0" anchor="ctr"/>
          <a:lstStyle/>
          <a:p>
            <a:pPr marL="0" indent="0">
              <a:buNone/>
            </a:pPr>
            <a:r>
              <a:rPr lang="en-US" sz="1300" b="1" dirty="0">
                <a:solidFill>
                  <a:srgbClr val="0091AD"/>
                </a:solidFill>
                <a:latin typeface="Times New Roman" panose="02020603050405020304" pitchFamily="18" charset="0"/>
                <a:ea typeface="Cambria" pitchFamily="34" charset="-122"/>
                <a:cs typeface="Times New Roman" panose="02020603050405020304" pitchFamily="18" charset="0"/>
              </a:rPr>
              <a:t>[1]</a:t>
            </a:r>
            <a:endParaRPr lang="en-US" sz="1300" dirty="0">
              <a:latin typeface="Times New Roman" panose="02020603050405020304" pitchFamily="18" charset="0"/>
              <a:cs typeface="Times New Roman" panose="02020603050405020304" pitchFamily="18" charset="0"/>
            </a:endParaRPr>
          </a:p>
        </p:txBody>
      </p:sp>
      <p:sp>
        <p:nvSpPr>
          <p:cNvPr id="8" name="Text 6"/>
          <p:cNvSpPr txBox="1"/>
          <p:nvPr/>
        </p:nvSpPr>
        <p:spPr>
          <a:xfrm>
            <a:off x="1234440" y="1280160"/>
            <a:ext cx="10241280" cy="685800"/>
          </a:xfrm>
          <a:prstGeom prst="rect">
            <a:avLst/>
          </a:prstGeom>
          <a:noFill/>
          <a:ln/>
        </p:spPr>
        <p:txBody>
          <a:bodyPr wrap="square" lIns="0" tIns="0" rIns="0" bIns="0" rtlCol="0" anchor="ctr"/>
          <a:lstStyle/>
          <a:p>
            <a:pPr marL="0" indent="0">
              <a:lnSpc>
                <a:spcPct val="105000"/>
              </a:lnSpc>
              <a:buNone/>
            </a:pPr>
            <a:r>
              <a:rPr lang="en-US" sz="1100" dirty="0">
                <a:solidFill>
                  <a:srgbClr val="1B2340"/>
                </a:solidFill>
                <a:latin typeface="Times New Roman" panose="02020603050405020304" pitchFamily="18" charset="0"/>
                <a:ea typeface="Calibri" pitchFamily="34" charset="-122"/>
                <a:cs typeface="Times New Roman" panose="02020603050405020304" pitchFamily="18" charset="0"/>
              </a:rPr>
              <a:t>L. Ezema, W. Mbonu, U. Nwogu, and C. Owuamanam, “Plan, design and simulation of university network,” International Journal of Advanced Computer Research, vol. 4, no. 3, p. 834, 2014.</a:t>
            </a:r>
            <a:endParaRPr lang="en-US" sz="1100" dirty="0">
              <a:latin typeface="Times New Roman" panose="02020603050405020304" pitchFamily="18" charset="0"/>
              <a:cs typeface="Times New Roman" panose="02020603050405020304" pitchFamily="18" charset="0"/>
            </a:endParaRPr>
          </a:p>
        </p:txBody>
      </p:sp>
      <p:sp>
        <p:nvSpPr>
          <p:cNvPr id="9" name="Shape 7"/>
          <p:cNvSpPr/>
          <p:nvPr/>
        </p:nvSpPr>
        <p:spPr>
          <a:xfrm>
            <a:off x="457200" y="2167128"/>
            <a:ext cx="11277295" cy="685800"/>
          </a:xfrm>
          <a:prstGeom prst="roundRect">
            <a:avLst>
              <a:gd name="adj" fmla="val 8000"/>
            </a:avLst>
          </a:prstGeom>
          <a:solidFill>
            <a:srgbClr val="EEF3FC"/>
          </a:solidFill>
          <a:ln/>
        </p:spPr>
      </p:sp>
      <p:sp>
        <p:nvSpPr>
          <p:cNvPr id="10" name="Text 8"/>
          <p:cNvSpPr txBox="1"/>
          <p:nvPr/>
        </p:nvSpPr>
        <p:spPr>
          <a:xfrm>
            <a:off x="640080" y="2167128"/>
            <a:ext cx="502920" cy="685800"/>
          </a:xfrm>
          <a:prstGeom prst="rect">
            <a:avLst/>
          </a:prstGeom>
          <a:noFill/>
          <a:ln/>
        </p:spPr>
        <p:txBody>
          <a:bodyPr wrap="square" lIns="0" tIns="0" rIns="0" bIns="0" rtlCol="0" anchor="ctr"/>
          <a:lstStyle/>
          <a:p>
            <a:pPr marL="0" indent="0">
              <a:buNone/>
            </a:pPr>
            <a:r>
              <a:rPr lang="en-US" sz="1300" b="1" dirty="0">
                <a:solidFill>
                  <a:srgbClr val="0091AD"/>
                </a:solidFill>
                <a:latin typeface="Times New Roman" panose="02020603050405020304" pitchFamily="18" charset="0"/>
                <a:ea typeface="Cambria" pitchFamily="34" charset="-122"/>
                <a:cs typeface="Times New Roman" panose="02020603050405020304" pitchFamily="18" charset="0"/>
              </a:rPr>
              <a:t>[2]</a:t>
            </a:r>
            <a:endParaRPr lang="en-US" sz="1300" dirty="0">
              <a:latin typeface="Times New Roman" panose="02020603050405020304" pitchFamily="18" charset="0"/>
              <a:cs typeface="Times New Roman" panose="02020603050405020304" pitchFamily="18" charset="0"/>
            </a:endParaRPr>
          </a:p>
        </p:txBody>
      </p:sp>
      <p:sp>
        <p:nvSpPr>
          <p:cNvPr id="11" name="Text 9"/>
          <p:cNvSpPr txBox="1"/>
          <p:nvPr/>
        </p:nvSpPr>
        <p:spPr>
          <a:xfrm>
            <a:off x="1234440" y="2167128"/>
            <a:ext cx="10241280" cy="685800"/>
          </a:xfrm>
          <a:prstGeom prst="rect">
            <a:avLst/>
          </a:prstGeom>
          <a:noFill/>
          <a:ln/>
        </p:spPr>
        <p:txBody>
          <a:bodyPr wrap="square" lIns="0" tIns="0" rIns="0" bIns="0" rtlCol="0" anchor="ctr"/>
          <a:lstStyle/>
          <a:p>
            <a:pPr marL="0" indent="0">
              <a:lnSpc>
                <a:spcPct val="105000"/>
              </a:lnSpc>
              <a:buNone/>
            </a:pPr>
            <a:r>
              <a:rPr lang="en-US" sz="1100" dirty="0">
                <a:solidFill>
                  <a:srgbClr val="1B2340"/>
                </a:solidFill>
                <a:latin typeface="Times New Roman" panose="02020603050405020304" pitchFamily="18" charset="0"/>
                <a:ea typeface="Calibri" pitchFamily="34" charset="-122"/>
                <a:cs typeface="Times New Roman" panose="02020603050405020304" pitchFamily="18" charset="0"/>
              </a:rPr>
              <a:t>A. H. Ahmed and M. Al-Hamadani, “Designing a secure campus network and simulating it using cisco packet tracer,” Indonesian Journal of Electrical Engineering and Computer Science, vol. 23, no. 1, pp. 479–489, 2021.</a:t>
            </a:r>
            <a:endParaRPr lang="en-US" sz="1100" dirty="0">
              <a:latin typeface="Times New Roman" panose="02020603050405020304" pitchFamily="18" charset="0"/>
              <a:cs typeface="Times New Roman" panose="02020603050405020304" pitchFamily="18" charset="0"/>
            </a:endParaRPr>
          </a:p>
        </p:txBody>
      </p:sp>
      <p:sp>
        <p:nvSpPr>
          <p:cNvPr id="12" name="Shape 10"/>
          <p:cNvSpPr/>
          <p:nvPr/>
        </p:nvSpPr>
        <p:spPr>
          <a:xfrm>
            <a:off x="457200" y="3054096"/>
            <a:ext cx="11277295" cy="685800"/>
          </a:xfrm>
          <a:prstGeom prst="roundRect">
            <a:avLst>
              <a:gd name="adj" fmla="val 8000"/>
            </a:avLst>
          </a:prstGeom>
          <a:solidFill>
            <a:srgbClr val="EEF3FC"/>
          </a:solidFill>
          <a:ln/>
        </p:spPr>
      </p:sp>
      <p:sp>
        <p:nvSpPr>
          <p:cNvPr id="13" name="Text 11"/>
          <p:cNvSpPr txBox="1"/>
          <p:nvPr/>
        </p:nvSpPr>
        <p:spPr>
          <a:xfrm>
            <a:off x="640080" y="3054096"/>
            <a:ext cx="502920" cy="685800"/>
          </a:xfrm>
          <a:prstGeom prst="rect">
            <a:avLst/>
          </a:prstGeom>
          <a:noFill/>
          <a:ln/>
        </p:spPr>
        <p:txBody>
          <a:bodyPr wrap="square" lIns="0" tIns="0" rIns="0" bIns="0" rtlCol="0" anchor="ctr"/>
          <a:lstStyle/>
          <a:p>
            <a:pPr marL="0" indent="0">
              <a:buNone/>
            </a:pPr>
            <a:r>
              <a:rPr lang="en-US" sz="1300" b="1" dirty="0">
                <a:solidFill>
                  <a:srgbClr val="0091AD"/>
                </a:solidFill>
                <a:latin typeface="Times New Roman" panose="02020603050405020304" pitchFamily="18" charset="0"/>
                <a:ea typeface="Cambria" pitchFamily="34" charset="-122"/>
                <a:cs typeface="Times New Roman" panose="02020603050405020304" pitchFamily="18" charset="0"/>
              </a:rPr>
              <a:t>[3]</a:t>
            </a:r>
            <a:endParaRPr lang="en-US" sz="1300" dirty="0">
              <a:latin typeface="Times New Roman" panose="02020603050405020304" pitchFamily="18" charset="0"/>
              <a:cs typeface="Times New Roman" panose="02020603050405020304" pitchFamily="18" charset="0"/>
            </a:endParaRPr>
          </a:p>
        </p:txBody>
      </p:sp>
      <p:sp>
        <p:nvSpPr>
          <p:cNvPr id="14" name="Text 12"/>
          <p:cNvSpPr txBox="1"/>
          <p:nvPr/>
        </p:nvSpPr>
        <p:spPr>
          <a:xfrm>
            <a:off x="1234440" y="3054096"/>
            <a:ext cx="10241280" cy="685800"/>
          </a:xfrm>
          <a:prstGeom prst="rect">
            <a:avLst/>
          </a:prstGeom>
          <a:noFill/>
          <a:ln/>
        </p:spPr>
        <p:txBody>
          <a:bodyPr wrap="square" lIns="0" tIns="0" rIns="0" bIns="0" rtlCol="0" anchor="ctr"/>
          <a:lstStyle/>
          <a:p>
            <a:pPr marL="0" indent="0">
              <a:lnSpc>
                <a:spcPct val="105000"/>
              </a:lnSpc>
              <a:buNone/>
            </a:pPr>
            <a:r>
              <a:rPr lang="en-US" sz="1100" dirty="0">
                <a:solidFill>
                  <a:srgbClr val="1B2340"/>
                </a:solidFill>
                <a:latin typeface="Times New Roman" panose="02020603050405020304" pitchFamily="18" charset="0"/>
                <a:ea typeface="Calibri" pitchFamily="34" charset="-122"/>
                <a:cs typeface="Times New Roman" panose="02020603050405020304" pitchFamily="18" charset="0"/>
              </a:rPr>
              <a:t>P. Kornilovitch, R. Bicknell, and J. Yeo, “Fully-connected networks with local connections,” Applied Physics A, vol. 95, no. 4, pp. 999–1004, 2009.</a:t>
            </a:r>
            <a:endParaRPr lang="en-US" sz="1100" dirty="0">
              <a:latin typeface="Times New Roman" panose="02020603050405020304" pitchFamily="18" charset="0"/>
              <a:cs typeface="Times New Roman" panose="02020603050405020304" pitchFamily="18" charset="0"/>
            </a:endParaRPr>
          </a:p>
        </p:txBody>
      </p:sp>
      <p:sp>
        <p:nvSpPr>
          <p:cNvPr id="15" name="Shape 13"/>
          <p:cNvSpPr/>
          <p:nvPr/>
        </p:nvSpPr>
        <p:spPr>
          <a:xfrm>
            <a:off x="457200" y="3941064"/>
            <a:ext cx="11277295" cy="685800"/>
          </a:xfrm>
          <a:prstGeom prst="roundRect">
            <a:avLst>
              <a:gd name="adj" fmla="val 8000"/>
            </a:avLst>
          </a:prstGeom>
          <a:solidFill>
            <a:srgbClr val="EEF3FC"/>
          </a:solidFill>
          <a:ln/>
        </p:spPr>
      </p:sp>
      <p:sp>
        <p:nvSpPr>
          <p:cNvPr id="16" name="Text 14"/>
          <p:cNvSpPr txBox="1"/>
          <p:nvPr/>
        </p:nvSpPr>
        <p:spPr>
          <a:xfrm>
            <a:off x="640080" y="3941064"/>
            <a:ext cx="502920" cy="685800"/>
          </a:xfrm>
          <a:prstGeom prst="rect">
            <a:avLst/>
          </a:prstGeom>
          <a:noFill/>
          <a:ln/>
        </p:spPr>
        <p:txBody>
          <a:bodyPr wrap="square" lIns="0" tIns="0" rIns="0" bIns="0" rtlCol="0" anchor="ctr"/>
          <a:lstStyle/>
          <a:p>
            <a:pPr marL="0" indent="0">
              <a:buNone/>
            </a:pPr>
            <a:r>
              <a:rPr lang="en-US" sz="1300" b="1" dirty="0">
                <a:solidFill>
                  <a:srgbClr val="0091AD"/>
                </a:solidFill>
                <a:latin typeface="Times New Roman" panose="02020603050405020304" pitchFamily="18" charset="0"/>
                <a:ea typeface="Cambria" pitchFamily="34" charset="-122"/>
                <a:cs typeface="Times New Roman" panose="02020603050405020304" pitchFamily="18" charset="0"/>
              </a:rPr>
              <a:t>[4]</a:t>
            </a:r>
            <a:endParaRPr lang="en-US" sz="1300" dirty="0">
              <a:latin typeface="Times New Roman" panose="02020603050405020304" pitchFamily="18" charset="0"/>
              <a:cs typeface="Times New Roman" panose="02020603050405020304" pitchFamily="18" charset="0"/>
            </a:endParaRPr>
          </a:p>
        </p:txBody>
      </p:sp>
      <p:sp>
        <p:nvSpPr>
          <p:cNvPr id="17" name="Text 15"/>
          <p:cNvSpPr txBox="1"/>
          <p:nvPr/>
        </p:nvSpPr>
        <p:spPr>
          <a:xfrm>
            <a:off x="1234440" y="3941064"/>
            <a:ext cx="10241280" cy="685800"/>
          </a:xfrm>
          <a:prstGeom prst="rect">
            <a:avLst/>
          </a:prstGeom>
          <a:noFill/>
          <a:ln/>
        </p:spPr>
        <p:txBody>
          <a:bodyPr wrap="square" lIns="0" tIns="0" rIns="0" bIns="0" rtlCol="0" anchor="ctr"/>
          <a:lstStyle/>
          <a:p>
            <a:pPr marL="0" indent="0">
              <a:lnSpc>
                <a:spcPct val="105000"/>
              </a:lnSpc>
              <a:buNone/>
            </a:pPr>
            <a:r>
              <a:rPr lang="en-US" sz="1100" dirty="0">
                <a:solidFill>
                  <a:srgbClr val="1B2340"/>
                </a:solidFill>
                <a:latin typeface="Times New Roman" panose="02020603050405020304" pitchFamily="18" charset="0"/>
                <a:ea typeface="Calibri" pitchFamily="34" charset="-122"/>
                <a:cs typeface="Times New Roman" panose="02020603050405020304" pitchFamily="18" charset="0"/>
              </a:rPr>
              <a:t>R. S. S. AlSarhan, “Computer network design for universities in developing countries,” 2016.</a:t>
            </a:r>
            <a:endParaRPr lang="en-US" sz="1100" dirty="0">
              <a:latin typeface="Times New Roman" panose="02020603050405020304" pitchFamily="18" charset="0"/>
              <a:cs typeface="Times New Roman" panose="02020603050405020304" pitchFamily="18" charset="0"/>
            </a:endParaRPr>
          </a:p>
        </p:txBody>
      </p:sp>
      <p:sp>
        <p:nvSpPr>
          <p:cNvPr id="18" name="Shape 16"/>
          <p:cNvSpPr/>
          <p:nvPr/>
        </p:nvSpPr>
        <p:spPr>
          <a:xfrm>
            <a:off x="457200" y="4828032"/>
            <a:ext cx="11277295" cy="685800"/>
          </a:xfrm>
          <a:prstGeom prst="roundRect">
            <a:avLst>
              <a:gd name="adj" fmla="val 8000"/>
            </a:avLst>
          </a:prstGeom>
          <a:solidFill>
            <a:srgbClr val="EEF3FC"/>
          </a:solidFill>
          <a:ln/>
        </p:spPr>
      </p:sp>
      <p:sp>
        <p:nvSpPr>
          <p:cNvPr id="19" name="Text 17"/>
          <p:cNvSpPr txBox="1"/>
          <p:nvPr/>
        </p:nvSpPr>
        <p:spPr>
          <a:xfrm>
            <a:off x="640080" y="4828032"/>
            <a:ext cx="502920" cy="685800"/>
          </a:xfrm>
          <a:prstGeom prst="rect">
            <a:avLst/>
          </a:prstGeom>
          <a:noFill/>
          <a:ln/>
        </p:spPr>
        <p:txBody>
          <a:bodyPr wrap="square" lIns="0" tIns="0" rIns="0" bIns="0" rtlCol="0" anchor="ctr"/>
          <a:lstStyle/>
          <a:p>
            <a:pPr marL="0" indent="0">
              <a:buNone/>
            </a:pPr>
            <a:r>
              <a:rPr lang="en-US" sz="1300" b="1" dirty="0">
                <a:solidFill>
                  <a:srgbClr val="0091AD"/>
                </a:solidFill>
                <a:latin typeface="Times New Roman" panose="02020603050405020304" pitchFamily="18" charset="0"/>
                <a:ea typeface="Cambria" pitchFamily="34" charset="-122"/>
                <a:cs typeface="Times New Roman" panose="02020603050405020304" pitchFamily="18" charset="0"/>
              </a:rPr>
              <a:t>[5]</a:t>
            </a:r>
            <a:endParaRPr lang="en-US" sz="1300" dirty="0">
              <a:latin typeface="Times New Roman" panose="02020603050405020304" pitchFamily="18" charset="0"/>
              <a:cs typeface="Times New Roman" panose="02020603050405020304" pitchFamily="18" charset="0"/>
            </a:endParaRPr>
          </a:p>
        </p:txBody>
      </p:sp>
      <p:sp>
        <p:nvSpPr>
          <p:cNvPr id="20" name="Text 18"/>
          <p:cNvSpPr txBox="1"/>
          <p:nvPr/>
        </p:nvSpPr>
        <p:spPr>
          <a:xfrm>
            <a:off x="1234440" y="4828032"/>
            <a:ext cx="10241280" cy="685800"/>
          </a:xfrm>
          <a:prstGeom prst="rect">
            <a:avLst/>
          </a:prstGeom>
          <a:noFill/>
          <a:ln/>
        </p:spPr>
        <p:txBody>
          <a:bodyPr wrap="square" lIns="0" tIns="0" rIns="0" bIns="0" rtlCol="0" anchor="ctr"/>
          <a:lstStyle/>
          <a:p>
            <a:pPr marL="0" indent="0">
              <a:lnSpc>
                <a:spcPct val="105000"/>
              </a:lnSpc>
              <a:buNone/>
            </a:pPr>
            <a:r>
              <a:rPr lang="en-US" sz="1100" dirty="0">
                <a:solidFill>
                  <a:srgbClr val="1B2340"/>
                </a:solidFill>
                <a:latin typeface="Times New Roman" panose="02020603050405020304" pitchFamily="18" charset="0"/>
                <a:ea typeface="Calibri" pitchFamily="34" charset="-122"/>
                <a:cs typeface="Times New Roman" panose="02020603050405020304" pitchFamily="18" charset="0"/>
              </a:rPr>
              <a:t>R. Jiang, “A review of network topology,” in 4th International Conference on Computer, Mechatronics, Control and Electronic Engineering, pp. 1167–1170, Atlantis Press, 2015.</a:t>
            </a:r>
            <a:endParaRPr lang="en-US" sz="1100" dirty="0">
              <a:latin typeface="Times New Roman" panose="02020603050405020304" pitchFamily="18" charset="0"/>
              <a:cs typeface="Times New Roman" panose="02020603050405020304" pitchFamily="18" charset="0"/>
            </a:endParaRPr>
          </a:p>
        </p:txBody>
      </p:sp>
      <p:sp>
        <p:nvSpPr>
          <p:cNvPr id="21" name="Shape 19"/>
          <p:cNvSpPr/>
          <p:nvPr/>
        </p:nvSpPr>
        <p:spPr>
          <a:xfrm>
            <a:off x="457200" y="5715000"/>
            <a:ext cx="11277295" cy="685800"/>
          </a:xfrm>
          <a:prstGeom prst="roundRect">
            <a:avLst>
              <a:gd name="adj" fmla="val 8000"/>
            </a:avLst>
          </a:prstGeom>
          <a:solidFill>
            <a:srgbClr val="EEF3FC"/>
          </a:solidFill>
          <a:ln/>
        </p:spPr>
      </p:sp>
      <p:sp>
        <p:nvSpPr>
          <p:cNvPr id="22" name="Text 20"/>
          <p:cNvSpPr txBox="1"/>
          <p:nvPr/>
        </p:nvSpPr>
        <p:spPr>
          <a:xfrm>
            <a:off x="640080" y="5715000"/>
            <a:ext cx="502920" cy="685800"/>
          </a:xfrm>
          <a:prstGeom prst="rect">
            <a:avLst/>
          </a:prstGeom>
          <a:noFill/>
          <a:ln/>
        </p:spPr>
        <p:txBody>
          <a:bodyPr wrap="square" lIns="0" tIns="0" rIns="0" bIns="0" rtlCol="0" anchor="ctr"/>
          <a:lstStyle/>
          <a:p>
            <a:pPr marL="0" indent="0">
              <a:buNone/>
            </a:pPr>
            <a:r>
              <a:rPr lang="en-US" sz="1300" b="1" dirty="0">
                <a:solidFill>
                  <a:srgbClr val="0091AD"/>
                </a:solidFill>
                <a:latin typeface="Times New Roman" panose="02020603050405020304" pitchFamily="18" charset="0"/>
                <a:ea typeface="Cambria" pitchFamily="34" charset="-122"/>
                <a:cs typeface="Times New Roman" panose="02020603050405020304" pitchFamily="18" charset="0"/>
              </a:rPr>
              <a:t>[6]</a:t>
            </a:r>
            <a:endParaRPr lang="en-US" sz="1300" dirty="0">
              <a:latin typeface="Times New Roman" panose="02020603050405020304" pitchFamily="18" charset="0"/>
              <a:cs typeface="Times New Roman" panose="02020603050405020304" pitchFamily="18" charset="0"/>
            </a:endParaRPr>
          </a:p>
        </p:txBody>
      </p:sp>
      <p:sp>
        <p:nvSpPr>
          <p:cNvPr id="23" name="Text 21"/>
          <p:cNvSpPr txBox="1"/>
          <p:nvPr/>
        </p:nvSpPr>
        <p:spPr>
          <a:xfrm>
            <a:off x="1234440" y="5715000"/>
            <a:ext cx="10241280" cy="685800"/>
          </a:xfrm>
          <a:prstGeom prst="rect">
            <a:avLst/>
          </a:prstGeom>
          <a:noFill/>
          <a:ln/>
        </p:spPr>
        <p:txBody>
          <a:bodyPr wrap="square" lIns="0" tIns="0" rIns="0" bIns="0" rtlCol="0" anchor="ctr"/>
          <a:lstStyle/>
          <a:p>
            <a:pPr marL="0" indent="0">
              <a:lnSpc>
                <a:spcPct val="105000"/>
              </a:lnSpc>
              <a:buNone/>
            </a:pPr>
            <a:r>
              <a:rPr lang="en-US" sz="1100" dirty="0">
                <a:solidFill>
                  <a:srgbClr val="1B2340"/>
                </a:solidFill>
                <a:latin typeface="Times New Roman" panose="02020603050405020304" pitchFamily="18" charset="0"/>
                <a:ea typeface="Calibri" pitchFamily="34" charset="-122"/>
                <a:cs typeface="Times New Roman" panose="02020603050405020304" pitchFamily="18" charset="0"/>
              </a:rPr>
              <a:t>G. E. Clarke, CompTIA Network+ Certification Study Guide. McGraw-Hill, 2009.</a:t>
            </a:r>
            <a:endParaRPr lang="en-US" sz="1100" dirty="0">
              <a:latin typeface="Times New Roman" panose="02020603050405020304" pitchFamily="18" charset="0"/>
              <a:cs typeface="Times New Roman" panose="02020603050405020304" pitchFamily="18" charset="0"/>
            </a:endParaRPr>
          </a:p>
        </p:txBody>
      </p:sp>
      <p:sp>
        <p:nvSpPr>
          <p:cNvPr id="24" name="Text 22"/>
          <p:cNvSpPr txBox="1"/>
          <p:nvPr/>
        </p:nvSpPr>
        <p:spPr>
          <a:xfrm>
            <a:off x="457200" y="6537960"/>
            <a:ext cx="7315200" cy="274320"/>
          </a:xfrm>
          <a:prstGeom prst="rect">
            <a:avLst/>
          </a:prstGeom>
          <a:noFill/>
          <a:ln/>
        </p:spPr>
        <p:txBody>
          <a:bodyPr wrap="square" lIns="0" tIns="0" rIns="0" bIns="0" rtlCol="0" anchor="ctr"/>
          <a:lstStyle/>
          <a:p>
            <a:pPr marL="0" indent="0" algn="l">
              <a:buNone/>
            </a:pPr>
            <a:r>
              <a:rPr lang="en-US" sz="800" kern="0" spc="100" dirty="0">
                <a:solidFill>
                  <a:srgbClr val="6B7694"/>
                </a:solidFill>
                <a:latin typeface="Times New Roman" panose="02020603050405020304" pitchFamily="18" charset="0"/>
                <a:ea typeface="Calibri" pitchFamily="34" charset="-122"/>
                <a:cs typeface="Times New Roman" panose="02020603050405020304" pitchFamily="18" charset="0"/>
              </a:rPr>
              <a:t>OUTR CAMPUS NETWORK  |  CISCO PACKET TRACER</a:t>
            </a:r>
            <a:endParaRPr lang="en-US" sz="800" dirty="0">
              <a:latin typeface="Times New Roman" panose="02020603050405020304" pitchFamily="18" charset="0"/>
              <a:cs typeface="Times New Roman" panose="02020603050405020304" pitchFamily="18" charset="0"/>
            </a:endParaRPr>
          </a:p>
        </p:txBody>
      </p:sp>
      <p:sp>
        <p:nvSpPr>
          <p:cNvPr id="25" name="Text 23"/>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a:solidFill>
                  <a:srgbClr val="6B7694"/>
                </a:solidFill>
                <a:latin typeface="Times New Roman" panose="02020603050405020304" pitchFamily="18" charset="0"/>
                <a:ea typeface="Calibri" pitchFamily="34" charset="-122"/>
                <a:cs typeface="Times New Roman" panose="02020603050405020304" pitchFamily="18" charset="0"/>
              </a:rPr>
              <a:t>25</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5413248" y="1371600"/>
            <a:ext cx="1371600" cy="1371600"/>
          </a:xfrm>
          <a:prstGeom prst="ellipse">
            <a:avLst/>
          </a:prstGeom>
          <a:solidFill>
            <a:srgbClr val="FFFFFF"/>
          </a:solidFill>
          <a:ln/>
          <a:effectLst>
            <a:outerShdw blurRad="101600" dist="38100" dir="5400000" algn="bl" rotWithShape="0">
              <a:srgbClr val="000000">
                <a:alpha val="25000"/>
              </a:srgbClr>
            </a:outerShdw>
          </a:effectLst>
        </p:spPr>
      </p:sp>
      <p:pic>
        <p:nvPicPr>
          <p:cNvPr id="3" name="Image 0" descr="media/logo.png"/>
          <p:cNvPicPr>
            <a:picLocks noChangeAspect="1"/>
          </p:cNvPicPr>
          <p:nvPr/>
        </p:nvPicPr>
        <p:blipFill>
          <a:blip r:embed="rId3"/>
          <a:stretch>
            <a:fillRect/>
          </a:stretch>
        </p:blipFill>
        <p:spPr>
          <a:xfrm>
            <a:off x="5547207" y="1508760"/>
            <a:ext cx="1097280" cy="1097280"/>
          </a:xfrm>
          <a:prstGeom prst="rect">
            <a:avLst/>
          </a:prstGeom>
        </p:spPr>
      </p:pic>
      <p:sp>
        <p:nvSpPr>
          <p:cNvPr id="4" name="Text 1"/>
          <p:cNvSpPr txBox="1"/>
          <p:nvPr/>
        </p:nvSpPr>
        <p:spPr>
          <a:xfrm>
            <a:off x="0" y="3017520"/>
            <a:ext cx="12191695"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2"/>
          <p:cNvSpPr txBox="1"/>
          <p:nvPr/>
        </p:nvSpPr>
        <p:spPr>
          <a:xfrm>
            <a:off x="0" y="3886200"/>
            <a:ext cx="12191695" cy="548640"/>
          </a:xfrm>
          <a:prstGeom prst="rect">
            <a:avLst/>
          </a:prstGeom>
          <a:noFill/>
          <a:ln/>
        </p:spPr>
        <p:txBody>
          <a:bodyPr wrap="square" lIns="0" tIns="0" rIns="0" bIns="0" rtlCol="0" anchor="ctr"/>
          <a:lstStyle/>
          <a:p>
            <a:pPr marL="0" indent="0" algn="ctr">
              <a:buNone/>
            </a:pPr>
            <a:r>
              <a:rPr lang="en-US" sz="1800" dirty="0">
                <a:solidFill>
                  <a:srgbClr val="00B4D8"/>
                </a:solidFill>
                <a:latin typeface="Calibri" pitchFamily="34" charset="0"/>
                <a:ea typeface="Calibri" pitchFamily="34" charset="-122"/>
                <a:cs typeface="Calibri" pitchFamily="34" charset="-120"/>
              </a:rPr>
              <a:t>(Any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2512</TotalTime>
  <Words>3962</Words>
  <Application>Microsoft Office PowerPoint</Application>
  <PresentationFormat>Widescreen</PresentationFormat>
  <Paragraphs>712</Paragraphs>
  <Slides>26</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TUSHAR RANJAN</cp:lastModifiedBy>
  <cp:revision>30</cp:revision>
  <dcterms:created xsi:type="dcterms:W3CDTF">2026-09-06T07:38:45Z</dcterms:created>
  <dcterms:modified xsi:type="dcterms:W3CDTF">2026-10-03T17:46:44Z</dcterms:modified>
</cp:coreProperties>
</file>